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d1ce165-74b0-48a3-644d-ac5999e259ab}">
          <p14:sldIdLst>
            <p14:sldId id="256"/>
            <p14:sldId id="257"/>
          </p14:sldIdLst>
        </p14:section>
        <p14:section name="Problem and solution" id="{90b466d2-1815-cb9f-a803-7d7ca1e404aa}">
          <p14:sldIdLst>
            <p14:sldId id="258"/>
            <p14:sldId id="259"/>
          </p14:sldIdLst>
        </p14:section>
        <p14:section name="Design" id="{f1976aff-a8db-eca6-97e0-1cc7948663b1}">
          <p14:sldIdLst>
            <p14:sldId id="260"/>
            <p14:sldId id="261"/>
            <p14:sldId id="262"/>
            <p14:sldId id="263"/>
            <p14:sldId id="264"/>
          </p14:sldIdLst>
        </p14:section>
        <p14:section name="Evaluation and close" id="{3a06db28-7756-800f-2fd9-da9bd9af24c4}">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Checks</c:v>
                </c:pt>
              </c:strCache>
            </c:strRef>
          </c:tx>
          <c:spPr>
            <a:solidFill>
              <a:srgbClr val="14B8A6"/>
            </a:solidFill>
            <a:ln w="25400" cap="flat">
              <a:solidFill>
                <a:srgbClr val="14B8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B8A6"/>
              </a:solidFill>
              <a:ln w="9525" cap="flat">
                <a:solidFill>
                  <a:srgbClr val="14B8A6"/>
                </a:solidFill>
                <a:prstDash val="solid"/>
                <a:round/>
              </a:ln>
              <a:effectLst/>
            </c:spPr>
          </c:marker>
          <c:cat>
            <c:multiLvlStrRef>
              <c:f>Sheet1!$A$2:$A$11</c:f>
              <c:multiLvlStrCache>
                <c:ptCount val="10"/>
                <c:lvl>
                  <c:pt idx="0">
                    <c:v>M</c:v>
                  </c:pt>
                  <c:pt idx="1">
                    <c:v>T</c:v>
                  </c:pt>
                  <c:pt idx="2">
                    <c:v>W</c:v>
                  </c:pt>
                  <c:pt idx="3">
                    <c:v>T</c:v>
                  </c:pt>
                  <c:pt idx="4">
                    <c:v>F</c:v>
                  </c:pt>
                  <c:pt idx="5">
                    <c:v>S</c:v>
                  </c:pt>
                  <c:pt idx="6">
                    <c:v>S</c:v>
                  </c:pt>
                  <c:pt idx="7">
                    <c:v>M</c:v>
                  </c:pt>
                  <c:pt idx="8">
                    <c:v>T</c:v>
                  </c:pt>
                  <c:pt idx="9">
                    <c:v>W</c:v>
                  </c:pt>
                </c:lvl>
              </c:multiLvlStrCache>
            </c:multiLvlStrRef>
          </c:cat>
          <c:val>
            <c:numRef>
              <c:f>Sheet1!$B$2:$B$11</c:f>
              <c:numCache>
                <c:formatCode>General</c:formatCode>
                <c:ptCount val="10"/>
                <c:pt idx="0">
                  <c:v>62</c:v>
                </c:pt>
                <c:pt idx="1">
                  <c:v>70</c:v>
                </c:pt>
                <c:pt idx="2">
                  <c:v>58</c:v>
                </c:pt>
                <c:pt idx="3">
                  <c:v>81</c:v>
                </c:pt>
                <c:pt idx="4">
                  <c:v>77</c:v>
                </c:pt>
                <c:pt idx="5">
                  <c:v>90</c:v>
                </c:pt>
                <c:pt idx="6">
                  <c:v>85</c:v>
                </c:pt>
                <c:pt idx="7">
                  <c:v>96</c:v>
                </c:pt>
                <c:pt idx="8">
                  <c:v>102</c:v>
                </c:pt>
                <c:pt idx="9">
                  <c:v>110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B6C3D4"/>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B416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B6C3D4"/>
                </a:solidFill>
                <a:latin typeface="+mn-lt"/>
              </a:defRPr>
            </a:pPr>
            <a:endParaRPr lang="en-US"/>
          </a:p>
        </c:txPr>
        <c:crossAx val="2094734554"/>
        <c:crosses val="autoZero"/>
        <c:crossBetween val="between"/>
      </c:valAx>
      <c:spPr>
        <a:solidFill>
          <a:srgbClr val="13223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DNScope, a DNS monitoring and spoofing detection system, proposed for Assessment-8 of Computer Networks. In the next few minutes I will explain what DNS is, why spoofed DNS answers are a problem, how DNScope compares answers from several resolvers and over time, and how I plan to build and evaluate it. This is a proposal: the system is designed but not yet implemented or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 stands for Domain Name System. It works like the Internet's phonebook: we remember names such as example.com, but computers need IP addresses. When I type a name, my computer asks a DNS resolver, usually run by my ISP or a public provider. If the resolver doesn't already have the answer cached, it asks the root servers, then the .com servers, then the domain's own authoritative server, and returns the IP address. The browser then connects to that address. Queries normally use UDP port 53, and answers are cached for their TTL. Because almost every connection starts this way, a wrong DNS answer sends the user to the wrong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DNS answers can be manipulated. In spoofing or cache poisoning, an attacker gets a fake reply accepted, so the user is sent to the wrong IP address. Classic DNS over UDP has no built-in authentication, which makes this possible. Tools like dig and nslookup only show what one resolver says at one moment, with no history. And the hard part is that many legitimate things also change DNS answers: CDNs, load balancers, caching and server migrations. So DNScope's goal is not to declare attacks, but to help a user decide when an answer deserves a closer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DNScope works in six steps. The user enters a domain, which is validated. The backend retrieves the main record types using dnspython. It sends the same query to four resolvers: the computer's own resolver and three public ones, Google, Cloudflare and Quad9, and compares the answers. It then compares them with the domain's history: which IPs and networks it normally uses and its usual TTL. Transparent rules decide whether something is unusual, and the dashboard shows the result with the evidence. In the example, one resolver disagrees with the others and with history, so it is flagged, but the alert also lists innocent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The user works in a React and TypeScript dashboard. It sends an HTTP request to the FastAPI backend. The backend passes the domain to the DNS analysis engine, written in Python with dnspython. The engine sends DNS queries over UDP or TCP port 53 to four resolvers, and those resolvers do the normal recursive lookup through the root, TLD and authoritative servers. The engine compares the answers with each other and with history, stores observations, domain profiles and alerts in SQLite, and the results go back to the dashboard as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detection rules. R1 flags an IP that has never been seen for the domain and is outside its usual network prefixes. R2 flags a resolver whose answer has nothing in common with the others. R3 looks at TTL, since an unusual TTL can accompany a forged record. R4 watches for repeated failures, R5 uses DNSSEC: if validating resolvers return SERVFAIL for a signed zone, the data could not be authenticated. R6 catches private addresses in a public answer. The key point is on the yellow box: each of these has innocent explanations, so alerts are signals to investigate,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mockup of the planned dashboard. The sidebar has the five pages: Overview, DNS Lookup, Response Comparison, Security Alerts and Domain History. The overview shows statistics cards, a DNS activity chart and recent alerts. The investigation panel shows one domain where Quad9 returned a different network with a short TTL: it is marked Medium, with the exact values and the possible harmless causes. All the numbers here are placeholders; nothing has been measured yet, and the IP addresses come from ranges reserved for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simple. React with TypeScript builds the dashboard, Tailwind handles styling, and Recharts draws the charts. FastAPI is the Python backend that exposes the API. dnspython is the library that actually sends DNS queries and parses the records, flags and TTLs. SQLite stores everything in one local file, and Git with GitHub tracks the code. The browser talks to FastAPI over HTTP with JSON; the backend talks to resolvers using DNS on port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four tables. domain_profiles holds the baseline for each domain: its known IPs and network prefixes, normal TTL and whether DNSSEC was seen. resolver_checks has one row per resolver per check, with the response code, timing and the DNSSEC AD flag. dns_observations stores each record returned, and security_alerts stores each alert with the evidence that triggered it. The relationships are one-to-many. On the right are the four main FastAPI endpoints for lookup, comparison, alerts and domain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planned, not done. I will test normal lookups, legitimate IP changes on CDN domains, resolver discrepancies, invalid input, timeouts and DNSSEC cases. Attack-like answers will come from a mock resolver that returns scripted responses and is clearly labelled as simulated. I'll measure precision, recall, false-positive rate and detection latency. The numbers at the bottom are targets I want to reach, not results, and because the simulated cases are designed with the rules in mind, high recall on them won't be claimed as real-world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DNScope different is not a new algorithm. It is the combination: a history for each domain, comparison across resolvers, an explanation for every alert, and one place to investigate. I'm not claiming the project is globally novel. The limitations matter: encrypted DNS means DNScope only sees its own queries; CDN changes will cause some false alarms; a poisoned cache entry may expire before a check; and if the domain's real server is hijacked, all resolvers agree, so only history can hint at it. Future work includes full DNSSEC validation, better baselines and scheduled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DNS is critical and classic DNS answers can be forged. DNScope compares four resolvers and each domain's history, uses transparent rules to raise explained alerts rather than verdicts, and will be evaluated with real and clearly labelled simulated cases. In one line: Observe, compare, investigate.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NScope 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NScope 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200" dirty="0">
                <a:solidFill>
                  <a:schemeClr val="bg2"/>
                </a:solidFill>
              </a:rPr>
              <a:t>DNScope  ·  Anwita Padhi  ·  24BYB0193</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flipH="1">
            <a:off x="7863840" y="914400"/>
            <a:ext cx="1463040" cy="548640"/>
          </a:xfrm>
          <a:prstGeom prst="line">
            <a:avLst/>
          </a:prstGeom>
          <a:noFill/>
          <a:ln w="19050">
            <a:solidFill>
              <a:srgbClr val="2B4163"/>
            </a:solidFill>
            <a:prstDash val="solid"/>
          </a:ln>
        </p:spPr>
      </p:sp>
      <p:sp>
        <p:nvSpPr>
          <p:cNvPr id="3" name="Shape 1"/>
          <p:cNvSpPr/>
          <p:nvPr/>
        </p:nvSpPr>
        <p:spPr>
          <a:xfrm>
            <a:off x="9326880" y="914400"/>
            <a:ext cx="1463040" cy="822960"/>
          </a:xfrm>
          <a:prstGeom prst="line">
            <a:avLst/>
          </a:prstGeom>
          <a:noFill/>
          <a:ln w="19050">
            <a:solidFill>
              <a:srgbClr val="2B4163"/>
            </a:solidFill>
            <a:prstDash val="solid"/>
          </a:ln>
        </p:spPr>
      </p:sp>
      <p:sp>
        <p:nvSpPr>
          <p:cNvPr id="4" name="Shape 2"/>
          <p:cNvSpPr/>
          <p:nvPr/>
        </p:nvSpPr>
        <p:spPr>
          <a:xfrm>
            <a:off x="7863840" y="1463040"/>
            <a:ext cx="731520" cy="1371600"/>
          </a:xfrm>
          <a:prstGeom prst="line">
            <a:avLst/>
          </a:prstGeom>
          <a:noFill/>
          <a:ln w="19050">
            <a:solidFill>
              <a:srgbClr val="2B4163"/>
            </a:solidFill>
            <a:prstDash val="solid"/>
          </a:ln>
        </p:spPr>
      </p:sp>
      <p:sp>
        <p:nvSpPr>
          <p:cNvPr id="5" name="Shape 3"/>
          <p:cNvSpPr/>
          <p:nvPr/>
        </p:nvSpPr>
        <p:spPr>
          <a:xfrm flipH="1">
            <a:off x="8595360" y="914400"/>
            <a:ext cx="731520" cy="1920240"/>
          </a:xfrm>
          <a:prstGeom prst="line">
            <a:avLst/>
          </a:prstGeom>
          <a:noFill/>
          <a:ln w="19050">
            <a:solidFill>
              <a:srgbClr val="2B4163"/>
            </a:solidFill>
            <a:prstDash val="solid"/>
          </a:ln>
        </p:spPr>
      </p:sp>
      <p:sp>
        <p:nvSpPr>
          <p:cNvPr id="6" name="Shape 4"/>
          <p:cNvSpPr/>
          <p:nvPr/>
        </p:nvSpPr>
        <p:spPr>
          <a:xfrm>
            <a:off x="9326880" y="914400"/>
            <a:ext cx="731520" cy="2194560"/>
          </a:xfrm>
          <a:prstGeom prst="line">
            <a:avLst/>
          </a:prstGeom>
          <a:noFill/>
          <a:ln w="19050">
            <a:solidFill>
              <a:srgbClr val="2B4163"/>
            </a:solidFill>
            <a:prstDash val="solid"/>
          </a:ln>
        </p:spPr>
      </p:sp>
      <p:sp>
        <p:nvSpPr>
          <p:cNvPr id="7" name="Shape 5"/>
          <p:cNvSpPr/>
          <p:nvPr/>
        </p:nvSpPr>
        <p:spPr>
          <a:xfrm flipH="1">
            <a:off x="10058400" y="1737360"/>
            <a:ext cx="731520" cy="1371600"/>
          </a:xfrm>
          <a:prstGeom prst="line">
            <a:avLst/>
          </a:prstGeom>
          <a:noFill/>
          <a:ln w="19050">
            <a:solidFill>
              <a:srgbClr val="2B4163"/>
            </a:solidFill>
            <a:prstDash val="solid"/>
          </a:ln>
        </p:spPr>
      </p:sp>
      <p:sp>
        <p:nvSpPr>
          <p:cNvPr id="8" name="Shape 6"/>
          <p:cNvSpPr/>
          <p:nvPr/>
        </p:nvSpPr>
        <p:spPr>
          <a:xfrm>
            <a:off x="10789920" y="1737360"/>
            <a:ext cx="548640" cy="1828800"/>
          </a:xfrm>
          <a:prstGeom prst="line">
            <a:avLst/>
          </a:prstGeom>
          <a:noFill/>
          <a:ln w="19050">
            <a:solidFill>
              <a:srgbClr val="2B4163"/>
            </a:solidFill>
            <a:prstDash val="solid"/>
          </a:ln>
        </p:spPr>
      </p:sp>
      <p:sp>
        <p:nvSpPr>
          <p:cNvPr id="9" name="Shape 7"/>
          <p:cNvSpPr/>
          <p:nvPr/>
        </p:nvSpPr>
        <p:spPr>
          <a:xfrm>
            <a:off x="8595360" y="2834640"/>
            <a:ext cx="1463040" cy="274320"/>
          </a:xfrm>
          <a:prstGeom prst="line">
            <a:avLst/>
          </a:prstGeom>
          <a:noFill/>
          <a:ln w="19050">
            <a:solidFill>
              <a:srgbClr val="2B4163"/>
            </a:solidFill>
            <a:prstDash val="solid"/>
          </a:ln>
        </p:spPr>
      </p:sp>
      <p:sp>
        <p:nvSpPr>
          <p:cNvPr id="10" name="Shape 8"/>
          <p:cNvSpPr/>
          <p:nvPr/>
        </p:nvSpPr>
        <p:spPr>
          <a:xfrm flipH="1">
            <a:off x="8138160" y="2834640"/>
            <a:ext cx="457200" cy="1463040"/>
          </a:xfrm>
          <a:prstGeom prst="line">
            <a:avLst/>
          </a:prstGeom>
          <a:noFill/>
          <a:ln w="19050">
            <a:solidFill>
              <a:srgbClr val="2B4163"/>
            </a:solidFill>
            <a:prstDash val="solid"/>
          </a:ln>
        </p:spPr>
      </p:sp>
      <p:sp>
        <p:nvSpPr>
          <p:cNvPr id="11" name="Shape 9"/>
          <p:cNvSpPr/>
          <p:nvPr/>
        </p:nvSpPr>
        <p:spPr>
          <a:xfrm>
            <a:off x="10058400" y="3108960"/>
            <a:ext cx="1280160" cy="457200"/>
          </a:xfrm>
          <a:prstGeom prst="line">
            <a:avLst/>
          </a:prstGeom>
          <a:noFill/>
          <a:ln w="19050">
            <a:solidFill>
              <a:srgbClr val="2B4163"/>
            </a:solidFill>
            <a:prstDash val="solid"/>
          </a:ln>
        </p:spPr>
      </p:sp>
      <p:sp>
        <p:nvSpPr>
          <p:cNvPr id="12" name="Shape 10"/>
          <p:cNvSpPr/>
          <p:nvPr/>
        </p:nvSpPr>
        <p:spPr>
          <a:xfrm flipH="1">
            <a:off x="9601200" y="3108960"/>
            <a:ext cx="457200" cy="1645920"/>
          </a:xfrm>
          <a:prstGeom prst="line">
            <a:avLst/>
          </a:prstGeom>
          <a:noFill/>
          <a:ln w="19050">
            <a:solidFill>
              <a:srgbClr val="2B4163"/>
            </a:solidFill>
            <a:prstDash val="solid"/>
          </a:ln>
        </p:spPr>
      </p:sp>
      <p:sp>
        <p:nvSpPr>
          <p:cNvPr id="13" name="Shape 11"/>
          <p:cNvSpPr/>
          <p:nvPr/>
        </p:nvSpPr>
        <p:spPr>
          <a:xfrm>
            <a:off x="8138160" y="4297680"/>
            <a:ext cx="1463040" cy="457200"/>
          </a:xfrm>
          <a:prstGeom prst="line">
            <a:avLst/>
          </a:prstGeom>
          <a:noFill/>
          <a:ln w="19050">
            <a:solidFill>
              <a:srgbClr val="2B4163"/>
            </a:solidFill>
            <a:prstDash val="solid"/>
          </a:ln>
        </p:spPr>
      </p:sp>
      <p:sp>
        <p:nvSpPr>
          <p:cNvPr id="14" name="Shape 12"/>
          <p:cNvSpPr/>
          <p:nvPr/>
        </p:nvSpPr>
        <p:spPr>
          <a:xfrm>
            <a:off x="9601200" y="4754880"/>
            <a:ext cx="1371600" cy="365760"/>
          </a:xfrm>
          <a:prstGeom prst="line">
            <a:avLst/>
          </a:prstGeom>
          <a:noFill/>
          <a:ln w="19050">
            <a:solidFill>
              <a:srgbClr val="2B4163"/>
            </a:solidFill>
            <a:prstDash val="solid"/>
          </a:ln>
        </p:spPr>
      </p:sp>
      <p:sp>
        <p:nvSpPr>
          <p:cNvPr id="15" name="Shape 13"/>
          <p:cNvSpPr/>
          <p:nvPr/>
        </p:nvSpPr>
        <p:spPr>
          <a:xfrm flipH="1">
            <a:off x="10972800" y="3566160"/>
            <a:ext cx="365760" cy="1554480"/>
          </a:xfrm>
          <a:prstGeom prst="line">
            <a:avLst/>
          </a:prstGeom>
          <a:noFill/>
          <a:ln w="19050">
            <a:solidFill>
              <a:srgbClr val="2B4163"/>
            </a:solidFill>
            <a:prstDash val="solid"/>
          </a:ln>
        </p:spPr>
      </p:sp>
      <p:sp>
        <p:nvSpPr>
          <p:cNvPr id="16" name="Shape 14"/>
          <p:cNvSpPr/>
          <p:nvPr/>
        </p:nvSpPr>
        <p:spPr>
          <a:xfrm>
            <a:off x="7744968" y="1344168"/>
            <a:ext cx="237744" cy="237744"/>
          </a:xfrm>
          <a:prstGeom prst="ellipse">
            <a:avLst/>
          </a:prstGeom>
          <a:solidFill>
            <a:schemeClr val="accent2"/>
          </a:solidFill>
          <a:ln w="25400">
            <a:solidFill>
              <a:srgbClr val="0B1628"/>
            </a:solidFill>
            <a:prstDash val="solid"/>
          </a:ln>
        </p:spPr>
      </p:sp>
      <p:sp>
        <p:nvSpPr>
          <p:cNvPr id="17" name="Shape 15"/>
          <p:cNvSpPr/>
          <p:nvPr/>
        </p:nvSpPr>
        <p:spPr>
          <a:xfrm>
            <a:off x="9208008" y="795528"/>
            <a:ext cx="237744" cy="237744"/>
          </a:xfrm>
          <a:prstGeom prst="ellipse">
            <a:avLst/>
          </a:prstGeom>
          <a:solidFill>
            <a:schemeClr val="accent1"/>
          </a:solidFill>
          <a:ln w="25400">
            <a:solidFill>
              <a:srgbClr val="0B1628"/>
            </a:solidFill>
            <a:prstDash val="solid"/>
          </a:ln>
        </p:spPr>
      </p:sp>
      <p:sp>
        <p:nvSpPr>
          <p:cNvPr id="18" name="Shape 16"/>
          <p:cNvSpPr/>
          <p:nvPr/>
        </p:nvSpPr>
        <p:spPr>
          <a:xfrm>
            <a:off x="10671048" y="1618488"/>
            <a:ext cx="237744" cy="237744"/>
          </a:xfrm>
          <a:prstGeom prst="ellipse">
            <a:avLst/>
          </a:prstGeom>
          <a:solidFill>
            <a:schemeClr val="accent1"/>
          </a:solidFill>
          <a:ln w="25400">
            <a:solidFill>
              <a:srgbClr val="0B1628"/>
            </a:solidFill>
            <a:prstDash val="solid"/>
          </a:ln>
        </p:spPr>
      </p:sp>
      <p:sp>
        <p:nvSpPr>
          <p:cNvPr id="19" name="Shape 17"/>
          <p:cNvSpPr/>
          <p:nvPr/>
        </p:nvSpPr>
        <p:spPr>
          <a:xfrm>
            <a:off x="8476488" y="2715768"/>
            <a:ext cx="237744" cy="237744"/>
          </a:xfrm>
          <a:prstGeom prst="ellipse">
            <a:avLst/>
          </a:prstGeom>
          <a:solidFill>
            <a:schemeClr val="accent2"/>
          </a:solidFill>
          <a:ln w="25400">
            <a:solidFill>
              <a:srgbClr val="0B1628"/>
            </a:solidFill>
            <a:prstDash val="solid"/>
          </a:ln>
        </p:spPr>
      </p:sp>
      <p:sp>
        <p:nvSpPr>
          <p:cNvPr id="20" name="Shape 18"/>
          <p:cNvSpPr/>
          <p:nvPr/>
        </p:nvSpPr>
        <p:spPr>
          <a:xfrm>
            <a:off x="9939528" y="2990088"/>
            <a:ext cx="237744" cy="237744"/>
          </a:xfrm>
          <a:prstGeom prst="ellipse">
            <a:avLst/>
          </a:prstGeom>
          <a:solidFill>
            <a:schemeClr val="accent1"/>
          </a:solidFill>
          <a:ln w="25400">
            <a:solidFill>
              <a:srgbClr val="0B1628"/>
            </a:solidFill>
            <a:prstDash val="solid"/>
          </a:ln>
        </p:spPr>
      </p:sp>
      <p:sp>
        <p:nvSpPr>
          <p:cNvPr id="21" name="Shape 19"/>
          <p:cNvSpPr/>
          <p:nvPr/>
        </p:nvSpPr>
        <p:spPr>
          <a:xfrm>
            <a:off x="11219688" y="3447288"/>
            <a:ext cx="237744" cy="237744"/>
          </a:xfrm>
          <a:prstGeom prst="ellipse">
            <a:avLst/>
          </a:prstGeom>
          <a:solidFill>
            <a:schemeClr val="accent1"/>
          </a:solidFill>
          <a:ln w="25400">
            <a:solidFill>
              <a:srgbClr val="0B1628"/>
            </a:solidFill>
            <a:prstDash val="solid"/>
          </a:ln>
        </p:spPr>
      </p:sp>
      <p:sp>
        <p:nvSpPr>
          <p:cNvPr id="22" name="Shape 20"/>
          <p:cNvSpPr/>
          <p:nvPr/>
        </p:nvSpPr>
        <p:spPr>
          <a:xfrm>
            <a:off x="8019288" y="4178808"/>
            <a:ext cx="237744" cy="237744"/>
          </a:xfrm>
          <a:prstGeom prst="ellipse">
            <a:avLst/>
          </a:prstGeom>
          <a:solidFill>
            <a:schemeClr val="accent2"/>
          </a:solidFill>
          <a:ln w="25400">
            <a:solidFill>
              <a:srgbClr val="0B1628"/>
            </a:solidFill>
            <a:prstDash val="solid"/>
          </a:ln>
        </p:spPr>
      </p:sp>
      <p:sp>
        <p:nvSpPr>
          <p:cNvPr id="23" name="Shape 21"/>
          <p:cNvSpPr/>
          <p:nvPr/>
        </p:nvSpPr>
        <p:spPr>
          <a:xfrm>
            <a:off x="9482328" y="4636008"/>
            <a:ext cx="237744" cy="237744"/>
          </a:xfrm>
          <a:prstGeom prst="ellipse">
            <a:avLst/>
          </a:prstGeom>
          <a:solidFill>
            <a:schemeClr val="accent1"/>
          </a:solidFill>
          <a:ln w="25400">
            <a:solidFill>
              <a:srgbClr val="0B1628"/>
            </a:solidFill>
            <a:prstDash val="solid"/>
          </a:ln>
        </p:spPr>
      </p:sp>
      <p:sp>
        <p:nvSpPr>
          <p:cNvPr id="24" name="Shape 22"/>
          <p:cNvSpPr/>
          <p:nvPr/>
        </p:nvSpPr>
        <p:spPr>
          <a:xfrm>
            <a:off x="10853928" y="5001768"/>
            <a:ext cx="237744" cy="237744"/>
          </a:xfrm>
          <a:prstGeom prst="ellipse">
            <a:avLst/>
          </a:prstGeom>
          <a:solidFill>
            <a:schemeClr val="accent5"/>
          </a:solidFill>
          <a:ln w="25400">
            <a:solidFill>
              <a:srgbClr val="0B1628"/>
            </a:solidFill>
            <a:prstDash val="solid"/>
          </a:ln>
        </p:spPr>
      </p:sp>
      <p:sp>
        <p:nvSpPr>
          <p:cNvPr id="25" name="Shape 23"/>
          <p:cNvSpPr/>
          <p:nvPr/>
        </p:nvSpPr>
        <p:spPr>
          <a:xfrm>
            <a:off x="10680192" y="4828032"/>
            <a:ext cx="585216" cy="585216"/>
          </a:xfrm>
          <a:prstGeom prst="ellipse">
            <a:avLst/>
          </a:prstGeom>
          <a:ln w="19050">
            <a:solidFill>
              <a:srgbClr val="EF4444"/>
            </a:solidFill>
            <a:prstDash val="dash"/>
          </a:ln>
        </p:spPr>
      </p:sp>
      <p:sp>
        <p:nvSpPr>
          <p:cNvPr id="26" name="Shape 24"/>
          <p:cNvSpPr/>
          <p:nvPr/>
        </p:nvSpPr>
        <p:spPr>
          <a:xfrm>
            <a:off x="548640" y="457200"/>
            <a:ext cx="3291840" cy="1051560"/>
          </a:xfrm>
          <a:prstGeom prst="roundRect">
            <a:avLst>
              <a:gd name="adj" fmla="val 10435"/>
            </a:avLst>
          </a:prstGeom>
          <a:solidFill>
            <a:schemeClr val="bg1"/>
          </a:solidFill>
          <a:ln/>
        </p:spPr>
      </p:sp>
      <p:pic>
        <p:nvPicPr>
          <p:cNvPr id="27" name="Image 0" descr="vit_logo.png">    </p:cNvPr>
          <p:cNvPicPr>
            <a:picLocks noChangeAspect="1"/>
          </p:cNvPicPr>
          <p:nvPr/>
        </p:nvPicPr>
        <p:blipFill>
          <a:blip r:embed="rId1"/>
          <a:stretch>
            <a:fillRect/>
          </a:stretch>
        </p:blipFill>
        <p:spPr>
          <a:xfrm>
            <a:off x="685800" y="530352"/>
            <a:ext cx="3017520" cy="879824"/>
          </a:xfrm>
          <a:prstGeom prst="rect">
            <a:avLst/>
          </a:prstGeom>
        </p:spPr>
      </p:pic>
      <p:sp>
        <p:nvSpPr>
          <p:cNvPr id="28" name="Text 25"/>
          <p:cNvSpPr txBox="1"/>
          <p:nvPr/>
        </p:nvSpPr>
        <p:spPr>
          <a:xfrm>
            <a:off x="548640" y="1965960"/>
            <a:ext cx="6858000" cy="365760"/>
          </a:xfrm>
          <a:prstGeom prst="rect">
            <a:avLst/>
          </a:prstGeom>
          <a:noFill/>
          <a:ln/>
        </p:spPr>
        <p:txBody>
          <a:bodyPr wrap="square" lIns="0" tIns="0" rIns="0" bIns="0" rtlCol="0" anchor="t"/>
          <a:lstStyle/>
          <a:p>
            <a:pPr indent="0" marL="0">
              <a:buNone/>
            </a:pPr>
            <a:r>
              <a:rPr lang="en-US" sz="1600" b="1" spc="200" kern="0" dirty="0">
                <a:solidFill>
                  <a:schemeClr val="accent1"/>
                </a:solidFill>
              </a:rPr>
              <a:t>COMPUTER NETWORKS PROJECT  ·  ASSESSMENT-8</a:t>
            </a:r>
            <a:endParaRPr lang="en-US" sz="1600" dirty="0"/>
          </a:p>
        </p:txBody>
      </p:sp>
      <p:sp>
        <p:nvSpPr>
          <p:cNvPr id="29" name="Text 26"/>
          <p:cNvSpPr txBox="1"/>
          <p:nvPr/>
        </p:nvSpPr>
        <p:spPr>
          <a:xfrm>
            <a:off x="548640" y="2377440"/>
            <a:ext cx="6858000" cy="1097280"/>
          </a:xfrm>
          <a:prstGeom prst="rect">
            <a:avLst/>
          </a:prstGeom>
          <a:noFill/>
          <a:ln/>
        </p:spPr>
        <p:txBody>
          <a:bodyPr wrap="square" lIns="0" tIns="0" rIns="0" bIns="0" rtlCol="0" anchor="t"/>
          <a:lstStyle/>
          <a:p>
            <a:pPr indent="0" marL="0">
              <a:buNone/>
            </a:pPr>
            <a:r>
              <a:rPr lang="en-US" sz="6600" b="1" dirty="0">
                <a:solidFill>
                  <a:schemeClr val="bg1"/>
                </a:solidFill>
              </a:rPr>
              <a:t>DNScope</a:t>
            </a:r>
            <a:endParaRPr lang="en-US" sz="6600" dirty="0"/>
          </a:p>
        </p:txBody>
      </p:sp>
      <p:sp>
        <p:nvSpPr>
          <p:cNvPr id="30" name="Text 27"/>
          <p:cNvSpPr txBox="1"/>
          <p:nvPr/>
        </p:nvSpPr>
        <p:spPr>
          <a:xfrm>
            <a:off x="548640" y="3474720"/>
            <a:ext cx="6949440" cy="914400"/>
          </a:xfrm>
          <a:prstGeom prst="rect">
            <a:avLst/>
          </a:prstGeom>
          <a:noFill/>
          <a:ln/>
        </p:spPr>
        <p:txBody>
          <a:bodyPr wrap="square" lIns="0" tIns="0" rIns="0" bIns="0" rtlCol="0" anchor="t"/>
          <a:lstStyle/>
          <a:p>
            <a:pPr indent="0" marL="0">
              <a:buNone/>
            </a:pPr>
            <a:r>
              <a:rPr lang="en-US" sz="2600" dirty="0">
                <a:solidFill>
                  <a:schemeClr val="accent2"/>
                </a:solidFill>
              </a:rPr>
              <a:t>DNS Monitoring and Spoofing</a:t>
            </a:r>
            <a:endParaRPr lang="en-US" sz="2600" dirty="0"/>
          </a:p>
          <a:p>
            <a:pPr indent="0" marL="0">
              <a:buNone/>
            </a:pPr>
            <a:r>
              <a:rPr lang="en-US" sz="2600" dirty="0">
                <a:solidFill>
                  <a:schemeClr val="accent2"/>
                </a:solidFill>
              </a:rPr>
              <a:t>Detection System</a:t>
            </a:r>
            <a:endParaRPr lang="en-US" sz="2600" dirty="0"/>
          </a:p>
        </p:txBody>
      </p:sp>
      <p:sp>
        <p:nvSpPr>
          <p:cNvPr id="31" name="Text 28"/>
          <p:cNvSpPr txBox="1"/>
          <p:nvPr/>
        </p:nvSpPr>
        <p:spPr>
          <a:xfrm>
            <a:off x="548640" y="4480560"/>
            <a:ext cx="6858000" cy="411480"/>
          </a:xfrm>
          <a:prstGeom prst="rect">
            <a:avLst/>
          </a:prstGeom>
          <a:noFill/>
          <a:ln/>
        </p:spPr>
        <p:txBody>
          <a:bodyPr wrap="square" lIns="0" tIns="0" rIns="0" bIns="0" rtlCol="0" anchor="t"/>
          <a:lstStyle/>
          <a:p>
            <a:pPr indent="0" marL="0">
              <a:buNone/>
            </a:pPr>
            <a:r>
              <a:rPr lang="en-US" sz="1800" i="1" dirty="0">
                <a:solidFill>
                  <a:schemeClr val="bg2"/>
                </a:solidFill>
              </a:rPr>
              <a:t>Observe. Compare. Investigate.</a:t>
            </a:r>
            <a:endParaRPr lang="en-US" sz="1800" dirty="0"/>
          </a:p>
        </p:txBody>
      </p:sp>
      <p:sp>
        <p:nvSpPr>
          <p:cNvPr id="32" name="Text 29"/>
          <p:cNvSpPr txBox="1"/>
          <p:nvPr/>
        </p:nvSpPr>
        <p:spPr>
          <a:xfrm>
            <a:off x="548640" y="5120640"/>
            <a:ext cx="6858000" cy="109728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Anwita Padhi</a:t>
            </a:r>
            <a:endParaRPr lang="en-US" sz="1800" dirty="0"/>
          </a:p>
          <a:p>
            <a:pPr indent="0" marL="0">
              <a:spcAft>
                <a:spcPts val="400"/>
              </a:spcAft>
              <a:buNone/>
            </a:pPr>
            <a:r>
              <a:rPr lang="en-US" sz="1600" dirty="0">
                <a:solidFill>
                  <a:schemeClr val="bg2"/>
                </a:solidFill>
              </a:rPr>
              <a:t>Registration Number: 24BYB0193</a:t>
            </a:r>
            <a:endParaRPr lang="en-US" sz="1800" dirty="0"/>
          </a:p>
          <a:p>
            <a:pPr indent="0" marL="0">
              <a:spcAft>
                <a:spcPts val="400"/>
              </a:spcAft>
              <a:buNone/>
            </a:pPr>
            <a:r>
              <a:rPr lang="en-US" sz="1600" dirty="0">
                <a:solidFill>
                  <a:schemeClr val="bg2"/>
                </a:solidFill>
              </a:rPr>
              <a:t>Vellore Institute of Technology, Vellore  ·  2026–2027</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What is DNS?</a:t>
            </a:r>
            <a:endParaRPr lang="en-US" sz="3200" dirty="0"/>
          </a:p>
        </p:txBody>
      </p:sp>
      <p:sp>
        <p:nvSpPr>
          <p:cNvPr id="3" name="Shape 1"/>
          <p:cNvSpPr/>
          <p:nvPr/>
        </p:nvSpPr>
        <p:spPr>
          <a:xfrm>
            <a:off x="548640" y="1325880"/>
            <a:ext cx="4846320" cy="4754880"/>
          </a:xfrm>
          <a:prstGeom prst="roundRect">
            <a:avLst>
              <a:gd name="adj" fmla="val 2308"/>
            </a:avLst>
          </a:prstGeom>
          <a:solidFill>
            <a:schemeClr val="tx2"/>
          </a:solidFill>
          <a:ln/>
        </p:spPr>
      </p:sp>
      <p:sp>
        <p:nvSpPr>
          <p:cNvPr id="4" name="Text 2"/>
          <p:cNvSpPr txBox="1"/>
          <p:nvPr/>
        </p:nvSpPr>
        <p:spPr>
          <a:xfrm>
            <a:off x="868680" y="1554480"/>
            <a:ext cx="4297680" cy="457200"/>
          </a:xfrm>
          <a:prstGeom prst="rect">
            <a:avLst/>
          </a:prstGeom>
          <a:noFill/>
          <a:ln/>
        </p:spPr>
        <p:txBody>
          <a:bodyPr wrap="square" lIns="0" tIns="0" rIns="0" bIns="0" rtlCol="0" anchor="t"/>
          <a:lstStyle/>
          <a:p>
            <a:pPr indent="0" marL="0">
              <a:buNone/>
            </a:pPr>
            <a:r>
              <a:rPr lang="en-US" sz="2200" b="1" dirty="0">
                <a:solidFill>
                  <a:schemeClr val="accent1"/>
                </a:solidFill>
              </a:rPr>
              <a:t>The Internet's phonebook</a:t>
            </a:r>
            <a:endParaRPr lang="en-US" sz="2200" dirty="0"/>
          </a:p>
        </p:txBody>
      </p:sp>
      <p:sp>
        <p:nvSpPr>
          <p:cNvPr id="5" name="Text 3"/>
          <p:cNvSpPr txBox="1"/>
          <p:nvPr/>
        </p:nvSpPr>
        <p:spPr>
          <a:xfrm>
            <a:off x="868680" y="2148840"/>
            <a:ext cx="4251960" cy="3749040"/>
          </a:xfrm>
          <a:prstGeom prst="rect">
            <a:avLst/>
          </a:prstGeom>
          <a:noFill/>
          <a:ln/>
        </p:spPr>
        <p:txBody>
          <a:bodyPr wrap="square" lIns="0" tIns="0" rIns="0" bIns="0" rtlCol="0" anchor="t"/>
          <a:lstStyle/>
          <a:p>
            <a:pPr marL="342900" indent="-342900">
              <a:spcAft>
                <a:spcPts val="1200"/>
              </a:spcAft>
              <a:buSzPct val="100000"/>
              <a:buChar char="•"/>
            </a:pPr>
            <a:r>
              <a:rPr lang="en-US" sz="1800" b="1" dirty="0">
                <a:solidFill>
                  <a:schemeClr val="bg1"/>
                </a:solidFill>
              </a:rPr>
              <a:t>DNS = Domain Name System</a:t>
            </a:r>
            <a:endParaRPr lang="en-US" sz="1800" dirty="0"/>
          </a:p>
          <a:p>
            <a:pPr marL="342900" indent="-342900">
              <a:spcAft>
                <a:spcPts val="1200"/>
              </a:spcAft>
              <a:buSzPct val="100000"/>
              <a:buChar char="•"/>
            </a:pPr>
            <a:r>
              <a:rPr lang="en-US" sz="1800" dirty="0">
                <a:solidFill>
                  <a:schemeClr val="bg1"/>
                </a:solidFill>
              </a:rPr>
              <a:t>Computers connect using IP addresses, people remember names</a:t>
            </a:r>
            <a:endParaRPr lang="en-US" sz="1800" dirty="0"/>
          </a:p>
          <a:p>
            <a:pPr marL="342900" indent="-342900">
              <a:spcAft>
                <a:spcPts val="1200"/>
              </a:spcAft>
              <a:buSzPct val="100000"/>
              <a:buChar char="•"/>
            </a:pPr>
            <a:r>
              <a:rPr lang="en-US" sz="1800" dirty="0">
                <a:solidFill>
                  <a:schemeClr val="bg1"/>
                </a:solidFill>
              </a:rPr>
              <a:t>DNS looks up a name and returns its IP address, like finding a number in a phonebook</a:t>
            </a:r>
            <a:endParaRPr lang="en-US" sz="1800" dirty="0"/>
          </a:p>
          <a:p>
            <a:pPr marL="342900" indent="-342900">
              <a:spcAft>
                <a:spcPts val="1200"/>
              </a:spcAft>
              <a:buSzPct val="100000"/>
              <a:buChar char="•"/>
            </a:pPr>
            <a:r>
              <a:rPr lang="en-US" sz="1800" dirty="0">
                <a:solidFill>
                  <a:schemeClr val="bg1"/>
                </a:solidFill>
              </a:rPr>
              <a:t>Almost every website visit, email and app connection starts with a DNS lookup</a:t>
            </a:r>
            <a:endParaRPr lang="en-US" sz="1800" dirty="0"/>
          </a:p>
        </p:txBody>
      </p:sp>
      <p:sp>
        <p:nvSpPr>
          <p:cNvPr id="6" name="Shape 4"/>
          <p:cNvSpPr/>
          <p:nvPr/>
        </p:nvSpPr>
        <p:spPr>
          <a:xfrm>
            <a:off x="5806440" y="1828800"/>
            <a:ext cx="1298448" cy="2514600"/>
          </a:xfrm>
          <a:prstGeom prst="roundRect">
            <a:avLst>
              <a:gd name="adj" fmla="val 8451"/>
            </a:avLst>
          </a:prstGeom>
          <a:solidFill>
            <a:schemeClr val="tx2"/>
          </a:solidFill>
          <a:ln/>
        </p:spPr>
      </p:sp>
      <p:sp>
        <p:nvSpPr>
          <p:cNvPr id="7" name="Shape 5"/>
          <p:cNvSpPr/>
          <p:nvPr/>
        </p:nvSpPr>
        <p:spPr>
          <a:xfrm>
            <a:off x="6172200" y="2011680"/>
            <a:ext cx="640080" cy="640080"/>
          </a:xfrm>
          <a:prstGeom prst="ellipse">
            <a:avLst/>
          </a:prstGeom>
          <a:solidFill>
            <a:schemeClr val="accent6"/>
          </a:solidFill>
          <a:ln/>
        </p:spPr>
      </p:sp>
      <p:pic>
        <p:nvPicPr>
          <p:cNvPr id="8" name="Image 0" descr="preencoded.png">    </p:cNvPr>
          <p:cNvPicPr>
            <a:picLocks noChangeAspect="1"/>
          </p:cNvPicPr>
          <p:nvPr/>
        </p:nvPicPr>
        <p:blipFill>
          <a:blip r:embed="rId1"/>
          <a:stretch>
            <a:fillRect/>
          </a:stretch>
        </p:blipFill>
        <p:spPr>
          <a:xfrm>
            <a:off x="6325819" y="2165299"/>
            <a:ext cx="332842" cy="332842"/>
          </a:xfrm>
          <a:prstGeom prst="rect">
            <a:avLst/>
          </a:prstGeom>
        </p:spPr>
      </p:pic>
      <p:sp>
        <p:nvSpPr>
          <p:cNvPr id="9" name="Text 6"/>
          <p:cNvSpPr txBox="1"/>
          <p:nvPr/>
        </p:nvSpPr>
        <p:spPr>
          <a:xfrm>
            <a:off x="5852160" y="2788920"/>
            <a:ext cx="1207008" cy="365760"/>
          </a:xfrm>
          <a:prstGeom prst="rect">
            <a:avLst/>
          </a:prstGeom>
          <a:noFill/>
          <a:ln/>
        </p:spPr>
        <p:txBody>
          <a:bodyPr wrap="square" lIns="0" tIns="0" rIns="0" bIns="0" rtlCol="0" anchor="t"/>
          <a:lstStyle/>
          <a:p>
            <a:pPr algn="ctr" indent="0" marL="0">
              <a:buNone/>
            </a:pPr>
            <a:r>
              <a:rPr lang="en-US" sz="1600" b="1" dirty="0">
                <a:solidFill>
                  <a:schemeClr val="bg1"/>
                </a:solidFill>
              </a:rPr>
              <a:t>User</a:t>
            </a:r>
            <a:endParaRPr lang="en-US" sz="1600" dirty="0"/>
          </a:p>
        </p:txBody>
      </p:sp>
      <p:sp>
        <p:nvSpPr>
          <p:cNvPr id="10" name="Text 7"/>
          <p:cNvSpPr txBox="1"/>
          <p:nvPr/>
        </p:nvSpPr>
        <p:spPr>
          <a:xfrm>
            <a:off x="5879592" y="3200400"/>
            <a:ext cx="1152144" cy="1051560"/>
          </a:xfrm>
          <a:prstGeom prst="rect">
            <a:avLst/>
          </a:prstGeom>
          <a:noFill/>
          <a:ln/>
        </p:spPr>
        <p:txBody>
          <a:bodyPr wrap="square" lIns="0" tIns="0" rIns="0" bIns="0" rtlCol="0" anchor="t"/>
          <a:lstStyle/>
          <a:p>
            <a:pPr algn="ctr" indent="0" marL="0">
              <a:buNone/>
            </a:pPr>
            <a:r>
              <a:rPr lang="en-US" sz="1300" dirty="0">
                <a:solidFill>
                  <a:schemeClr val="bg2"/>
                </a:solidFill>
              </a:rPr>
              <a:t>types a name,</a:t>
            </a:r>
            <a:endParaRPr lang="en-US" sz="1300" dirty="0"/>
          </a:p>
          <a:p>
            <a:pPr algn="ctr" indent="0" marL="0">
              <a:buNone/>
            </a:pPr>
            <a:r>
              <a:rPr lang="en-US" sz="1300" dirty="0">
                <a:solidFill>
                  <a:schemeClr val="bg2"/>
                </a:solidFill>
              </a:rPr>
              <a:t>e.g. example.com</a:t>
            </a:r>
            <a:endParaRPr lang="en-US" sz="1300" dirty="0"/>
          </a:p>
        </p:txBody>
      </p:sp>
      <p:sp>
        <p:nvSpPr>
          <p:cNvPr id="11" name="Shape 8"/>
          <p:cNvSpPr/>
          <p:nvPr/>
        </p:nvSpPr>
        <p:spPr>
          <a:xfrm>
            <a:off x="7123176" y="3063240"/>
            <a:ext cx="146304" cy="914"/>
          </a:xfrm>
          <a:prstGeom prst="line">
            <a:avLst/>
          </a:prstGeom>
          <a:noFill/>
          <a:ln w="25400">
            <a:solidFill>
              <a:srgbClr val="22D3EE"/>
            </a:solidFill>
            <a:prstDash val="solid"/>
            <a:tailEnd type="triangle"/>
          </a:ln>
        </p:spPr>
      </p:sp>
      <p:sp>
        <p:nvSpPr>
          <p:cNvPr id="12" name="Shape 9"/>
          <p:cNvSpPr/>
          <p:nvPr/>
        </p:nvSpPr>
        <p:spPr>
          <a:xfrm>
            <a:off x="7287768" y="1828800"/>
            <a:ext cx="1298448" cy="2514600"/>
          </a:xfrm>
          <a:prstGeom prst="roundRect">
            <a:avLst>
              <a:gd name="adj" fmla="val 8451"/>
            </a:avLst>
          </a:prstGeom>
          <a:solidFill>
            <a:schemeClr val="tx2"/>
          </a:solidFill>
          <a:ln/>
        </p:spPr>
      </p:sp>
      <p:sp>
        <p:nvSpPr>
          <p:cNvPr id="13" name="Shape 10"/>
          <p:cNvSpPr/>
          <p:nvPr/>
        </p:nvSpPr>
        <p:spPr>
          <a:xfrm>
            <a:off x="7653528" y="2011680"/>
            <a:ext cx="640080" cy="64008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7807147" y="2165299"/>
            <a:ext cx="332842" cy="332842"/>
          </a:xfrm>
          <a:prstGeom prst="rect">
            <a:avLst/>
          </a:prstGeom>
        </p:spPr>
      </p:pic>
      <p:sp>
        <p:nvSpPr>
          <p:cNvPr id="15" name="Text 11"/>
          <p:cNvSpPr txBox="1"/>
          <p:nvPr/>
        </p:nvSpPr>
        <p:spPr>
          <a:xfrm>
            <a:off x="7333488" y="2788920"/>
            <a:ext cx="1207008" cy="365760"/>
          </a:xfrm>
          <a:prstGeom prst="rect">
            <a:avLst/>
          </a:prstGeom>
          <a:noFill/>
          <a:ln/>
        </p:spPr>
        <p:txBody>
          <a:bodyPr wrap="square" lIns="0" tIns="0" rIns="0" bIns="0" rtlCol="0" anchor="t"/>
          <a:lstStyle/>
          <a:p>
            <a:pPr algn="ctr" indent="0" marL="0">
              <a:buNone/>
            </a:pPr>
            <a:r>
              <a:rPr lang="en-US" sz="1600" b="1" dirty="0">
                <a:solidFill>
                  <a:schemeClr val="bg1"/>
                </a:solidFill>
              </a:rPr>
              <a:t>Resolver</a:t>
            </a:r>
            <a:endParaRPr lang="en-US" sz="1600" dirty="0"/>
          </a:p>
        </p:txBody>
      </p:sp>
      <p:sp>
        <p:nvSpPr>
          <p:cNvPr id="16" name="Text 12"/>
          <p:cNvSpPr txBox="1"/>
          <p:nvPr/>
        </p:nvSpPr>
        <p:spPr>
          <a:xfrm>
            <a:off x="7360920" y="3200400"/>
            <a:ext cx="1152144" cy="1051560"/>
          </a:xfrm>
          <a:prstGeom prst="rect">
            <a:avLst/>
          </a:prstGeom>
          <a:noFill/>
          <a:ln/>
        </p:spPr>
        <p:txBody>
          <a:bodyPr wrap="square" lIns="0" tIns="0" rIns="0" bIns="0" rtlCol="0" anchor="t"/>
          <a:lstStyle/>
          <a:p>
            <a:pPr algn="ctr" indent="0" marL="0">
              <a:buNone/>
            </a:pPr>
            <a:r>
              <a:rPr lang="en-US" sz="1300" dirty="0">
                <a:solidFill>
                  <a:schemeClr val="bg2"/>
                </a:solidFill>
              </a:rPr>
              <a:t>asks the root, .com and example.com servers</a:t>
            </a:r>
            <a:endParaRPr lang="en-US" sz="1300" dirty="0"/>
          </a:p>
        </p:txBody>
      </p:sp>
      <p:sp>
        <p:nvSpPr>
          <p:cNvPr id="17" name="Shape 13"/>
          <p:cNvSpPr/>
          <p:nvPr/>
        </p:nvSpPr>
        <p:spPr>
          <a:xfrm>
            <a:off x="8604504" y="3063240"/>
            <a:ext cx="146304" cy="914"/>
          </a:xfrm>
          <a:prstGeom prst="line">
            <a:avLst/>
          </a:prstGeom>
          <a:noFill/>
          <a:ln w="25400">
            <a:solidFill>
              <a:srgbClr val="22D3EE"/>
            </a:solidFill>
            <a:prstDash val="solid"/>
            <a:tailEnd type="triangle"/>
          </a:ln>
        </p:spPr>
      </p:sp>
      <p:sp>
        <p:nvSpPr>
          <p:cNvPr id="18" name="Shape 14"/>
          <p:cNvSpPr/>
          <p:nvPr/>
        </p:nvSpPr>
        <p:spPr>
          <a:xfrm>
            <a:off x="8769096" y="1828800"/>
            <a:ext cx="1298448" cy="2514600"/>
          </a:xfrm>
          <a:prstGeom prst="roundRect">
            <a:avLst>
              <a:gd name="adj" fmla="val 8451"/>
            </a:avLst>
          </a:prstGeom>
          <a:solidFill>
            <a:schemeClr val="tx2"/>
          </a:solidFill>
          <a:ln/>
        </p:spPr>
      </p:sp>
      <p:sp>
        <p:nvSpPr>
          <p:cNvPr id="19" name="Shape 15"/>
          <p:cNvSpPr/>
          <p:nvPr/>
        </p:nvSpPr>
        <p:spPr>
          <a:xfrm>
            <a:off x="9134856" y="2011680"/>
            <a:ext cx="640080" cy="640080"/>
          </a:xfrm>
          <a:prstGeom prst="ellipse">
            <a:avLst/>
          </a:prstGeom>
          <a:solidFill>
            <a:schemeClr val="accent2"/>
          </a:solidFill>
          <a:ln/>
        </p:spPr>
      </p:sp>
      <p:pic>
        <p:nvPicPr>
          <p:cNvPr id="20" name="Image 2" descr="preencoded.png">    </p:cNvPr>
          <p:cNvPicPr>
            <a:picLocks noChangeAspect="1"/>
          </p:cNvPicPr>
          <p:nvPr/>
        </p:nvPicPr>
        <p:blipFill>
          <a:blip r:embed="rId3"/>
          <a:stretch>
            <a:fillRect/>
          </a:stretch>
        </p:blipFill>
        <p:spPr>
          <a:xfrm>
            <a:off x="9288475" y="2165299"/>
            <a:ext cx="332842" cy="332842"/>
          </a:xfrm>
          <a:prstGeom prst="rect">
            <a:avLst/>
          </a:prstGeom>
        </p:spPr>
      </p:pic>
      <p:sp>
        <p:nvSpPr>
          <p:cNvPr id="21" name="Text 16"/>
          <p:cNvSpPr txBox="1"/>
          <p:nvPr/>
        </p:nvSpPr>
        <p:spPr>
          <a:xfrm>
            <a:off x="8814816" y="2788920"/>
            <a:ext cx="1207008" cy="365760"/>
          </a:xfrm>
          <a:prstGeom prst="rect">
            <a:avLst/>
          </a:prstGeom>
          <a:noFill/>
          <a:ln/>
        </p:spPr>
        <p:txBody>
          <a:bodyPr wrap="square" lIns="0" tIns="0" rIns="0" bIns="0" rtlCol="0" anchor="t"/>
          <a:lstStyle/>
          <a:p>
            <a:pPr algn="ctr" indent="0" marL="0">
              <a:buNone/>
            </a:pPr>
            <a:r>
              <a:rPr lang="en-US" sz="1600" b="1" dirty="0">
                <a:solidFill>
                  <a:schemeClr val="bg1"/>
                </a:solidFill>
              </a:rPr>
              <a:t>IP address</a:t>
            </a:r>
            <a:endParaRPr lang="en-US" sz="1600" dirty="0"/>
          </a:p>
        </p:txBody>
      </p:sp>
      <p:sp>
        <p:nvSpPr>
          <p:cNvPr id="22" name="Text 17"/>
          <p:cNvSpPr txBox="1"/>
          <p:nvPr/>
        </p:nvSpPr>
        <p:spPr>
          <a:xfrm>
            <a:off x="8842248" y="3200400"/>
            <a:ext cx="1152144" cy="1051560"/>
          </a:xfrm>
          <a:prstGeom prst="rect">
            <a:avLst/>
          </a:prstGeom>
          <a:noFill/>
          <a:ln/>
        </p:spPr>
        <p:txBody>
          <a:bodyPr wrap="square" lIns="0" tIns="0" rIns="0" bIns="0" rtlCol="0" anchor="t"/>
          <a:lstStyle/>
          <a:p>
            <a:pPr algn="ctr" indent="0" marL="0">
              <a:buNone/>
            </a:pPr>
            <a:r>
              <a:rPr lang="en-US" sz="1300" dirty="0">
                <a:solidFill>
                  <a:schemeClr val="bg2"/>
                </a:solidFill>
              </a:rPr>
              <a:t>203.0.113.10</a:t>
            </a:r>
            <a:endParaRPr lang="en-US" sz="1300" dirty="0"/>
          </a:p>
          <a:p>
            <a:pPr algn="ctr" indent="0" marL="0">
              <a:buNone/>
            </a:pPr>
            <a:r>
              <a:rPr lang="en-US" sz="1300" dirty="0">
                <a:solidFill>
                  <a:schemeClr val="bg2"/>
                </a:solidFill>
              </a:rPr>
              <a:t>(example)</a:t>
            </a:r>
            <a:endParaRPr lang="en-US" sz="1300" dirty="0"/>
          </a:p>
        </p:txBody>
      </p:sp>
      <p:sp>
        <p:nvSpPr>
          <p:cNvPr id="23" name="Shape 18"/>
          <p:cNvSpPr/>
          <p:nvPr/>
        </p:nvSpPr>
        <p:spPr>
          <a:xfrm>
            <a:off x="10085832" y="3063240"/>
            <a:ext cx="146304" cy="914"/>
          </a:xfrm>
          <a:prstGeom prst="line">
            <a:avLst/>
          </a:prstGeom>
          <a:noFill/>
          <a:ln w="25400">
            <a:solidFill>
              <a:srgbClr val="22D3EE"/>
            </a:solidFill>
            <a:prstDash val="solid"/>
            <a:tailEnd type="triangle"/>
          </a:ln>
        </p:spPr>
      </p:sp>
      <p:sp>
        <p:nvSpPr>
          <p:cNvPr id="24" name="Shape 19"/>
          <p:cNvSpPr/>
          <p:nvPr/>
        </p:nvSpPr>
        <p:spPr>
          <a:xfrm>
            <a:off x="10250424" y="1828800"/>
            <a:ext cx="1298448" cy="2514600"/>
          </a:xfrm>
          <a:prstGeom prst="roundRect">
            <a:avLst>
              <a:gd name="adj" fmla="val 8451"/>
            </a:avLst>
          </a:prstGeom>
          <a:solidFill>
            <a:schemeClr val="tx2"/>
          </a:solidFill>
          <a:ln/>
        </p:spPr>
      </p:sp>
      <p:sp>
        <p:nvSpPr>
          <p:cNvPr id="25" name="Shape 20"/>
          <p:cNvSpPr/>
          <p:nvPr/>
        </p:nvSpPr>
        <p:spPr>
          <a:xfrm>
            <a:off x="10616184" y="2011680"/>
            <a:ext cx="640080" cy="640080"/>
          </a:xfrm>
          <a:prstGeom prst="ellipse">
            <a:avLst/>
          </a:prstGeom>
          <a:solidFill>
            <a:schemeClr val="accent3"/>
          </a:solidFill>
          <a:ln/>
        </p:spPr>
      </p:sp>
      <p:pic>
        <p:nvPicPr>
          <p:cNvPr id="26" name="Image 3" descr="preencoded.png">    </p:cNvPr>
          <p:cNvPicPr>
            <a:picLocks noChangeAspect="1"/>
          </p:cNvPicPr>
          <p:nvPr/>
        </p:nvPicPr>
        <p:blipFill>
          <a:blip r:embed="rId4"/>
          <a:stretch>
            <a:fillRect/>
          </a:stretch>
        </p:blipFill>
        <p:spPr>
          <a:xfrm>
            <a:off x="10769803" y="2165299"/>
            <a:ext cx="332842" cy="332842"/>
          </a:xfrm>
          <a:prstGeom prst="rect">
            <a:avLst/>
          </a:prstGeom>
        </p:spPr>
      </p:pic>
      <p:sp>
        <p:nvSpPr>
          <p:cNvPr id="27" name="Text 21"/>
          <p:cNvSpPr txBox="1"/>
          <p:nvPr/>
        </p:nvSpPr>
        <p:spPr>
          <a:xfrm>
            <a:off x="10296144" y="2788920"/>
            <a:ext cx="1207008" cy="365760"/>
          </a:xfrm>
          <a:prstGeom prst="rect">
            <a:avLst/>
          </a:prstGeom>
          <a:noFill/>
          <a:ln/>
        </p:spPr>
        <p:txBody>
          <a:bodyPr wrap="square" lIns="0" tIns="0" rIns="0" bIns="0" rtlCol="0" anchor="t"/>
          <a:lstStyle/>
          <a:p>
            <a:pPr algn="ctr" indent="0" marL="0">
              <a:buNone/>
            </a:pPr>
            <a:r>
              <a:rPr lang="en-US" sz="1600" b="1" dirty="0">
                <a:solidFill>
                  <a:schemeClr val="bg1"/>
                </a:solidFill>
              </a:rPr>
              <a:t>Website</a:t>
            </a:r>
            <a:endParaRPr lang="en-US" sz="1600" dirty="0"/>
          </a:p>
        </p:txBody>
      </p:sp>
      <p:sp>
        <p:nvSpPr>
          <p:cNvPr id="28" name="Text 22"/>
          <p:cNvSpPr txBox="1"/>
          <p:nvPr/>
        </p:nvSpPr>
        <p:spPr>
          <a:xfrm>
            <a:off x="10323576" y="3200400"/>
            <a:ext cx="1152144" cy="1051560"/>
          </a:xfrm>
          <a:prstGeom prst="rect">
            <a:avLst/>
          </a:prstGeom>
          <a:noFill/>
          <a:ln/>
        </p:spPr>
        <p:txBody>
          <a:bodyPr wrap="square" lIns="0" tIns="0" rIns="0" bIns="0" rtlCol="0" anchor="t"/>
          <a:lstStyle/>
          <a:p>
            <a:pPr algn="ctr" indent="0" marL="0">
              <a:buNone/>
            </a:pPr>
            <a:r>
              <a:rPr lang="en-US" sz="1300" dirty="0">
                <a:solidFill>
                  <a:schemeClr val="bg2"/>
                </a:solidFill>
              </a:rPr>
              <a:t>browser connects</a:t>
            </a:r>
            <a:endParaRPr lang="en-US" sz="1300" dirty="0"/>
          </a:p>
          <a:p>
            <a:pPr algn="ctr" indent="0" marL="0">
              <a:buNone/>
            </a:pPr>
            <a:r>
              <a:rPr lang="en-US" sz="1300" dirty="0">
                <a:solidFill>
                  <a:schemeClr val="bg2"/>
                </a:solidFill>
              </a:rPr>
              <a:t>to that address</a:t>
            </a:r>
            <a:endParaRPr lang="en-US" sz="1300" dirty="0"/>
          </a:p>
        </p:txBody>
      </p:sp>
      <p:sp>
        <p:nvSpPr>
          <p:cNvPr id="29" name="Shape 23"/>
          <p:cNvSpPr/>
          <p:nvPr/>
        </p:nvSpPr>
        <p:spPr>
          <a:xfrm>
            <a:off x="5806440" y="4617720"/>
            <a:ext cx="5742432" cy="1463040"/>
          </a:xfrm>
          <a:prstGeom prst="roundRect">
            <a:avLst>
              <a:gd name="adj" fmla="val 7500"/>
            </a:avLst>
          </a:prstGeom>
          <a:solidFill>
            <a:schemeClr val="tx2"/>
          </a:solidFill>
          <a:ln/>
        </p:spPr>
      </p:sp>
      <p:sp>
        <p:nvSpPr>
          <p:cNvPr id="30" name="Text 24"/>
          <p:cNvSpPr txBox="1"/>
          <p:nvPr/>
        </p:nvSpPr>
        <p:spPr>
          <a:xfrm>
            <a:off x="6035040" y="4800600"/>
            <a:ext cx="5394960" cy="914400"/>
          </a:xfrm>
          <a:prstGeom prst="rect">
            <a:avLst/>
          </a:prstGeom>
          <a:noFill/>
          <a:ln/>
        </p:spPr>
        <p:txBody>
          <a:bodyPr wrap="square" lIns="0" tIns="0" rIns="0" bIns="0" rtlCol="0" anchor="t"/>
          <a:lstStyle/>
          <a:p>
            <a:pPr indent="0" marL="0">
              <a:buNone/>
            </a:pPr>
            <a:r>
              <a:rPr lang="en-US" sz="1500" b="1" dirty="0">
                <a:solidFill>
                  <a:schemeClr val="accent2"/>
                </a:solidFill>
              </a:rPr>
              <a:t>Under the hood: </a:t>
            </a:r>
            <a:pPr indent="0" marL="0">
              <a:buNone/>
            </a:pPr>
            <a:r>
              <a:rPr lang="en-US" sz="1500" dirty="0">
                <a:solidFill>
                  <a:schemeClr val="bg1"/>
                </a:solidFill>
              </a:rPr>
              <a:t>queries normally travel over UDP port 53 (TCP for large replies). Resolvers cache each answer for its TTL (time to live), so repeat lookups are fast.</a:t>
            </a:r>
            <a:endParaRPr lang="en-US" sz="1500" dirty="0"/>
          </a:p>
        </p:txBody>
      </p:sp>
      <p:sp>
        <p:nvSpPr>
          <p:cNvPr id="31" name="Text 25"/>
          <p:cNvSpPr txBox="1"/>
          <p:nvPr/>
        </p:nvSpPr>
        <p:spPr>
          <a:xfrm>
            <a:off x="6035040" y="5742432"/>
            <a:ext cx="5394960" cy="274320"/>
          </a:xfrm>
          <a:prstGeom prst="rect">
            <a:avLst/>
          </a:prstGeom>
          <a:noFill/>
          <a:ln/>
        </p:spPr>
        <p:txBody>
          <a:bodyPr wrap="square" lIns="0" tIns="0" rIns="0" bIns="0" rtlCol="0" anchor="t"/>
          <a:lstStyle/>
          <a:p>
            <a:pPr indent="0" marL="0">
              <a:buNone/>
            </a:pPr>
            <a:r>
              <a:rPr lang="en-US" sz="1200" dirty="0">
                <a:solidFill>
                  <a:schemeClr val="bg2"/>
                </a:solidFill>
              </a:rPr>
              <a:t>Source: RFC 1034, RFC 1035</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Problem statement</a:t>
            </a:r>
            <a:endParaRPr lang="en-US" sz="3200" dirty="0"/>
          </a:p>
        </p:txBody>
      </p:sp>
      <p:sp>
        <p:nvSpPr>
          <p:cNvPr id="3" name="Shape 1"/>
          <p:cNvSpPr/>
          <p:nvPr/>
        </p:nvSpPr>
        <p:spPr>
          <a:xfrm>
            <a:off x="548640" y="1325880"/>
            <a:ext cx="6309360" cy="932688"/>
          </a:xfrm>
          <a:prstGeom prst="roundRect">
            <a:avLst>
              <a:gd name="adj" fmla="val 11765"/>
            </a:avLst>
          </a:prstGeom>
          <a:solidFill>
            <a:schemeClr val="tx2"/>
          </a:solidFill>
          <a:ln/>
        </p:spPr>
      </p:sp>
      <p:sp>
        <p:nvSpPr>
          <p:cNvPr id="4" name="Shape 2"/>
          <p:cNvSpPr/>
          <p:nvPr/>
        </p:nvSpPr>
        <p:spPr>
          <a:xfrm>
            <a:off x="731520" y="1472184"/>
            <a:ext cx="640080" cy="640080"/>
          </a:xfrm>
          <a:prstGeom prst="ellipse">
            <a:avLst/>
          </a:prstGeom>
          <a:solidFill>
            <a:schemeClr val="accent5"/>
          </a:solidFill>
          <a:ln/>
        </p:spPr>
      </p:sp>
      <p:pic>
        <p:nvPicPr>
          <p:cNvPr id="5" name="Image 0" descr="preencoded.png">    </p:cNvPr>
          <p:cNvPicPr>
            <a:picLocks noChangeAspect="1"/>
          </p:cNvPicPr>
          <p:nvPr/>
        </p:nvPicPr>
        <p:blipFill>
          <a:blip r:embed="rId1"/>
          <a:stretch>
            <a:fillRect/>
          </a:stretch>
        </p:blipFill>
        <p:spPr>
          <a:xfrm>
            <a:off x="885139" y="1625803"/>
            <a:ext cx="332842" cy="332842"/>
          </a:xfrm>
          <a:prstGeom prst="rect">
            <a:avLst/>
          </a:prstGeom>
        </p:spPr>
      </p:pic>
      <p:sp>
        <p:nvSpPr>
          <p:cNvPr id="6" name="Text 3"/>
          <p:cNvSpPr txBox="1"/>
          <p:nvPr/>
        </p:nvSpPr>
        <p:spPr>
          <a:xfrm>
            <a:off x="1554480" y="1435608"/>
            <a:ext cx="5120640" cy="365760"/>
          </a:xfrm>
          <a:prstGeom prst="rect">
            <a:avLst/>
          </a:prstGeom>
          <a:noFill/>
          <a:ln/>
        </p:spPr>
        <p:txBody>
          <a:bodyPr wrap="square" lIns="0" tIns="0" rIns="0" bIns="0" rtlCol="0" anchor="t"/>
          <a:lstStyle/>
          <a:p>
            <a:pPr indent="0" marL="0">
              <a:buNone/>
            </a:pPr>
            <a:r>
              <a:rPr lang="en-US" sz="1800" b="1" dirty="0">
                <a:solidFill>
                  <a:schemeClr val="bg1"/>
                </a:solidFill>
              </a:rPr>
              <a:t>DNS answers can be manipulated</a:t>
            </a:r>
            <a:endParaRPr lang="en-US" sz="1800" dirty="0"/>
          </a:p>
        </p:txBody>
      </p:sp>
      <p:sp>
        <p:nvSpPr>
          <p:cNvPr id="7" name="Text 4"/>
          <p:cNvSpPr txBox="1"/>
          <p:nvPr/>
        </p:nvSpPr>
        <p:spPr>
          <a:xfrm>
            <a:off x="1554480" y="1801368"/>
            <a:ext cx="5120640" cy="365760"/>
          </a:xfrm>
          <a:prstGeom prst="rect">
            <a:avLst/>
          </a:prstGeom>
          <a:noFill/>
          <a:ln/>
        </p:spPr>
        <p:txBody>
          <a:bodyPr wrap="square" lIns="0" tIns="0" rIns="0" bIns="0" rtlCol="0" anchor="t"/>
          <a:lstStyle/>
          <a:p>
            <a:pPr indent="0" marL="0">
              <a:buNone/>
            </a:pPr>
            <a:r>
              <a:rPr lang="en-US" sz="1400" dirty="0">
                <a:solidFill>
                  <a:schemeClr val="bg2"/>
                </a:solidFill>
              </a:rPr>
              <a:t>Spoofing or cache poisoning can redirect a name</a:t>
            </a:r>
            <a:endParaRPr lang="en-US" sz="1400" dirty="0"/>
          </a:p>
        </p:txBody>
      </p:sp>
      <p:sp>
        <p:nvSpPr>
          <p:cNvPr id="8" name="Shape 5"/>
          <p:cNvSpPr/>
          <p:nvPr/>
        </p:nvSpPr>
        <p:spPr>
          <a:xfrm>
            <a:off x="548640" y="2404872"/>
            <a:ext cx="6309360" cy="932688"/>
          </a:xfrm>
          <a:prstGeom prst="roundRect">
            <a:avLst>
              <a:gd name="adj" fmla="val 11765"/>
            </a:avLst>
          </a:prstGeom>
          <a:solidFill>
            <a:schemeClr val="tx2"/>
          </a:solidFill>
          <a:ln/>
        </p:spPr>
      </p:sp>
      <p:sp>
        <p:nvSpPr>
          <p:cNvPr id="9" name="Shape 6"/>
          <p:cNvSpPr/>
          <p:nvPr/>
        </p:nvSpPr>
        <p:spPr>
          <a:xfrm>
            <a:off x="731520" y="2551176"/>
            <a:ext cx="640080" cy="640080"/>
          </a:xfrm>
          <a:prstGeom prst="ellipse">
            <a:avLst/>
          </a:prstGeom>
          <a:solidFill>
            <a:schemeClr val="accent4"/>
          </a:solidFill>
          <a:ln/>
        </p:spPr>
      </p:sp>
      <p:pic>
        <p:nvPicPr>
          <p:cNvPr id="10" name="Image 1" descr="preencoded.png">    </p:cNvPr>
          <p:cNvPicPr>
            <a:picLocks noChangeAspect="1"/>
          </p:cNvPicPr>
          <p:nvPr/>
        </p:nvPicPr>
        <p:blipFill>
          <a:blip r:embed="rId2"/>
          <a:stretch>
            <a:fillRect/>
          </a:stretch>
        </p:blipFill>
        <p:spPr>
          <a:xfrm>
            <a:off x="885139" y="2704795"/>
            <a:ext cx="332842" cy="332842"/>
          </a:xfrm>
          <a:prstGeom prst="rect">
            <a:avLst/>
          </a:prstGeom>
        </p:spPr>
      </p:pic>
      <p:sp>
        <p:nvSpPr>
          <p:cNvPr id="11" name="Text 7"/>
          <p:cNvSpPr txBox="1"/>
          <p:nvPr/>
        </p:nvSpPr>
        <p:spPr>
          <a:xfrm>
            <a:off x="1554480" y="2514600"/>
            <a:ext cx="5120640" cy="365760"/>
          </a:xfrm>
          <a:prstGeom prst="rect">
            <a:avLst/>
          </a:prstGeom>
          <a:noFill/>
          <a:ln/>
        </p:spPr>
        <p:txBody>
          <a:bodyPr wrap="square" lIns="0" tIns="0" rIns="0" bIns="0" rtlCol="0" anchor="t"/>
          <a:lstStyle/>
          <a:p>
            <a:pPr indent="0" marL="0">
              <a:buNone/>
            </a:pPr>
            <a:r>
              <a:rPr lang="en-US" sz="1800" b="1" dirty="0">
                <a:solidFill>
                  <a:schemeClr val="bg1"/>
                </a:solidFill>
              </a:rPr>
              <a:t>Suspicious changes are hard to spot</a:t>
            </a:r>
            <a:endParaRPr lang="en-US" sz="1800" dirty="0"/>
          </a:p>
        </p:txBody>
      </p:sp>
      <p:sp>
        <p:nvSpPr>
          <p:cNvPr id="12" name="Text 8"/>
          <p:cNvSpPr txBox="1"/>
          <p:nvPr/>
        </p:nvSpPr>
        <p:spPr>
          <a:xfrm>
            <a:off x="1554480" y="2880360"/>
            <a:ext cx="5120640" cy="365760"/>
          </a:xfrm>
          <a:prstGeom prst="rect">
            <a:avLst/>
          </a:prstGeom>
          <a:noFill/>
          <a:ln/>
        </p:spPr>
        <p:txBody>
          <a:bodyPr wrap="square" lIns="0" tIns="0" rIns="0" bIns="0" rtlCol="0" anchor="t"/>
          <a:lstStyle/>
          <a:p>
            <a:pPr indent="0" marL="0">
              <a:buNone/>
            </a:pPr>
            <a:r>
              <a:rPr lang="en-US" sz="1400" dirty="0">
                <a:solidFill>
                  <a:schemeClr val="bg2"/>
                </a:solidFill>
              </a:rPr>
              <a:t>Classic DNS over UDP has no built-in authentication</a:t>
            </a:r>
            <a:endParaRPr lang="en-US" sz="1400" dirty="0"/>
          </a:p>
        </p:txBody>
      </p:sp>
      <p:sp>
        <p:nvSpPr>
          <p:cNvPr id="13" name="Shape 9"/>
          <p:cNvSpPr/>
          <p:nvPr/>
        </p:nvSpPr>
        <p:spPr>
          <a:xfrm>
            <a:off x="548640" y="3483864"/>
            <a:ext cx="6309360" cy="932688"/>
          </a:xfrm>
          <a:prstGeom prst="roundRect">
            <a:avLst>
              <a:gd name="adj" fmla="val 11765"/>
            </a:avLst>
          </a:prstGeom>
          <a:solidFill>
            <a:schemeClr val="tx2"/>
          </a:solidFill>
          <a:ln/>
        </p:spPr>
      </p:sp>
      <p:sp>
        <p:nvSpPr>
          <p:cNvPr id="14" name="Shape 10"/>
          <p:cNvSpPr/>
          <p:nvPr/>
        </p:nvSpPr>
        <p:spPr>
          <a:xfrm>
            <a:off x="731520" y="3630168"/>
            <a:ext cx="640080" cy="64008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885139" y="3783787"/>
            <a:ext cx="332842" cy="332842"/>
          </a:xfrm>
          <a:prstGeom prst="rect">
            <a:avLst/>
          </a:prstGeom>
        </p:spPr>
      </p:pic>
      <p:sp>
        <p:nvSpPr>
          <p:cNvPr id="16" name="Text 11"/>
          <p:cNvSpPr txBox="1"/>
          <p:nvPr/>
        </p:nvSpPr>
        <p:spPr>
          <a:xfrm>
            <a:off x="1554480" y="3593592"/>
            <a:ext cx="5120640" cy="365760"/>
          </a:xfrm>
          <a:prstGeom prst="rect">
            <a:avLst/>
          </a:prstGeom>
          <a:noFill/>
          <a:ln/>
        </p:spPr>
        <p:txBody>
          <a:bodyPr wrap="square" lIns="0" tIns="0" rIns="0" bIns="0" rtlCol="0" anchor="t"/>
          <a:lstStyle/>
          <a:p>
            <a:pPr indent="0" marL="0">
              <a:buNone/>
            </a:pPr>
            <a:r>
              <a:rPr lang="en-US" sz="1800" b="1" dirty="0">
                <a:solidFill>
                  <a:schemeClr val="bg1"/>
                </a:solidFill>
              </a:rPr>
              <a:t>Lookup tools show one answer</a:t>
            </a:r>
            <a:endParaRPr lang="en-US" sz="1800" dirty="0"/>
          </a:p>
        </p:txBody>
      </p:sp>
      <p:sp>
        <p:nvSpPr>
          <p:cNvPr id="17" name="Text 12"/>
          <p:cNvSpPr txBox="1"/>
          <p:nvPr/>
        </p:nvSpPr>
        <p:spPr>
          <a:xfrm>
            <a:off x="1554480" y="3959352"/>
            <a:ext cx="5120640" cy="365760"/>
          </a:xfrm>
          <a:prstGeom prst="rect">
            <a:avLst/>
          </a:prstGeom>
          <a:noFill/>
          <a:ln/>
        </p:spPr>
        <p:txBody>
          <a:bodyPr wrap="square" lIns="0" tIns="0" rIns="0" bIns="0" rtlCol="0" anchor="t"/>
          <a:lstStyle/>
          <a:p>
            <a:pPr indent="0" marL="0">
              <a:buNone/>
            </a:pPr>
            <a:r>
              <a:rPr lang="en-US" sz="1400" dirty="0">
                <a:solidFill>
                  <a:schemeClr val="bg2"/>
                </a:solidFill>
              </a:rPr>
              <a:t>dig / nslookup: one resolver, one moment, no history</a:t>
            </a:r>
            <a:endParaRPr lang="en-US" sz="1400" dirty="0"/>
          </a:p>
        </p:txBody>
      </p:sp>
      <p:sp>
        <p:nvSpPr>
          <p:cNvPr id="18" name="Shape 13"/>
          <p:cNvSpPr/>
          <p:nvPr/>
        </p:nvSpPr>
        <p:spPr>
          <a:xfrm>
            <a:off x="548640" y="4562856"/>
            <a:ext cx="6309360" cy="932688"/>
          </a:xfrm>
          <a:prstGeom prst="roundRect">
            <a:avLst>
              <a:gd name="adj" fmla="val 11765"/>
            </a:avLst>
          </a:prstGeom>
          <a:solidFill>
            <a:schemeClr val="tx2"/>
          </a:solidFill>
          <a:ln/>
        </p:spPr>
      </p:sp>
      <p:sp>
        <p:nvSpPr>
          <p:cNvPr id="19" name="Shape 14"/>
          <p:cNvSpPr/>
          <p:nvPr/>
        </p:nvSpPr>
        <p:spPr>
          <a:xfrm>
            <a:off x="731520" y="4709160"/>
            <a:ext cx="640080" cy="640080"/>
          </a:xfrm>
          <a:prstGeom prst="ellipse">
            <a:avLst/>
          </a:prstGeom>
          <a:solidFill>
            <a:schemeClr val="accent6"/>
          </a:solidFill>
          <a:ln/>
        </p:spPr>
      </p:sp>
      <p:pic>
        <p:nvPicPr>
          <p:cNvPr id="20" name="Image 3" descr="preencoded.png">    </p:cNvPr>
          <p:cNvPicPr>
            <a:picLocks noChangeAspect="1"/>
          </p:cNvPicPr>
          <p:nvPr/>
        </p:nvPicPr>
        <p:blipFill>
          <a:blip r:embed="rId4"/>
          <a:stretch>
            <a:fillRect/>
          </a:stretch>
        </p:blipFill>
        <p:spPr>
          <a:xfrm>
            <a:off x="885139" y="4862779"/>
            <a:ext cx="332842" cy="332842"/>
          </a:xfrm>
          <a:prstGeom prst="rect">
            <a:avLst/>
          </a:prstGeom>
        </p:spPr>
      </p:pic>
      <p:sp>
        <p:nvSpPr>
          <p:cNvPr id="21" name="Text 15"/>
          <p:cNvSpPr txBox="1"/>
          <p:nvPr/>
        </p:nvSpPr>
        <p:spPr>
          <a:xfrm>
            <a:off x="1554480" y="4672584"/>
            <a:ext cx="5120640" cy="365760"/>
          </a:xfrm>
          <a:prstGeom prst="rect">
            <a:avLst/>
          </a:prstGeom>
          <a:noFill/>
          <a:ln/>
        </p:spPr>
        <p:txBody>
          <a:bodyPr wrap="square" lIns="0" tIns="0" rIns="0" bIns="0" rtlCol="0" anchor="t"/>
          <a:lstStyle/>
          <a:p>
            <a:pPr indent="0" marL="0">
              <a:buNone/>
            </a:pPr>
            <a:r>
              <a:rPr lang="en-US" sz="1800" b="1" dirty="0">
                <a:solidFill>
                  <a:schemeClr val="bg1"/>
                </a:solidFill>
              </a:rPr>
              <a:t>Legitimate changes look similar</a:t>
            </a:r>
            <a:endParaRPr lang="en-US" sz="1800" dirty="0"/>
          </a:p>
        </p:txBody>
      </p:sp>
      <p:sp>
        <p:nvSpPr>
          <p:cNvPr id="22" name="Text 16"/>
          <p:cNvSpPr txBox="1"/>
          <p:nvPr/>
        </p:nvSpPr>
        <p:spPr>
          <a:xfrm>
            <a:off x="1554480" y="5038344"/>
            <a:ext cx="5120640" cy="365760"/>
          </a:xfrm>
          <a:prstGeom prst="rect">
            <a:avLst/>
          </a:prstGeom>
          <a:noFill/>
          <a:ln/>
        </p:spPr>
        <p:txBody>
          <a:bodyPr wrap="square" lIns="0" tIns="0" rIns="0" bIns="0" rtlCol="0" anchor="t"/>
          <a:lstStyle/>
          <a:p>
            <a:pPr indent="0" marL="0">
              <a:buNone/>
            </a:pPr>
            <a:r>
              <a:rPr lang="en-US" sz="1400" dirty="0">
                <a:solidFill>
                  <a:schemeClr val="bg2"/>
                </a:solidFill>
              </a:rPr>
              <a:t>CDNs, load balancing, caching and migrations also change IPs</a:t>
            </a:r>
            <a:endParaRPr lang="en-US" sz="1400" dirty="0"/>
          </a:p>
        </p:txBody>
      </p:sp>
      <p:sp>
        <p:nvSpPr>
          <p:cNvPr id="23" name="Shape 17"/>
          <p:cNvSpPr/>
          <p:nvPr/>
        </p:nvSpPr>
        <p:spPr>
          <a:xfrm>
            <a:off x="7178040" y="1325880"/>
            <a:ext cx="4462272" cy="4160520"/>
          </a:xfrm>
          <a:prstGeom prst="roundRect">
            <a:avLst>
              <a:gd name="adj" fmla="val 2637"/>
            </a:avLst>
          </a:prstGeom>
          <a:solidFill>
            <a:schemeClr val="tx2"/>
          </a:solidFill>
          <a:ln/>
        </p:spPr>
      </p:sp>
      <p:sp>
        <p:nvSpPr>
          <p:cNvPr id="24" name="Text 18"/>
          <p:cNvSpPr txBox="1"/>
          <p:nvPr/>
        </p:nvSpPr>
        <p:spPr>
          <a:xfrm>
            <a:off x="7406640" y="1463040"/>
            <a:ext cx="4023360" cy="365760"/>
          </a:xfrm>
          <a:prstGeom prst="rect">
            <a:avLst/>
          </a:prstGeom>
          <a:noFill/>
          <a:ln/>
        </p:spPr>
        <p:txBody>
          <a:bodyPr wrap="square" lIns="0" tIns="0" rIns="0" bIns="0" rtlCol="0" anchor="t"/>
          <a:lstStyle/>
          <a:p>
            <a:pPr indent="0" marL="0">
              <a:buNone/>
            </a:pPr>
            <a:r>
              <a:rPr lang="en-US" sz="1600" b="1" dirty="0">
                <a:solidFill>
                  <a:schemeClr val="bg2"/>
                </a:solidFill>
              </a:rPr>
              <a:t>How a spoofed answer misleads</a:t>
            </a:r>
            <a:endParaRPr lang="en-US" sz="1600" dirty="0"/>
          </a:p>
        </p:txBody>
      </p:sp>
      <p:sp>
        <p:nvSpPr>
          <p:cNvPr id="25" name="Shape 19"/>
          <p:cNvSpPr/>
          <p:nvPr/>
        </p:nvSpPr>
        <p:spPr>
          <a:xfrm>
            <a:off x="7406640" y="2011680"/>
            <a:ext cx="1463040" cy="731520"/>
          </a:xfrm>
          <a:prstGeom prst="roundRect">
            <a:avLst>
              <a:gd name="adj" fmla="val 15000"/>
            </a:avLst>
          </a:prstGeom>
          <a:solidFill>
            <a:srgbClr val="1B2E4A"/>
          </a:solidFill>
          <a:ln w="15875">
            <a:solidFill>
              <a:srgbClr val="A78BFA"/>
            </a:solidFill>
            <a:prstDash val="solid"/>
          </a:ln>
        </p:spPr>
      </p:sp>
      <p:sp>
        <p:nvSpPr>
          <p:cNvPr id="26" name="Text 20"/>
          <p:cNvSpPr txBox="1"/>
          <p:nvPr/>
        </p:nvSpPr>
        <p:spPr>
          <a:xfrm>
            <a:off x="7406640" y="2011680"/>
            <a:ext cx="1463040" cy="731520"/>
          </a:xfrm>
          <a:prstGeom prst="rect">
            <a:avLst/>
          </a:prstGeom>
          <a:noFill/>
          <a:ln/>
        </p:spPr>
        <p:txBody>
          <a:bodyPr wrap="square" lIns="0" tIns="0" rIns="0" bIns="0" rtlCol="0" anchor="ctr"/>
          <a:lstStyle/>
          <a:p>
            <a:pPr algn="ctr" indent="0" marL="0">
              <a:buNone/>
            </a:pPr>
            <a:r>
              <a:rPr lang="en-US" sz="1500" dirty="0">
                <a:solidFill>
                  <a:schemeClr val="bg1"/>
                </a:solidFill>
              </a:rPr>
              <a:t>User</a:t>
            </a:r>
            <a:endParaRPr lang="en-US" sz="1500" dirty="0"/>
          </a:p>
        </p:txBody>
      </p:sp>
      <p:sp>
        <p:nvSpPr>
          <p:cNvPr id="27" name="Shape 21"/>
          <p:cNvSpPr/>
          <p:nvPr/>
        </p:nvSpPr>
        <p:spPr>
          <a:xfrm>
            <a:off x="9921240" y="2011680"/>
            <a:ext cx="1508760" cy="731520"/>
          </a:xfrm>
          <a:prstGeom prst="roundRect">
            <a:avLst>
              <a:gd name="adj" fmla="val 15000"/>
            </a:avLst>
          </a:prstGeom>
          <a:solidFill>
            <a:srgbClr val="1B2E4A"/>
          </a:solidFill>
          <a:ln w="15875">
            <a:solidFill>
              <a:srgbClr val="14B8A6"/>
            </a:solidFill>
            <a:prstDash val="solid"/>
          </a:ln>
        </p:spPr>
      </p:sp>
      <p:sp>
        <p:nvSpPr>
          <p:cNvPr id="28" name="Text 22"/>
          <p:cNvSpPr txBox="1"/>
          <p:nvPr/>
        </p:nvSpPr>
        <p:spPr>
          <a:xfrm>
            <a:off x="9921240" y="2011680"/>
            <a:ext cx="1508760" cy="731520"/>
          </a:xfrm>
          <a:prstGeom prst="rect">
            <a:avLst/>
          </a:prstGeom>
          <a:noFill/>
          <a:ln/>
        </p:spPr>
        <p:txBody>
          <a:bodyPr wrap="square" lIns="0" tIns="0" rIns="0" bIns="0" rtlCol="0" anchor="ctr"/>
          <a:lstStyle/>
          <a:p>
            <a:pPr algn="ctr" indent="0" marL="0">
              <a:buNone/>
            </a:pPr>
            <a:r>
              <a:rPr lang="en-US" sz="1500" dirty="0">
                <a:solidFill>
                  <a:schemeClr val="bg1"/>
                </a:solidFill>
              </a:rPr>
              <a:t>Resolver</a:t>
            </a:r>
            <a:endParaRPr lang="en-US" sz="1500" dirty="0"/>
          </a:p>
        </p:txBody>
      </p:sp>
      <p:sp>
        <p:nvSpPr>
          <p:cNvPr id="29" name="Shape 23"/>
          <p:cNvSpPr/>
          <p:nvPr/>
        </p:nvSpPr>
        <p:spPr>
          <a:xfrm>
            <a:off x="8915400" y="2240280"/>
            <a:ext cx="960120" cy="914"/>
          </a:xfrm>
          <a:prstGeom prst="line">
            <a:avLst/>
          </a:prstGeom>
          <a:noFill/>
          <a:ln w="25400">
            <a:solidFill>
              <a:srgbClr val="A78BFA"/>
            </a:solidFill>
            <a:prstDash val="solid"/>
            <a:tailEnd type="triangle"/>
          </a:ln>
        </p:spPr>
      </p:sp>
      <p:sp>
        <p:nvSpPr>
          <p:cNvPr id="30" name="Text 24"/>
          <p:cNvSpPr txBox="1"/>
          <p:nvPr/>
        </p:nvSpPr>
        <p:spPr>
          <a:xfrm>
            <a:off x="8915400" y="1874520"/>
            <a:ext cx="960120" cy="274320"/>
          </a:xfrm>
          <a:prstGeom prst="rect">
            <a:avLst/>
          </a:prstGeom>
          <a:noFill/>
          <a:ln/>
        </p:spPr>
        <p:txBody>
          <a:bodyPr wrap="square" lIns="0" tIns="0" rIns="0" bIns="0" rtlCol="0" anchor="t"/>
          <a:lstStyle/>
          <a:p>
            <a:pPr algn="ctr" indent="0" marL="0">
              <a:buNone/>
            </a:pPr>
            <a:r>
              <a:rPr lang="en-US" sz="1200" dirty="0">
                <a:solidFill>
                  <a:schemeClr val="bg2"/>
                </a:solidFill>
              </a:rPr>
              <a:t>query</a:t>
            </a:r>
            <a:endParaRPr lang="en-US" sz="1200" dirty="0"/>
          </a:p>
        </p:txBody>
      </p:sp>
      <p:sp>
        <p:nvSpPr>
          <p:cNvPr id="31" name="Shape 25"/>
          <p:cNvSpPr/>
          <p:nvPr/>
        </p:nvSpPr>
        <p:spPr>
          <a:xfrm>
            <a:off x="9921240" y="3337560"/>
            <a:ext cx="1508760" cy="822960"/>
          </a:xfrm>
          <a:prstGeom prst="roundRect">
            <a:avLst>
              <a:gd name="adj" fmla="val 13333"/>
            </a:avLst>
          </a:prstGeom>
          <a:solidFill>
            <a:srgbClr val="1B2E4A"/>
          </a:solidFill>
          <a:ln w="15875">
            <a:solidFill>
              <a:srgbClr val="EF4444"/>
            </a:solidFill>
            <a:prstDash val="solid"/>
          </a:ln>
        </p:spPr>
      </p:sp>
      <p:sp>
        <p:nvSpPr>
          <p:cNvPr id="32" name="Text 26"/>
          <p:cNvSpPr txBox="1"/>
          <p:nvPr/>
        </p:nvSpPr>
        <p:spPr>
          <a:xfrm>
            <a:off x="9921240" y="3337560"/>
            <a:ext cx="1508760" cy="822960"/>
          </a:xfrm>
          <a:prstGeom prst="rect">
            <a:avLst/>
          </a:prstGeom>
          <a:noFill/>
          <a:ln/>
        </p:spPr>
        <p:txBody>
          <a:bodyPr wrap="square" lIns="0" tIns="0" rIns="0" bIns="0" rtlCol="0" anchor="ctr"/>
          <a:lstStyle/>
          <a:p>
            <a:pPr algn="ctr" indent="0" marL="0">
              <a:buNone/>
            </a:pPr>
            <a:r>
              <a:rPr lang="en-US" sz="1300" dirty="0">
                <a:solidFill>
                  <a:schemeClr val="bg1"/>
                </a:solidFill>
              </a:rPr>
              <a:t>Attacker</a:t>
            </a:r>
            <a:endParaRPr lang="en-US" sz="1300" dirty="0"/>
          </a:p>
          <a:p>
            <a:pPr algn="ctr" indent="0" marL="0">
              <a:buNone/>
            </a:pPr>
            <a:r>
              <a:rPr lang="en-US" sz="1300" dirty="0">
                <a:solidFill>
                  <a:schemeClr val="bg1"/>
                </a:solidFill>
              </a:rPr>
              <a:t>fake reply</a:t>
            </a:r>
            <a:endParaRPr lang="en-US" sz="1300" dirty="0"/>
          </a:p>
        </p:txBody>
      </p:sp>
      <p:sp>
        <p:nvSpPr>
          <p:cNvPr id="33" name="Shape 27"/>
          <p:cNvSpPr/>
          <p:nvPr/>
        </p:nvSpPr>
        <p:spPr>
          <a:xfrm flipH="1" flipV="1">
            <a:off x="8915400" y="2606040"/>
            <a:ext cx="1005840" cy="1005840"/>
          </a:xfrm>
          <a:prstGeom prst="line">
            <a:avLst/>
          </a:prstGeom>
          <a:noFill/>
          <a:ln w="25400">
            <a:solidFill>
              <a:srgbClr val="EF4444"/>
            </a:solidFill>
            <a:prstDash val="dash"/>
            <a:tailEnd type="triangle"/>
          </a:ln>
        </p:spPr>
      </p:sp>
      <p:sp>
        <p:nvSpPr>
          <p:cNvPr id="34" name="Shape 28"/>
          <p:cNvSpPr/>
          <p:nvPr/>
        </p:nvSpPr>
        <p:spPr>
          <a:xfrm>
            <a:off x="7406640" y="4343400"/>
            <a:ext cx="1463040" cy="868680"/>
          </a:xfrm>
          <a:prstGeom prst="roundRect">
            <a:avLst>
              <a:gd name="adj" fmla="val 12632"/>
            </a:avLst>
          </a:prstGeom>
          <a:solidFill>
            <a:srgbClr val="1B2E4A"/>
          </a:solidFill>
          <a:ln w="15875">
            <a:solidFill>
              <a:srgbClr val="EF4444"/>
            </a:solidFill>
            <a:prstDash val="solid"/>
          </a:ln>
        </p:spPr>
      </p:sp>
      <p:sp>
        <p:nvSpPr>
          <p:cNvPr id="35" name="Text 29"/>
          <p:cNvSpPr txBox="1"/>
          <p:nvPr/>
        </p:nvSpPr>
        <p:spPr>
          <a:xfrm>
            <a:off x="7406640" y="4343400"/>
            <a:ext cx="1463040" cy="868680"/>
          </a:xfrm>
          <a:prstGeom prst="rect">
            <a:avLst/>
          </a:prstGeom>
          <a:noFill/>
          <a:ln/>
        </p:spPr>
        <p:txBody>
          <a:bodyPr wrap="square" lIns="0" tIns="0" rIns="0" bIns="0" rtlCol="0" anchor="ctr"/>
          <a:lstStyle/>
          <a:p>
            <a:pPr algn="ctr" indent="0" marL="0">
              <a:buNone/>
            </a:pPr>
            <a:r>
              <a:rPr lang="en-US" sz="1500" dirty="0">
                <a:solidFill>
                  <a:schemeClr val="bg1"/>
                </a:solidFill>
              </a:rPr>
              <a:t>Fake site</a:t>
            </a:r>
            <a:endParaRPr lang="en-US" sz="1500" dirty="0"/>
          </a:p>
        </p:txBody>
      </p:sp>
      <p:sp>
        <p:nvSpPr>
          <p:cNvPr id="36" name="Shape 30"/>
          <p:cNvSpPr/>
          <p:nvPr/>
        </p:nvSpPr>
        <p:spPr>
          <a:xfrm>
            <a:off x="8138160" y="2788920"/>
            <a:ext cx="914" cy="1508760"/>
          </a:xfrm>
          <a:prstGeom prst="line">
            <a:avLst/>
          </a:prstGeom>
          <a:noFill/>
          <a:ln w="25400">
            <a:solidFill>
              <a:srgbClr val="EF4444"/>
            </a:solidFill>
            <a:prstDash val="solid"/>
            <a:tailEnd type="triangle"/>
          </a:ln>
        </p:spPr>
      </p:sp>
      <p:sp>
        <p:nvSpPr>
          <p:cNvPr id="37" name="Text 31"/>
          <p:cNvSpPr txBox="1"/>
          <p:nvPr/>
        </p:nvSpPr>
        <p:spPr>
          <a:xfrm>
            <a:off x="8275320" y="3429000"/>
            <a:ext cx="1371600" cy="548640"/>
          </a:xfrm>
          <a:prstGeom prst="rect">
            <a:avLst/>
          </a:prstGeom>
          <a:noFill/>
          <a:ln/>
        </p:spPr>
        <p:txBody>
          <a:bodyPr wrap="square" lIns="0" tIns="0" rIns="0" bIns="0" rtlCol="0" anchor="t"/>
          <a:lstStyle/>
          <a:p>
            <a:pPr indent="0" marL="0">
              <a:buNone/>
            </a:pPr>
            <a:r>
              <a:rPr lang="en-US" sz="1200" dirty="0">
                <a:solidFill>
                  <a:schemeClr val="bg2"/>
                </a:solidFill>
              </a:rPr>
              <a:t>user is sent</a:t>
            </a:r>
            <a:endParaRPr lang="en-US" sz="1200" dirty="0"/>
          </a:p>
          <a:p>
            <a:pPr indent="0" marL="0">
              <a:buNone/>
            </a:pPr>
            <a:r>
              <a:rPr lang="en-US" sz="1200" dirty="0">
                <a:solidFill>
                  <a:schemeClr val="bg2"/>
                </a:solidFill>
              </a:rPr>
              <a:t>to wrong IP</a:t>
            </a:r>
            <a:endParaRPr lang="en-US" sz="1200" dirty="0"/>
          </a:p>
        </p:txBody>
      </p:sp>
      <p:sp>
        <p:nvSpPr>
          <p:cNvPr id="38" name="Shape 32"/>
          <p:cNvSpPr/>
          <p:nvPr/>
        </p:nvSpPr>
        <p:spPr>
          <a:xfrm>
            <a:off x="548640" y="5669280"/>
            <a:ext cx="11094415" cy="566928"/>
          </a:xfrm>
          <a:prstGeom prst="roundRect">
            <a:avLst>
              <a:gd name="adj" fmla="val 19355"/>
            </a:avLst>
          </a:prstGeom>
          <a:solidFill>
            <a:srgbClr val="1B2E4A"/>
          </a:solidFill>
          <a:ln w="15875">
            <a:solidFill>
              <a:srgbClr val="14B8A6"/>
            </a:solidFill>
            <a:prstDash val="solid"/>
          </a:ln>
        </p:spPr>
      </p:sp>
      <p:sp>
        <p:nvSpPr>
          <p:cNvPr id="39" name="Text 33"/>
          <p:cNvSpPr txBox="1"/>
          <p:nvPr/>
        </p:nvSpPr>
        <p:spPr>
          <a:xfrm>
            <a:off x="777240" y="5669280"/>
            <a:ext cx="10637215" cy="566928"/>
          </a:xfrm>
          <a:prstGeom prst="rect">
            <a:avLst/>
          </a:prstGeom>
          <a:noFill/>
          <a:ln/>
        </p:spPr>
        <p:txBody>
          <a:bodyPr wrap="square" lIns="0" tIns="0" rIns="0" bIns="0" rtlCol="0" anchor="ctr"/>
          <a:lstStyle/>
          <a:p>
            <a:pPr indent="0" marL="0">
              <a:buNone/>
            </a:pPr>
            <a:r>
              <a:rPr lang="en-US" sz="1500" b="1" dirty="0">
                <a:solidFill>
                  <a:schemeClr val="accent1"/>
                </a:solidFill>
              </a:rPr>
              <a:t>DNScope's aim: </a:t>
            </a:r>
            <a:pPr indent="0" marL="0">
              <a:buNone/>
            </a:pPr>
            <a:r>
              <a:rPr lang="en-US" sz="1500" dirty="0">
                <a:solidFill>
                  <a:schemeClr val="bg1"/>
                </a:solidFill>
              </a:rPr>
              <a:t>help users decide which DNS answers need investigation, without treating every change as an attack.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Proposed solution: how DNScope works</a:t>
            </a:r>
            <a:endParaRPr lang="en-US" sz="3200" dirty="0"/>
          </a:p>
        </p:txBody>
      </p:sp>
      <p:sp>
        <p:nvSpPr>
          <p:cNvPr id="3" name="Shape 1"/>
          <p:cNvSpPr/>
          <p:nvPr/>
        </p:nvSpPr>
        <p:spPr>
          <a:xfrm>
            <a:off x="548640" y="1508760"/>
            <a:ext cx="1700784" cy="3108960"/>
          </a:xfrm>
          <a:prstGeom prst="roundRect">
            <a:avLst>
              <a:gd name="adj" fmla="val 6452"/>
            </a:avLst>
          </a:prstGeom>
          <a:solidFill>
            <a:schemeClr val="tx2"/>
          </a:solidFill>
          <a:ln/>
        </p:spPr>
      </p:sp>
      <p:sp>
        <p:nvSpPr>
          <p:cNvPr id="4" name="Text 2"/>
          <p:cNvSpPr txBox="1"/>
          <p:nvPr/>
        </p:nvSpPr>
        <p:spPr>
          <a:xfrm>
            <a:off x="685800" y="1600200"/>
            <a:ext cx="457200" cy="365760"/>
          </a:xfrm>
          <a:prstGeom prst="rect">
            <a:avLst/>
          </a:prstGeom>
          <a:noFill/>
          <a:ln/>
        </p:spPr>
        <p:txBody>
          <a:bodyPr wrap="square" lIns="0" tIns="0" rIns="0" bIns="0" rtlCol="0" anchor="t"/>
          <a:lstStyle/>
          <a:p>
            <a:pPr indent="0" marL="0">
              <a:buNone/>
            </a:pPr>
            <a:r>
              <a:rPr lang="en-US" sz="1600" b="1" dirty="0">
                <a:solidFill>
                  <a:schemeClr val="accent6"/>
                </a:solidFill>
              </a:rPr>
              <a:t>1</a:t>
            </a:r>
            <a:endParaRPr lang="en-US" sz="1600" dirty="0"/>
          </a:p>
        </p:txBody>
      </p:sp>
      <p:sp>
        <p:nvSpPr>
          <p:cNvPr id="5" name="Shape 3"/>
          <p:cNvSpPr/>
          <p:nvPr/>
        </p:nvSpPr>
        <p:spPr>
          <a:xfrm>
            <a:off x="964692" y="2011680"/>
            <a:ext cx="868680" cy="868680"/>
          </a:xfrm>
          <a:prstGeom prst="ellipse">
            <a:avLst/>
          </a:prstGeom>
          <a:solidFill>
            <a:schemeClr val="accent6"/>
          </a:solidFill>
          <a:ln/>
        </p:spPr>
      </p:sp>
      <p:pic>
        <p:nvPicPr>
          <p:cNvPr id="6" name="Image 0" descr="preencoded.png">    </p:cNvPr>
          <p:cNvPicPr>
            <a:picLocks noChangeAspect="1"/>
          </p:cNvPicPr>
          <p:nvPr/>
        </p:nvPicPr>
        <p:blipFill>
          <a:blip r:embed="rId1"/>
          <a:stretch>
            <a:fillRect/>
          </a:stretch>
        </p:blipFill>
        <p:spPr>
          <a:xfrm>
            <a:off x="1173175" y="2220163"/>
            <a:ext cx="451714" cy="451714"/>
          </a:xfrm>
          <a:prstGeom prst="rect">
            <a:avLst/>
          </a:prstGeom>
        </p:spPr>
      </p:pic>
      <p:sp>
        <p:nvSpPr>
          <p:cNvPr id="7" name="Text 4"/>
          <p:cNvSpPr txBox="1"/>
          <p:nvPr/>
        </p:nvSpPr>
        <p:spPr>
          <a:xfrm>
            <a:off x="640080" y="3017520"/>
            <a:ext cx="1517904" cy="685800"/>
          </a:xfrm>
          <a:prstGeom prst="rect">
            <a:avLst/>
          </a:prstGeom>
          <a:noFill/>
          <a:ln/>
        </p:spPr>
        <p:txBody>
          <a:bodyPr wrap="square" lIns="0" tIns="0" rIns="0" bIns="0" rtlCol="0" anchor="t"/>
          <a:lstStyle/>
          <a:p>
            <a:pPr algn="ctr" indent="0" marL="0">
              <a:buNone/>
            </a:pPr>
            <a:r>
              <a:rPr lang="en-US" sz="1700" b="1" dirty="0">
                <a:solidFill>
                  <a:schemeClr val="bg1"/>
                </a:solidFill>
              </a:rPr>
              <a:t>Accept domain</a:t>
            </a:r>
            <a:endParaRPr lang="en-US" sz="1700" dirty="0"/>
          </a:p>
        </p:txBody>
      </p:sp>
      <p:sp>
        <p:nvSpPr>
          <p:cNvPr id="8" name="Text 5"/>
          <p:cNvSpPr txBox="1"/>
          <p:nvPr/>
        </p:nvSpPr>
        <p:spPr>
          <a:xfrm>
            <a:off x="658368" y="3703320"/>
            <a:ext cx="1481328" cy="868680"/>
          </a:xfrm>
          <a:prstGeom prst="rect">
            <a:avLst/>
          </a:prstGeom>
          <a:noFill/>
          <a:ln/>
        </p:spPr>
        <p:txBody>
          <a:bodyPr wrap="square" lIns="0" tIns="0" rIns="0" bIns="0" rtlCol="0" anchor="t"/>
          <a:lstStyle/>
          <a:p>
            <a:pPr algn="ctr" indent="0" marL="0">
              <a:buNone/>
            </a:pPr>
            <a:r>
              <a:rPr lang="en-US" sz="1300" dirty="0">
                <a:solidFill>
                  <a:schemeClr val="bg2"/>
                </a:solidFill>
              </a:rPr>
              <a:t>user enters a name; input is validated</a:t>
            </a:r>
            <a:endParaRPr lang="en-US" sz="1300" dirty="0"/>
          </a:p>
        </p:txBody>
      </p:sp>
      <p:sp>
        <p:nvSpPr>
          <p:cNvPr id="9" name="Shape 6"/>
          <p:cNvSpPr/>
          <p:nvPr/>
        </p:nvSpPr>
        <p:spPr>
          <a:xfrm>
            <a:off x="2249424" y="3063240"/>
            <a:ext cx="155448" cy="914"/>
          </a:xfrm>
          <a:prstGeom prst="line">
            <a:avLst/>
          </a:prstGeom>
          <a:noFill/>
          <a:ln w="28575">
            <a:solidFill>
              <a:srgbClr val="22D3EE"/>
            </a:solidFill>
            <a:prstDash val="solid"/>
            <a:tailEnd type="triangle"/>
          </a:ln>
        </p:spPr>
      </p:sp>
      <p:sp>
        <p:nvSpPr>
          <p:cNvPr id="10" name="Shape 7"/>
          <p:cNvSpPr/>
          <p:nvPr/>
        </p:nvSpPr>
        <p:spPr>
          <a:xfrm>
            <a:off x="2404872" y="1508760"/>
            <a:ext cx="1700784" cy="3108960"/>
          </a:xfrm>
          <a:prstGeom prst="roundRect">
            <a:avLst>
              <a:gd name="adj" fmla="val 6452"/>
            </a:avLst>
          </a:prstGeom>
          <a:solidFill>
            <a:schemeClr val="tx2"/>
          </a:solidFill>
          <a:ln/>
        </p:spPr>
      </p:sp>
      <p:sp>
        <p:nvSpPr>
          <p:cNvPr id="11" name="Text 8"/>
          <p:cNvSpPr txBox="1"/>
          <p:nvPr/>
        </p:nvSpPr>
        <p:spPr>
          <a:xfrm>
            <a:off x="2542032" y="1600200"/>
            <a:ext cx="457200" cy="365760"/>
          </a:xfrm>
          <a:prstGeom prst="rect">
            <a:avLst/>
          </a:prstGeom>
          <a:noFill/>
          <a:ln/>
        </p:spPr>
        <p:txBody>
          <a:bodyPr wrap="square" lIns="0" tIns="0" rIns="0" bIns="0" rtlCol="0" anchor="t"/>
          <a:lstStyle/>
          <a:p>
            <a:pPr indent="0" marL="0">
              <a:buNone/>
            </a:pPr>
            <a:r>
              <a:rPr lang="en-US" sz="1600" b="1" dirty="0">
                <a:solidFill>
                  <a:schemeClr val="accent1"/>
                </a:solidFill>
              </a:rPr>
              <a:t>2</a:t>
            </a:r>
            <a:endParaRPr lang="en-US" sz="1600" dirty="0"/>
          </a:p>
        </p:txBody>
      </p:sp>
      <p:sp>
        <p:nvSpPr>
          <p:cNvPr id="12" name="Shape 9"/>
          <p:cNvSpPr/>
          <p:nvPr/>
        </p:nvSpPr>
        <p:spPr>
          <a:xfrm>
            <a:off x="2820924" y="2011680"/>
            <a:ext cx="868680" cy="8686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029407" y="2220163"/>
            <a:ext cx="451714" cy="451714"/>
          </a:xfrm>
          <a:prstGeom prst="rect">
            <a:avLst/>
          </a:prstGeom>
        </p:spPr>
      </p:pic>
      <p:sp>
        <p:nvSpPr>
          <p:cNvPr id="14" name="Text 10"/>
          <p:cNvSpPr txBox="1"/>
          <p:nvPr/>
        </p:nvSpPr>
        <p:spPr>
          <a:xfrm>
            <a:off x="2496312" y="3017520"/>
            <a:ext cx="1517904" cy="685800"/>
          </a:xfrm>
          <a:prstGeom prst="rect">
            <a:avLst/>
          </a:prstGeom>
          <a:noFill/>
          <a:ln/>
        </p:spPr>
        <p:txBody>
          <a:bodyPr wrap="square" lIns="0" tIns="0" rIns="0" bIns="0" rtlCol="0" anchor="t"/>
          <a:lstStyle/>
          <a:p>
            <a:pPr algn="ctr" indent="0" marL="0">
              <a:buNone/>
            </a:pPr>
            <a:r>
              <a:rPr lang="en-US" sz="1700" b="1" dirty="0">
                <a:solidFill>
                  <a:schemeClr val="bg1"/>
                </a:solidFill>
              </a:rPr>
              <a:t>Retrieve records</a:t>
            </a:r>
            <a:endParaRPr lang="en-US" sz="1700" dirty="0"/>
          </a:p>
        </p:txBody>
      </p:sp>
      <p:sp>
        <p:nvSpPr>
          <p:cNvPr id="15" name="Text 11"/>
          <p:cNvSpPr txBox="1"/>
          <p:nvPr/>
        </p:nvSpPr>
        <p:spPr>
          <a:xfrm>
            <a:off x="2514600" y="3703320"/>
            <a:ext cx="1481328" cy="868680"/>
          </a:xfrm>
          <a:prstGeom prst="rect">
            <a:avLst/>
          </a:prstGeom>
          <a:noFill/>
          <a:ln/>
        </p:spPr>
        <p:txBody>
          <a:bodyPr wrap="square" lIns="0" tIns="0" rIns="0" bIns="0" rtlCol="0" anchor="t"/>
          <a:lstStyle/>
          <a:p>
            <a:pPr algn="ctr" indent="0" marL="0">
              <a:buNone/>
            </a:pPr>
            <a:r>
              <a:rPr lang="en-US" sz="1300" dirty="0">
                <a:solidFill>
                  <a:schemeClr val="bg2"/>
                </a:solidFill>
              </a:rPr>
              <a:t>A, AAAA, CNAME, NS, MX, TXT via dnspython</a:t>
            </a:r>
            <a:endParaRPr lang="en-US" sz="1300" dirty="0"/>
          </a:p>
        </p:txBody>
      </p:sp>
      <p:sp>
        <p:nvSpPr>
          <p:cNvPr id="16" name="Shape 12"/>
          <p:cNvSpPr/>
          <p:nvPr/>
        </p:nvSpPr>
        <p:spPr>
          <a:xfrm>
            <a:off x="4105656" y="3063240"/>
            <a:ext cx="155448" cy="914"/>
          </a:xfrm>
          <a:prstGeom prst="line">
            <a:avLst/>
          </a:prstGeom>
          <a:noFill/>
          <a:ln w="28575">
            <a:solidFill>
              <a:srgbClr val="22D3EE"/>
            </a:solidFill>
            <a:prstDash val="solid"/>
            <a:tailEnd type="triangle"/>
          </a:ln>
        </p:spPr>
      </p:sp>
      <p:sp>
        <p:nvSpPr>
          <p:cNvPr id="17" name="Shape 13"/>
          <p:cNvSpPr/>
          <p:nvPr/>
        </p:nvSpPr>
        <p:spPr>
          <a:xfrm>
            <a:off x="4261104" y="1508760"/>
            <a:ext cx="1700784" cy="3108960"/>
          </a:xfrm>
          <a:prstGeom prst="roundRect">
            <a:avLst>
              <a:gd name="adj" fmla="val 6452"/>
            </a:avLst>
          </a:prstGeom>
          <a:solidFill>
            <a:schemeClr val="tx2"/>
          </a:solidFill>
          <a:ln/>
        </p:spPr>
      </p:sp>
      <p:sp>
        <p:nvSpPr>
          <p:cNvPr id="18" name="Text 14"/>
          <p:cNvSpPr txBox="1"/>
          <p:nvPr/>
        </p:nvSpPr>
        <p:spPr>
          <a:xfrm>
            <a:off x="4398264" y="1600200"/>
            <a:ext cx="457200" cy="365760"/>
          </a:xfrm>
          <a:prstGeom prst="rect">
            <a:avLst/>
          </a:prstGeom>
          <a:noFill/>
          <a:ln/>
        </p:spPr>
        <p:txBody>
          <a:bodyPr wrap="square" lIns="0" tIns="0" rIns="0" bIns="0" rtlCol="0" anchor="t"/>
          <a:lstStyle/>
          <a:p>
            <a:pPr indent="0" marL="0">
              <a:buNone/>
            </a:pPr>
            <a:r>
              <a:rPr lang="en-US" sz="1600" b="1" dirty="0">
                <a:solidFill>
                  <a:schemeClr val="accent2"/>
                </a:solidFill>
              </a:rPr>
              <a:t>3</a:t>
            </a:r>
            <a:endParaRPr lang="en-US" sz="1600" dirty="0"/>
          </a:p>
        </p:txBody>
      </p:sp>
      <p:sp>
        <p:nvSpPr>
          <p:cNvPr id="19" name="Shape 15"/>
          <p:cNvSpPr/>
          <p:nvPr/>
        </p:nvSpPr>
        <p:spPr>
          <a:xfrm>
            <a:off x="4677156" y="2011680"/>
            <a:ext cx="868680" cy="868680"/>
          </a:xfrm>
          <a:prstGeom prst="ellipse">
            <a:avLst/>
          </a:prstGeom>
          <a:solidFill>
            <a:schemeClr val="accent2"/>
          </a:solidFill>
          <a:ln/>
        </p:spPr>
      </p:sp>
      <p:pic>
        <p:nvPicPr>
          <p:cNvPr id="20" name="Image 2" descr="preencoded.png">    </p:cNvPr>
          <p:cNvPicPr>
            <a:picLocks noChangeAspect="1"/>
          </p:cNvPicPr>
          <p:nvPr/>
        </p:nvPicPr>
        <p:blipFill>
          <a:blip r:embed="rId3"/>
          <a:stretch>
            <a:fillRect/>
          </a:stretch>
        </p:blipFill>
        <p:spPr>
          <a:xfrm>
            <a:off x="4885639" y="2220163"/>
            <a:ext cx="451714" cy="451714"/>
          </a:xfrm>
          <a:prstGeom prst="rect">
            <a:avLst/>
          </a:prstGeom>
        </p:spPr>
      </p:pic>
      <p:sp>
        <p:nvSpPr>
          <p:cNvPr id="21" name="Text 16"/>
          <p:cNvSpPr txBox="1"/>
          <p:nvPr/>
        </p:nvSpPr>
        <p:spPr>
          <a:xfrm>
            <a:off x="4352544" y="3017520"/>
            <a:ext cx="1517904" cy="685800"/>
          </a:xfrm>
          <a:prstGeom prst="rect">
            <a:avLst/>
          </a:prstGeom>
          <a:noFill/>
          <a:ln/>
        </p:spPr>
        <p:txBody>
          <a:bodyPr wrap="square" lIns="0" tIns="0" rIns="0" bIns="0" rtlCol="0" anchor="t"/>
          <a:lstStyle/>
          <a:p>
            <a:pPr algn="ctr" indent="0" marL="0">
              <a:buNone/>
            </a:pPr>
            <a:r>
              <a:rPr lang="en-US" sz="1700" b="1" dirty="0">
                <a:solidFill>
                  <a:schemeClr val="bg1"/>
                </a:solidFill>
              </a:rPr>
              <a:t>Compare resolvers</a:t>
            </a:r>
            <a:endParaRPr lang="en-US" sz="1700" dirty="0"/>
          </a:p>
        </p:txBody>
      </p:sp>
      <p:sp>
        <p:nvSpPr>
          <p:cNvPr id="22" name="Text 17"/>
          <p:cNvSpPr txBox="1"/>
          <p:nvPr/>
        </p:nvSpPr>
        <p:spPr>
          <a:xfrm>
            <a:off x="4370832" y="3703320"/>
            <a:ext cx="1481328" cy="868680"/>
          </a:xfrm>
          <a:prstGeom prst="rect">
            <a:avLst/>
          </a:prstGeom>
          <a:noFill/>
          <a:ln/>
        </p:spPr>
        <p:txBody>
          <a:bodyPr wrap="square" lIns="0" tIns="0" rIns="0" bIns="0" rtlCol="0" anchor="t"/>
          <a:lstStyle/>
          <a:p>
            <a:pPr algn="ctr" indent="0" marL="0">
              <a:buNone/>
            </a:pPr>
            <a:r>
              <a:rPr lang="en-US" sz="1300" dirty="0">
                <a:solidFill>
                  <a:schemeClr val="bg2"/>
                </a:solidFill>
              </a:rPr>
              <a:t>system resolver vs 8.8.8.8, 1.1.1.1, 9.9.9.9</a:t>
            </a:r>
            <a:endParaRPr lang="en-US" sz="1300" dirty="0"/>
          </a:p>
        </p:txBody>
      </p:sp>
      <p:sp>
        <p:nvSpPr>
          <p:cNvPr id="23" name="Shape 18"/>
          <p:cNvSpPr/>
          <p:nvPr/>
        </p:nvSpPr>
        <p:spPr>
          <a:xfrm>
            <a:off x="5961888" y="3063240"/>
            <a:ext cx="155448" cy="914"/>
          </a:xfrm>
          <a:prstGeom prst="line">
            <a:avLst/>
          </a:prstGeom>
          <a:noFill/>
          <a:ln w="28575">
            <a:solidFill>
              <a:srgbClr val="22D3EE"/>
            </a:solidFill>
            <a:prstDash val="solid"/>
            <a:tailEnd type="triangle"/>
          </a:ln>
        </p:spPr>
      </p:sp>
      <p:sp>
        <p:nvSpPr>
          <p:cNvPr id="24" name="Shape 19"/>
          <p:cNvSpPr/>
          <p:nvPr/>
        </p:nvSpPr>
        <p:spPr>
          <a:xfrm>
            <a:off x="6117336" y="1508760"/>
            <a:ext cx="1700784" cy="3108960"/>
          </a:xfrm>
          <a:prstGeom prst="roundRect">
            <a:avLst>
              <a:gd name="adj" fmla="val 6452"/>
            </a:avLst>
          </a:prstGeom>
          <a:solidFill>
            <a:schemeClr val="tx2"/>
          </a:solidFill>
          <a:ln/>
        </p:spPr>
      </p:sp>
      <p:sp>
        <p:nvSpPr>
          <p:cNvPr id="25" name="Text 20"/>
          <p:cNvSpPr txBox="1"/>
          <p:nvPr/>
        </p:nvSpPr>
        <p:spPr>
          <a:xfrm>
            <a:off x="6254496" y="1600200"/>
            <a:ext cx="457200" cy="365760"/>
          </a:xfrm>
          <a:prstGeom prst="rect">
            <a:avLst/>
          </a:prstGeom>
          <a:noFill/>
          <a:ln/>
        </p:spPr>
        <p:txBody>
          <a:bodyPr wrap="square" lIns="0" tIns="0" rIns="0" bIns="0" rtlCol="0" anchor="t"/>
          <a:lstStyle/>
          <a:p>
            <a:pPr indent="0" marL="0">
              <a:buNone/>
            </a:pPr>
            <a:r>
              <a:rPr lang="en-US" sz="1600" b="1" dirty="0">
                <a:solidFill>
                  <a:schemeClr val="accent3"/>
                </a:solidFill>
              </a:rPr>
              <a:t>4</a:t>
            </a:r>
            <a:endParaRPr lang="en-US" sz="1600" dirty="0"/>
          </a:p>
        </p:txBody>
      </p:sp>
      <p:sp>
        <p:nvSpPr>
          <p:cNvPr id="26" name="Shape 21"/>
          <p:cNvSpPr/>
          <p:nvPr/>
        </p:nvSpPr>
        <p:spPr>
          <a:xfrm>
            <a:off x="6533388" y="2011680"/>
            <a:ext cx="868680" cy="868680"/>
          </a:xfrm>
          <a:prstGeom prst="ellipse">
            <a:avLst/>
          </a:prstGeom>
          <a:solidFill>
            <a:schemeClr val="accent3"/>
          </a:solidFill>
          <a:ln/>
        </p:spPr>
      </p:sp>
      <p:pic>
        <p:nvPicPr>
          <p:cNvPr id="27" name="Image 3" descr="preencoded.png">    </p:cNvPr>
          <p:cNvPicPr>
            <a:picLocks noChangeAspect="1"/>
          </p:cNvPicPr>
          <p:nvPr/>
        </p:nvPicPr>
        <p:blipFill>
          <a:blip r:embed="rId4"/>
          <a:stretch>
            <a:fillRect/>
          </a:stretch>
        </p:blipFill>
        <p:spPr>
          <a:xfrm>
            <a:off x="6741871" y="2220163"/>
            <a:ext cx="451714" cy="451714"/>
          </a:xfrm>
          <a:prstGeom prst="rect">
            <a:avLst/>
          </a:prstGeom>
        </p:spPr>
      </p:pic>
      <p:sp>
        <p:nvSpPr>
          <p:cNvPr id="28" name="Text 22"/>
          <p:cNvSpPr txBox="1"/>
          <p:nvPr/>
        </p:nvSpPr>
        <p:spPr>
          <a:xfrm>
            <a:off x="6208776" y="3017520"/>
            <a:ext cx="1517904" cy="685800"/>
          </a:xfrm>
          <a:prstGeom prst="rect">
            <a:avLst/>
          </a:prstGeom>
          <a:noFill/>
          <a:ln/>
        </p:spPr>
        <p:txBody>
          <a:bodyPr wrap="square" lIns="0" tIns="0" rIns="0" bIns="0" rtlCol="0" anchor="t"/>
          <a:lstStyle/>
          <a:p>
            <a:pPr algn="ctr" indent="0" marL="0">
              <a:buNone/>
            </a:pPr>
            <a:r>
              <a:rPr lang="en-US" sz="1700" b="1" dirty="0">
                <a:solidFill>
                  <a:schemeClr val="bg1"/>
                </a:solidFill>
              </a:rPr>
              <a:t>Check history</a:t>
            </a:r>
            <a:endParaRPr lang="en-US" sz="1700" dirty="0"/>
          </a:p>
        </p:txBody>
      </p:sp>
      <p:sp>
        <p:nvSpPr>
          <p:cNvPr id="29" name="Text 23"/>
          <p:cNvSpPr txBox="1"/>
          <p:nvPr/>
        </p:nvSpPr>
        <p:spPr>
          <a:xfrm>
            <a:off x="6227064" y="3703320"/>
            <a:ext cx="1481328" cy="868680"/>
          </a:xfrm>
          <a:prstGeom prst="rect">
            <a:avLst/>
          </a:prstGeom>
          <a:noFill/>
          <a:ln/>
        </p:spPr>
        <p:txBody>
          <a:bodyPr wrap="square" lIns="0" tIns="0" rIns="0" bIns="0" rtlCol="0" anchor="t"/>
          <a:lstStyle/>
          <a:p>
            <a:pPr algn="ctr" indent="0" marL="0">
              <a:buNone/>
            </a:pPr>
            <a:r>
              <a:rPr lang="en-US" sz="1300" dirty="0">
                <a:solidFill>
                  <a:schemeClr val="bg2"/>
                </a:solidFill>
              </a:rPr>
              <a:t>known IPs, network prefixes, usual TTL</a:t>
            </a:r>
            <a:endParaRPr lang="en-US" sz="1300" dirty="0"/>
          </a:p>
        </p:txBody>
      </p:sp>
      <p:sp>
        <p:nvSpPr>
          <p:cNvPr id="30" name="Shape 24"/>
          <p:cNvSpPr/>
          <p:nvPr/>
        </p:nvSpPr>
        <p:spPr>
          <a:xfrm>
            <a:off x="7818120" y="3063240"/>
            <a:ext cx="155448" cy="914"/>
          </a:xfrm>
          <a:prstGeom prst="line">
            <a:avLst/>
          </a:prstGeom>
          <a:noFill/>
          <a:ln w="28575">
            <a:solidFill>
              <a:srgbClr val="22D3EE"/>
            </a:solidFill>
            <a:prstDash val="solid"/>
            <a:tailEnd type="triangle"/>
          </a:ln>
        </p:spPr>
      </p:sp>
      <p:sp>
        <p:nvSpPr>
          <p:cNvPr id="31" name="Shape 25"/>
          <p:cNvSpPr/>
          <p:nvPr/>
        </p:nvSpPr>
        <p:spPr>
          <a:xfrm>
            <a:off x="7973568" y="1508760"/>
            <a:ext cx="1700784" cy="3108960"/>
          </a:xfrm>
          <a:prstGeom prst="roundRect">
            <a:avLst>
              <a:gd name="adj" fmla="val 6452"/>
            </a:avLst>
          </a:prstGeom>
          <a:solidFill>
            <a:schemeClr val="tx2"/>
          </a:solidFill>
          <a:ln/>
        </p:spPr>
      </p:sp>
      <p:sp>
        <p:nvSpPr>
          <p:cNvPr id="32" name="Text 26"/>
          <p:cNvSpPr txBox="1"/>
          <p:nvPr/>
        </p:nvSpPr>
        <p:spPr>
          <a:xfrm>
            <a:off x="8110728" y="1600200"/>
            <a:ext cx="457200" cy="365760"/>
          </a:xfrm>
          <a:prstGeom prst="rect">
            <a:avLst/>
          </a:prstGeom>
          <a:noFill/>
          <a:ln/>
        </p:spPr>
        <p:txBody>
          <a:bodyPr wrap="square" lIns="0" tIns="0" rIns="0" bIns="0" rtlCol="0" anchor="t"/>
          <a:lstStyle/>
          <a:p>
            <a:pPr indent="0" marL="0">
              <a:buNone/>
            </a:pPr>
            <a:r>
              <a:rPr lang="en-US" sz="1600" b="1" dirty="0">
                <a:solidFill>
                  <a:schemeClr val="accent4"/>
                </a:solidFill>
              </a:rPr>
              <a:t>5</a:t>
            </a:r>
            <a:endParaRPr lang="en-US" sz="1600" dirty="0"/>
          </a:p>
        </p:txBody>
      </p:sp>
      <p:sp>
        <p:nvSpPr>
          <p:cNvPr id="33" name="Shape 27"/>
          <p:cNvSpPr/>
          <p:nvPr/>
        </p:nvSpPr>
        <p:spPr>
          <a:xfrm>
            <a:off x="8389620" y="2011680"/>
            <a:ext cx="868680" cy="868680"/>
          </a:xfrm>
          <a:prstGeom prst="ellipse">
            <a:avLst/>
          </a:prstGeom>
          <a:solidFill>
            <a:schemeClr val="accent4"/>
          </a:solidFill>
          <a:ln/>
        </p:spPr>
      </p:sp>
      <p:pic>
        <p:nvPicPr>
          <p:cNvPr id="34" name="Image 4" descr="preencoded.png">    </p:cNvPr>
          <p:cNvPicPr>
            <a:picLocks noChangeAspect="1"/>
          </p:cNvPicPr>
          <p:nvPr/>
        </p:nvPicPr>
        <p:blipFill>
          <a:blip r:embed="rId5"/>
          <a:stretch>
            <a:fillRect/>
          </a:stretch>
        </p:blipFill>
        <p:spPr>
          <a:xfrm>
            <a:off x="8598103" y="2220163"/>
            <a:ext cx="451714" cy="451714"/>
          </a:xfrm>
          <a:prstGeom prst="rect">
            <a:avLst/>
          </a:prstGeom>
        </p:spPr>
      </p:pic>
      <p:sp>
        <p:nvSpPr>
          <p:cNvPr id="35" name="Text 28"/>
          <p:cNvSpPr txBox="1"/>
          <p:nvPr/>
        </p:nvSpPr>
        <p:spPr>
          <a:xfrm>
            <a:off x="8065008" y="3017520"/>
            <a:ext cx="1517904" cy="685800"/>
          </a:xfrm>
          <a:prstGeom prst="rect">
            <a:avLst/>
          </a:prstGeom>
          <a:noFill/>
          <a:ln/>
        </p:spPr>
        <p:txBody>
          <a:bodyPr wrap="square" lIns="0" tIns="0" rIns="0" bIns="0" rtlCol="0" anchor="t"/>
          <a:lstStyle/>
          <a:p>
            <a:pPr algn="ctr" indent="0" marL="0">
              <a:buNone/>
            </a:pPr>
            <a:r>
              <a:rPr lang="en-US" sz="1700" b="1" dirty="0">
                <a:solidFill>
                  <a:schemeClr val="bg1"/>
                </a:solidFill>
              </a:rPr>
              <a:t>Apply rules</a:t>
            </a:r>
            <a:endParaRPr lang="en-US" sz="1700" dirty="0"/>
          </a:p>
        </p:txBody>
      </p:sp>
      <p:sp>
        <p:nvSpPr>
          <p:cNvPr id="36" name="Text 29"/>
          <p:cNvSpPr txBox="1"/>
          <p:nvPr/>
        </p:nvSpPr>
        <p:spPr>
          <a:xfrm>
            <a:off x="8083296" y="3703320"/>
            <a:ext cx="1481328" cy="868680"/>
          </a:xfrm>
          <a:prstGeom prst="rect">
            <a:avLst/>
          </a:prstGeom>
          <a:noFill/>
          <a:ln/>
        </p:spPr>
        <p:txBody>
          <a:bodyPr wrap="square" lIns="0" tIns="0" rIns="0" bIns="0" rtlCol="0" anchor="t"/>
          <a:lstStyle/>
          <a:p>
            <a:pPr algn="ctr" indent="0" marL="0">
              <a:buNone/>
            </a:pPr>
            <a:r>
              <a:rPr lang="en-US" sz="1300" dirty="0">
                <a:solidFill>
                  <a:schemeClr val="bg2"/>
                </a:solidFill>
              </a:rPr>
              <a:t>transparent, configurable checks</a:t>
            </a:r>
            <a:endParaRPr lang="en-US" sz="1300" dirty="0"/>
          </a:p>
        </p:txBody>
      </p:sp>
      <p:sp>
        <p:nvSpPr>
          <p:cNvPr id="37" name="Shape 30"/>
          <p:cNvSpPr/>
          <p:nvPr/>
        </p:nvSpPr>
        <p:spPr>
          <a:xfrm>
            <a:off x="9674352" y="3063240"/>
            <a:ext cx="155448" cy="914"/>
          </a:xfrm>
          <a:prstGeom prst="line">
            <a:avLst/>
          </a:prstGeom>
          <a:noFill/>
          <a:ln w="28575">
            <a:solidFill>
              <a:srgbClr val="22D3EE"/>
            </a:solidFill>
            <a:prstDash val="solid"/>
            <a:tailEnd type="triangle"/>
          </a:ln>
        </p:spPr>
      </p:sp>
      <p:sp>
        <p:nvSpPr>
          <p:cNvPr id="38" name="Shape 31"/>
          <p:cNvSpPr/>
          <p:nvPr/>
        </p:nvSpPr>
        <p:spPr>
          <a:xfrm>
            <a:off x="9829800" y="1508760"/>
            <a:ext cx="1700784" cy="3108960"/>
          </a:xfrm>
          <a:prstGeom prst="roundRect">
            <a:avLst>
              <a:gd name="adj" fmla="val 6452"/>
            </a:avLst>
          </a:prstGeom>
          <a:solidFill>
            <a:schemeClr val="tx2"/>
          </a:solidFill>
          <a:ln/>
        </p:spPr>
      </p:sp>
      <p:sp>
        <p:nvSpPr>
          <p:cNvPr id="39" name="Text 32"/>
          <p:cNvSpPr txBox="1"/>
          <p:nvPr/>
        </p:nvSpPr>
        <p:spPr>
          <a:xfrm>
            <a:off x="9966960" y="1600200"/>
            <a:ext cx="457200" cy="365760"/>
          </a:xfrm>
          <a:prstGeom prst="rect">
            <a:avLst/>
          </a:prstGeom>
          <a:noFill/>
          <a:ln/>
        </p:spPr>
        <p:txBody>
          <a:bodyPr wrap="square" lIns="0" tIns="0" rIns="0" bIns="0" rtlCol="0" anchor="t"/>
          <a:lstStyle/>
          <a:p>
            <a:pPr indent="0" marL="0">
              <a:buNone/>
            </a:pPr>
            <a:r>
              <a:rPr lang="en-US" sz="1600" b="1" dirty="0">
                <a:solidFill>
                  <a:schemeClr val="accent5"/>
                </a:solidFill>
              </a:rPr>
              <a:t>6</a:t>
            </a:r>
            <a:endParaRPr lang="en-US" sz="1600" dirty="0"/>
          </a:p>
        </p:txBody>
      </p:sp>
      <p:sp>
        <p:nvSpPr>
          <p:cNvPr id="40" name="Shape 33"/>
          <p:cNvSpPr/>
          <p:nvPr/>
        </p:nvSpPr>
        <p:spPr>
          <a:xfrm>
            <a:off x="10245852" y="2011680"/>
            <a:ext cx="868680" cy="868680"/>
          </a:xfrm>
          <a:prstGeom prst="ellipse">
            <a:avLst/>
          </a:prstGeom>
          <a:solidFill>
            <a:schemeClr val="accent5"/>
          </a:solidFill>
          <a:ln/>
        </p:spPr>
      </p:sp>
      <p:pic>
        <p:nvPicPr>
          <p:cNvPr id="41" name="Image 5" descr="preencoded.png">    </p:cNvPr>
          <p:cNvPicPr>
            <a:picLocks noChangeAspect="1"/>
          </p:cNvPicPr>
          <p:nvPr/>
        </p:nvPicPr>
        <p:blipFill>
          <a:blip r:embed="rId6"/>
          <a:stretch>
            <a:fillRect/>
          </a:stretch>
        </p:blipFill>
        <p:spPr>
          <a:xfrm>
            <a:off x="10454335" y="2220163"/>
            <a:ext cx="451714" cy="451714"/>
          </a:xfrm>
          <a:prstGeom prst="rect">
            <a:avLst/>
          </a:prstGeom>
        </p:spPr>
      </p:pic>
      <p:sp>
        <p:nvSpPr>
          <p:cNvPr id="42" name="Text 34"/>
          <p:cNvSpPr txBox="1"/>
          <p:nvPr/>
        </p:nvSpPr>
        <p:spPr>
          <a:xfrm>
            <a:off x="9921240" y="3017520"/>
            <a:ext cx="1517904" cy="685800"/>
          </a:xfrm>
          <a:prstGeom prst="rect">
            <a:avLst/>
          </a:prstGeom>
          <a:noFill/>
          <a:ln/>
        </p:spPr>
        <p:txBody>
          <a:bodyPr wrap="square" lIns="0" tIns="0" rIns="0" bIns="0" rtlCol="0" anchor="t"/>
          <a:lstStyle/>
          <a:p>
            <a:pPr algn="ctr" indent="0" marL="0">
              <a:buNone/>
            </a:pPr>
            <a:r>
              <a:rPr lang="en-US" sz="1700" b="1" dirty="0">
                <a:solidFill>
                  <a:schemeClr val="bg1"/>
                </a:solidFill>
              </a:rPr>
              <a:t>Show results</a:t>
            </a:r>
            <a:endParaRPr lang="en-US" sz="1700" dirty="0"/>
          </a:p>
        </p:txBody>
      </p:sp>
      <p:sp>
        <p:nvSpPr>
          <p:cNvPr id="43" name="Text 35"/>
          <p:cNvSpPr txBox="1"/>
          <p:nvPr/>
        </p:nvSpPr>
        <p:spPr>
          <a:xfrm>
            <a:off x="9939528" y="3703320"/>
            <a:ext cx="1481328" cy="868680"/>
          </a:xfrm>
          <a:prstGeom prst="rect">
            <a:avLst/>
          </a:prstGeom>
          <a:noFill/>
          <a:ln/>
        </p:spPr>
        <p:txBody>
          <a:bodyPr wrap="square" lIns="0" tIns="0" rIns="0" bIns="0" rtlCol="0" anchor="t"/>
          <a:lstStyle/>
          <a:p>
            <a:pPr algn="ctr" indent="0" marL="0">
              <a:buNone/>
            </a:pPr>
            <a:r>
              <a:rPr lang="en-US" sz="1300" dirty="0">
                <a:solidFill>
                  <a:schemeClr val="bg2"/>
                </a:solidFill>
              </a:rPr>
              <a:t>dashboard with evidence-based alerts</a:t>
            </a:r>
            <a:endParaRPr lang="en-US" sz="1300" dirty="0"/>
          </a:p>
        </p:txBody>
      </p:sp>
      <p:sp>
        <p:nvSpPr>
          <p:cNvPr id="44" name="Shape 36"/>
          <p:cNvSpPr/>
          <p:nvPr/>
        </p:nvSpPr>
        <p:spPr>
          <a:xfrm>
            <a:off x="548640" y="4892040"/>
            <a:ext cx="11094415" cy="1298448"/>
          </a:xfrm>
          <a:prstGeom prst="roundRect">
            <a:avLst>
              <a:gd name="adj" fmla="val 8451"/>
            </a:avLst>
          </a:prstGeom>
          <a:solidFill>
            <a:srgbClr val="1B2E4A"/>
          </a:solidFill>
          <a:ln/>
        </p:spPr>
      </p:sp>
      <p:sp>
        <p:nvSpPr>
          <p:cNvPr id="45" name="Text 37"/>
          <p:cNvSpPr txBox="1"/>
          <p:nvPr/>
        </p:nvSpPr>
        <p:spPr>
          <a:xfrm>
            <a:off x="822960" y="5029200"/>
            <a:ext cx="1828800" cy="320040"/>
          </a:xfrm>
          <a:prstGeom prst="rect">
            <a:avLst/>
          </a:prstGeom>
          <a:noFill/>
          <a:ln/>
        </p:spPr>
        <p:txBody>
          <a:bodyPr wrap="square" lIns="0" tIns="0" rIns="0" bIns="0" rtlCol="0" anchor="t"/>
          <a:lstStyle/>
          <a:p>
            <a:pPr indent="0" marL="0">
              <a:buNone/>
            </a:pPr>
            <a:r>
              <a:rPr lang="en-US" sz="1500" b="1" dirty="0">
                <a:solidFill>
                  <a:schemeClr val="accent2"/>
                </a:solidFill>
              </a:rPr>
              <a:t>Example</a:t>
            </a:r>
            <a:endParaRPr lang="en-US" sz="1500" dirty="0"/>
          </a:p>
        </p:txBody>
      </p:sp>
      <p:sp>
        <p:nvSpPr>
          <p:cNvPr id="46" name="Text 38"/>
          <p:cNvSpPr txBox="1"/>
          <p:nvPr/>
        </p:nvSpPr>
        <p:spPr>
          <a:xfrm>
            <a:off x="822960" y="5349240"/>
            <a:ext cx="10545775" cy="777240"/>
          </a:xfrm>
          <a:prstGeom prst="rect">
            <a:avLst/>
          </a:prstGeom>
          <a:noFill/>
          <a:ln/>
        </p:spPr>
        <p:txBody>
          <a:bodyPr wrap="square" lIns="0" tIns="0" rIns="0" bIns="0" rtlCol="0" anchor="t"/>
          <a:lstStyle/>
          <a:p>
            <a:pPr indent="0" marL="0">
              <a:buNone/>
            </a:pPr>
            <a:r>
              <a:rPr lang="en-US" sz="1500" dirty="0">
                <a:solidFill>
                  <a:schemeClr val="bg1"/>
                </a:solidFill>
              </a:rPr>
              <a:t>Three resolvers return 198.51.100.20, but one returns 203.0.113.66 from an unrelated network with a much shorter TTL. DNScope flags it, shows the exact values, and lists harmless causes too (CDN routing, caching, a recent change).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System architecture</a:t>
            </a:r>
            <a:endParaRPr lang="en-US" sz="3200" dirty="0"/>
          </a:p>
        </p:txBody>
      </p:sp>
      <p:sp>
        <p:nvSpPr>
          <p:cNvPr id="3" name="Shape 1"/>
          <p:cNvSpPr/>
          <p:nvPr/>
        </p:nvSpPr>
        <p:spPr>
          <a:xfrm>
            <a:off x="548640" y="1417320"/>
            <a:ext cx="2651760" cy="1371600"/>
          </a:xfrm>
          <a:prstGeom prst="roundRect">
            <a:avLst>
              <a:gd name="adj" fmla="val 8000"/>
            </a:avLst>
          </a:prstGeom>
          <a:solidFill>
            <a:schemeClr val="tx2"/>
          </a:solidFill>
          <a:ln w="15875">
            <a:solidFill>
              <a:srgbClr val="A78BFA"/>
            </a:solidFill>
            <a:prstDash val="solid"/>
          </a:ln>
        </p:spPr>
      </p:sp>
      <p:sp>
        <p:nvSpPr>
          <p:cNvPr id="4" name="Text 2"/>
          <p:cNvSpPr txBox="1"/>
          <p:nvPr/>
        </p:nvSpPr>
        <p:spPr>
          <a:xfrm>
            <a:off x="640080" y="1508760"/>
            <a:ext cx="2468880" cy="548640"/>
          </a:xfrm>
          <a:prstGeom prst="rect">
            <a:avLst/>
          </a:prstGeom>
          <a:noFill/>
          <a:ln/>
        </p:spPr>
        <p:txBody>
          <a:bodyPr wrap="square" lIns="0" tIns="0" rIns="0" bIns="0" rtlCol="0" anchor="t"/>
          <a:lstStyle/>
          <a:p>
            <a:pPr algn="ctr" indent="0" marL="0">
              <a:buNone/>
            </a:pPr>
            <a:r>
              <a:rPr lang="en-US" sz="1600" b="1" dirty="0">
                <a:solidFill>
                  <a:srgbClr val="A78BFA"/>
                </a:solidFill>
              </a:rPr>
              <a:t>React + TypeScript</a:t>
            </a:r>
            <a:endParaRPr lang="en-US" sz="1600" dirty="0"/>
          </a:p>
          <a:p>
            <a:pPr algn="ctr" indent="0" marL="0">
              <a:buNone/>
            </a:pPr>
            <a:r>
              <a:rPr lang="en-US" sz="1600" b="1" dirty="0">
                <a:solidFill>
                  <a:srgbClr val="A78BFA"/>
                </a:solidFill>
              </a:rPr>
              <a:t>Dashboard</a:t>
            </a:r>
            <a:endParaRPr lang="en-US" sz="1600" dirty="0"/>
          </a:p>
        </p:txBody>
      </p:sp>
      <p:sp>
        <p:nvSpPr>
          <p:cNvPr id="5" name="Text 3"/>
          <p:cNvSpPr txBox="1"/>
          <p:nvPr/>
        </p:nvSpPr>
        <p:spPr>
          <a:xfrm>
            <a:off x="640080" y="2103120"/>
            <a:ext cx="2468880" cy="640080"/>
          </a:xfrm>
          <a:prstGeom prst="rect">
            <a:avLst/>
          </a:prstGeom>
          <a:noFill/>
          <a:ln/>
        </p:spPr>
        <p:txBody>
          <a:bodyPr wrap="square" lIns="0" tIns="0" rIns="0" bIns="0" rtlCol="0" anchor="t"/>
          <a:lstStyle/>
          <a:p>
            <a:pPr algn="ctr" indent="0" marL="0">
              <a:buNone/>
            </a:pPr>
            <a:r>
              <a:rPr lang="en-US" sz="1300" dirty="0">
                <a:solidFill>
                  <a:schemeClr val="bg2"/>
                </a:solidFill>
              </a:rPr>
              <a:t>Tailwind CSS · Recharts</a:t>
            </a:r>
            <a:endParaRPr lang="en-US" sz="1300" dirty="0"/>
          </a:p>
        </p:txBody>
      </p:sp>
      <p:sp>
        <p:nvSpPr>
          <p:cNvPr id="6" name="Shape 4"/>
          <p:cNvSpPr/>
          <p:nvPr/>
        </p:nvSpPr>
        <p:spPr>
          <a:xfrm>
            <a:off x="548640" y="4069080"/>
            <a:ext cx="2651760" cy="1097280"/>
          </a:xfrm>
          <a:prstGeom prst="roundRect">
            <a:avLst>
              <a:gd name="adj" fmla="val 10000"/>
            </a:avLst>
          </a:prstGeom>
          <a:solidFill>
            <a:schemeClr val="tx2"/>
          </a:solidFill>
          <a:ln w="15875">
            <a:solidFill>
              <a:srgbClr val="B6C3D4"/>
            </a:solidFill>
            <a:prstDash val="solid"/>
          </a:ln>
        </p:spPr>
      </p:sp>
      <p:sp>
        <p:nvSpPr>
          <p:cNvPr id="7" name="Text 5"/>
          <p:cNvSpPr txBox="1"/>
          <p:nvPr/>
        </p:nvSpPr>
        <p:spPr>
          <a:xfrm>
            <a:off x="640080" y="4160520"/>
            <a:ext cx="2468880" cy="365760"/>
          </a:xfrm>
          <a:prstGeom prst="rect">
            <a:avLst/>
          </a:prstGeom>
          <a:noFill/>
          <a:ln/>
        </p:spPr>
        <p:txBody>
          <a:bodyPr wrap="square" lIns="0" tIns="0" rIns="0" bIns="0" rtlCol="0" anchor="t"/>
          <a:lstStyle/>
          <a:p>
            <a:pPr algn="ctr" indent="0" marL="0">
              <a:buNone/>
            </a:pPr>
            <a:r>
              <a:rPr lang="en-US" sz="1600" b="1" dirty="0">
                <a:solidFill>
                  <a:srgbClr val="B6C3D4"/>
                </a:solidFill>
              </a:rPr>
              <a:t>User</a:t>
            </a:r>
            <a:endParaRPr lang="en-US" sz="1600" dirty="0"/>
          </a:p>
        </p:txBody>
      </p:sp>
      <p:sp>
        <p:nvSpPr>
          <p:cNvPr id="8" name="Text 6"/>
          <p:cNvSpPr txBox="1"/>
          <p:nvPr/>
        </p:nvSpPr>
        <p:spPr>
          <a:xfrm>
            <a:off x="640080" y="4572000"/>
            <a:ext cx="2468880" cy="548640"/>
          </a:xfrm>
          <a:prstGeom prst="rect">
            <a:avLst/>
          </a:prstGeom>
          <a:noFill/>
          <a:ln/>
        </p:spPr>
        <p:txBody>
          <a:bodyPr wrap="square" lIns="0" tIns="0" rIns="0" bIns="0" rtlCol="0" anchor="t"/>
          <a:lstStyle/>
          <a:p>
            <a:pPr algn="ctr" indent="0" marL="0">
              <a:buNone/>
            </a:pPr>
            <a:r>
              <a:rPr lang="en-US" sz="1300" dirty="0">
                <a:solidFill>
                  <a:schemeClr val="bg2"/>
                </a:solidFill>
              </a:rPr>
              <a:t>student / administrator</a:t>
            </a:r>
            <a:endParaRPr lang="en-US" sz="1300" dirty="0"/>
          </a:p>
        </p:txBody>
      </p:sp>
      <p:sp>
        <p:nvSpPr>
          <p:cNvPr id="9" name="Shape 7"/>
          <p:cNvSpPr/>
          <p:nvPr/>
        </p:nvSpPr>
        <p:spPr>
          <a:xfrm>
            <a:off x="3886200" y="1417320"/>
            <a:ext cx="2834640" cy="1371600"/>
          </a:xfrm>
          <a:prstGeom prst="roundRect">
            <a:avLst>
              <a:gd name="adj" fmla="val 8000"/>
            </a:avLst>
          </a:prstGeom>
          <a:solidFill>
            <a:schemeClr val="tx2"/>
          </a:solidFill>
          <a:ln w="15875">
            <a:solidFill>
              <a:srgbClr val="14B8A6"/>
            </a:solidFill>
            <a:prstDash val="solid"/>
          </a:ln>
        </p:spPr>
      </p:sp>
      <p:sp>
        <p:nvSpPr>
          <p:cNvPr id="10" name="Text 8"/>
          <p:cNvSpPr txBox="1"/>
          <p:nvPr/>
        </p:nvSpPr>
        <p:spPr>
          <a:xfrm>
            <a:off x="3977640" y="1508760"/>
            <a:ext cx="2651760" cy="365760"/>
          </a:xfrm>
          <a:prstGeom prst="rect">
            <a:avLst/>
          </a:prstGeom>
          <a:noFill/>
          <a:ln/>
        </p:spPr>
        <p:txBody>
          <a:bodyPr wrap="square" lIns="0" tIns="0" rIns="0" bIns="0" rtlCol="0" anchor="t"/>
          <a:lstStyle/>
          <a:p>
            <a:pPr algn="ctr" indent="0" marL="0">
              <a:buNone/>
            </a:pPr>
            <a:r>
              <a:rPr lang="en-US" sz="1700" b="1" dirty="0">
                <a:solidFill>
                  <a:srgbClr val="14B8A6"/>
                </a:solidFill>
              </a:rPr>
              <a:t>FastAPI Backend</a:t>
            </a:r>
            <a:endParaRPr lang="en-US" sz="1700" dirty="0"/>
          </a:p>
        </p:txBody>
      </p:sp>
      <p:sp>
        <p:nvSpPr>
          <p:cNvPr id="11" name="Text 9"/>
          <p:cNvSpPr txBox="1"/>
          <p:nvPr/>
        </p:nvSpPr>
        <p:spPr>
          <a:xfrm>
            <a:off x="3977640" y="1920240"/>
            <a:ext cx="2651760" cy="822960"/>
          </a:xfrm>
          <a:prstGeom prst="rect">
            <a:avLst/>
          </a:prstGeom>
          <a:noFill/>
          <a:ln/>
        </p:spPr>
        <p:txBody>
          <a:bodyPr wrap="square" lIns="0" tIns="0" rIns="0" bIns="0" rtlCol="0" anchor="t"/>
          <a:lstStyle/>
          <a:p>
            <a:pPr algn="ctr" indent="0" marL="0">
              <a:buNone/>
            </a:pPr>
            <a:r>
              <a:rPr lang="en-US" sz="1300" dirty="0">
                <a:solidFill>
                  <a:schemeClr val="bg2"/>
                </a:solidFill>
              </a:rPr>
              <a:t>REST API · input validation</a:t>
            </a:r>
            <a:endParaRPr lang="en-US" sz="1300" dirty="0"/>
          </a:p>
          <a:p>
            <a:pPr algn="ctr" indent="0" marL="0">
              <a:buNone/>
            </a:pPr>
            <a:r>
              <a:rPr lang="en-US" sz="1300" dirty="0">
                <a:solidFill>
                  <a:schemeClr val="bg2"/>
                </a:solidFill>
              </a:rPr>
              <a:t>JSON responses</a:t>
            </a:r>
            <a:endParaRPr lang="en-US" sz="1300" dirty="0"/>
          </a:p>
        </p:txBody>
      </p:sp>
      <p:sp>
        <p:nvSpPr>
          <p:cNvPr id="12" name="Shape 10"/>
          <p:cNvSpPr/>
          <p:nvPr/>
        </p:nvSpPr>
        <p:spPr>
          <a:xfrm>
            <a:off x="3886200" y="3429000"/>
            <a:ext cx="2834640" cy="1737360"/>
          </a:xfrm>
          <a:prstGeom prst="roundRect">
            <a:avLst>
              <a:gd name="adj" fmla="val 6316"/>
            </a:avLst>
          </a:prstGeom>
          <a:solidFill>
            <a:schemeClr val="tx2"/>
          </a:solidFill>
          <a:ln w="15875">
            <a:solidFill>
              <a:srgbClr val="22D3EE"/>
            </a:solidFill>
            <a:prstDash val="solid"/>
          </a:ln>
        </p:spPr>
      </p:sp>
      <p:sp>
        <p:nvSpPr>
          <p:cNvPr id="13" name="Text 11"/>
          <p:cNvSpPr txBox="1"/>
          <p:nvPr/>
        </p:nvSpPr>
        <p:spPr>
          <a:xfrm>
            <a:off x="3977640" y="3520440"/>
            <a:ext cx="2651760" cy="365760"/>
          </a:xfrm>
          <a:prstGeom prst="rect">
            <a:avLst/>
          </a:prstGeom>
          <a:noFill/>
          <a:ln/>
        </p:spPr>
        <p:txBody>
          <a:bodyPr wrap="square" lIns="0" tIns="0" rIns="0" bIns="0" rtlCol="0" anchor="t"/>
          <a:lstStyle/>
          <a:p>
            <a:pPr algn="ctr" indent="0" marL="0">
              <a:buNone/>
            </a:pPr>
            <a:r>
              <a:rPr lang="en-US" sz="1700" b="1" dirty="0">
                <a:solidFill>
                  <a:srgbClr val="22D3EE"/>
                </a:solidFill>
              </a:rPr>
              <a:t>DNS Analysis Engine</a:t>
            </a:r>
            <a:endParaRPr lang="en-US" sz="1700" dirty="0"/>
          </a:p>
        </p:txBody>
      </p:sp>
      <p:sp>
        <p:nvSpPr>
          <p:cNvPr id="14" name="Text 12"/>
          <p:cNvSpPr txBox="1"/>
          <p:nvPr/>
        </p:nvSpPr>
        <p:spPr>
          <a:xfrm>
            <a:off x="3977640" y="3931920"/>
            <a:ext cx="2651760" cy="1188720"/>
          </a:xfrm>
          <a:prstGeom prst="rect">
            <a:avLst/>
          </a:prstGeom>
          <a:noFill/>
          <a:ln/>
        </p:spPr>
        <p:txBody>
          <a:bodyPr wrap="square" lIns="0" tIns="0" rIns="0" bIns="0" rtlCol="0" anchor="t"/>
          <a:lstStyle/>
          <a:p>
            <a:pPr algn="ctr" indent="0" marL="0">
              <a:buNone/>
            </a:pPr>
            <a:r>
              <a:rPr lang="en-US" sz="1300" dirty="0">
                <a:solidFill>
                  <a:schemeClr val="bg2"/>
                </a:solidFill>
              </a:rPr>
              <a:t>Python + dnspython</a:t>
            </a:r>
            <a:endParaRPr lang="en-US" sz="1300" dirty="0"/>
          </a:p>
          <a:p>
            <a:pPr algn="ctr" indent="0" marL="0">
              <a:buNone/>
            </a:pPr>
            <a:r>
              <a:rPr lang="en-US" sz="1300" dirty="0">
                <a:solidFill>
                  <a:schemeClr val="bg2"/>
                </a:solidFill>
              </a:rPr>
              <a:t>compare resolvers &amp; history</a:t>
            </a:r>
            <a:endParaRPr lang="en-US" sz="1300" dirty="0"/>
          </a:p>
          <a:p>
            <a:pPr algn="ctr" indent="0" marL="0">
              <a:buNone/>
            </a:pPr>
            <a:r>
              <a:rPr lang="en-US" sz="1300" dirty="0">
                <a:solidFill>
                  <a:schemeClr val="bg2"/>
                </a:solidFill>
              </a:rPr>
              <a:t>rules → alerts + evidence</a:t>
            </a:r>
            <a:endParaRPr lang="en-US" sz="1300" dirty="0"/>
          </a:p>
        </p:txBody>
      </p:sp>
      <p:sp>
        <p:nvSpPr>
          <p:cNvPr id="15" name="Shape 13"/>
          <p:cNvSpPr/>
          <p:nvPr/>
        </p:nvSpPr>
        <p:spPr>
          <a:xfrm>
            <a:off x="3886200" y="5394960"/>
            <a:ext cx="2834640" cy="868680"/>
          </a:xfrm>
          <a:prstGeom prst="roundRect">
            <a:avLst>
              <a:gd name="adj" fmla="val 12632"/>
            </a:avLst>
          </a:prstGeom>
          <a:solidFill>
            <a:schemeClr val="tx2"/>
          </a:solidFill>
          <a:ln w="15875">
            <a:solidFill>
              <a:srgbClr val="F59E0B"/>
            </a:solidFill>
            <a:prstDash val="solid"/>
          </a:ln>
        </p:spPr>
      </p:sp>
      <p:sp>
        <p:nvSpPr>
          <p:cNvPr id="16" name="Text 14"/>
          <p:cNvSpPr txBox="1"/>
          <p:nvPr/>
        </p:nvSpPr>
        <p:spPr>
          <a:xfrm>
            <a:off x="3977640" y="5486400"/>
            <a:ext cx="2651760" cy="320040"/>
          </a:xfrm>
          <a:prstGeom prst="rect">
            <a:avLst/>
          </a:prstGeom>
          <a:noFill/>
          <a:ln/>
        </p:spPr>
        <p:txBody>
          <a:bodyPr wrap="square" lIns="0" tIns="0" rIns="0" bIns="0" rtlCol="0" anchor="t"/>
          <a:lstStyle/>
          <a:p>
            <a:pPr algn="ctr" indent="0" marL="0">
              <a:buNone/>
            </a:pPr>
            <a:r>
              <a:rPr lang="en-US" sz="1600" b="1" dirty="0">
                <a:solidFill>
                  <a:srgbClr val="F59E0B"/>
                </a:solidFill>
              </a:rPr>
              <a:t>SQLite Database</a:t>
            </a:r>
            <a:endParaRPr lang="en-US" sz="1600" dirty="0"/>
          </a:p>
        </p:txBody>
      </p:sp>
      <p:sp>
        <p:nvSpPr>
          <p:cNvPr id="17" name="Text 15"/>
          <p:cNvSpPr txBox="1"/>
          <p:nvPr/>
        </p:nvSpPr>
        <p:spPr>
          <a:xfrm>
            <a:off x="3977640" y="5852160"/>
            <a:ext cx="2651760" cy="365760"/>
          </a:xfrm>
          <a:prstGeom prst="rect">
            <a:avLst/>
          </a:prstGeom>
          <a:noFill/>
          <a:ln/>
        </p:spPr>
        <p:txBody>
          <a:bodyPr wrap="square" lIns="0" tIns="0" rIns="0" bIns="0" rtlCol="0" anchor="t"/>
          <a:lstStyle/>
          <a:p>
            <a:pPr algn="ctr" indent="0" marL="0">
              <a:buNone/>
            </a:pPr>
            <a:r>
              <a:rPr lang="en-US" sz="1300" dirty="0">
                <a:solidFill>
                  <a:schemeClr val="bg2"/>
                </a:solidFill>
              </a:rPr>
              <a:t>observations · profiles · alerts</a:t>
            </a:r>
            <a:endParaRPr lang="en-US" sz="1300" dirty="0"/>
          </a:p>
        </p:txBody>
      </p:sp>
      <p:sp>
        <p:nvSpPr>
          <p:cNvPr id="18" name="Shape 16"/>
          <p:cNvSpPr/>
          <p:nvPr/>
        </p:nvSpPr>
        <p:spPr>
          <a:xfrm>
            <a:off x="7726680" y="1417320"/>
            <a:ext cx="3913632" cy="3749040"/>
          </a:xfrm>
          <a:prstGeom prst="roundRect">
            <a:avLst>
              <a:gd name="adj" fmla="val 2927"/>
            </a:avLst>
          </a:prstGeom>
          <a:solidFill>
            <a:schemeClr val="tx2"/>
          </a:solidFill>
          <a:ln w="15875">
            <a:solidFill>
              <a:srgbClr val="60A5FA"/>
            </a:solidFill>
            <a:prstDash val="solid"/>
          </a:ln>
        </p:spPr>
      </p:sp>
      <p:sp>
        <p:nvSpPr>
          <p:cNvPr id="19" name="Text 17"/>
          <p:cNvSpPr txBox="1"/>
          <p:nvPr/>
        </p:nvSpPr>
        <p:spPr>
          <a:xfrm>
            <a:off x="7818120" y="1527048"/>
            <a:ext cx="3730752" cy="365760"/>
          </a:xfrm>
          <a:prstGeom prst="rect">
            <a:avLst/>
          </a:prstGeom>
          <a:noFill/>
          <a:ln/>
        </p:spPr>
        <p:txBody>
          <a:bodyPr wrap="square" lIns="0" tIns="0" rIns="0" bIns="0" rtlCol="0" anchor="t"/>
          <a:lstStyle/>
          <a:p>
            <a:pPr algn="ctr" indent="0" marL="0">
              <a:buNone/>
            </a:pPr>
            <a:r>
              <a:rPr lang="en-US" sz="1700" b="1" dirty="0">
                <a:solidFill>
                  <a:srgbClr val="60A5FA"/>
                </a:solidFill>
              </a:rPr>
              <a:t>DNS Resolvers</a:t>
            </a:r>
            <a:endParaRPr lang="en-US" sz="1700" dirty="0"/>
          </a:p>
        </p:txBody>
      </p:sp>
      <p:sp>
        <p:nvSpPr>
          <p:cNvPr id="20" name="Shape 18"/>
          <p:cNvSpPr/>
          <p:nvPr/>
        </p:nvSpPr>
        <p:spPr>
          <a:xfrm>
            <a:off x="7955280" y="2011680"/>
            <a:ext cx="3456432" cy="502920"/>
          </a:xfrm>
          <a:prstGeom prst="roundRect">
            <a:avLst>
              <a:gd name="adj" fmla="val 21818"/>
            </a:avLst>
          </a:prstGeom>
          <a:solidFill>
            <a:srgbClr val="1B2E4A"/>
          </a:solidFill>
          <a:ln/>
        </p:spPr>
      </p:sp>
      <p:sp>
        <p:nvSpPr>
          <p:cNvPr id="21" name="Text 19"/>
          <p:cNvSpPr txBox="1"/>
          <p:nvPr/>
        </p:nvSpPr>
        <p:spPr>
          <a:xfrm>
            <a:off x="7955280" y="2011680"/>
            <a:ext cx="3456432" cy="502920"/>
          </a:xfrm>
          <a:prstGeom prst="rect">
            <a:avLst/>
          </a:prstGeom>
          <a:noFill/>
          <a:ln/>
        </p:spPr>
        <p:txBody>
          <a:bodyPr wrap="square" lIns="0" tIns="0" rIns="0" bIns="0" rtlCol="0" anchor="ctr"/>
          <a:lstStyle/>
          <a:p>
            <a:pPr algn="ctr" indent="0" marL="0">
              <a:buNone/>
            </a:pPr>
            <a:r>
              <a:rPr lang="en-US" sz="1400" dirty="0">
                <a:solidFill>
                  <a:schemeClr val="bg1"/>
                </a:solidFill>
              </a:rPr>
              <a:t>System resolver (ISP / campus)</a:t>
            </a:r>
            <a:endParaRPr lang="en-US" sz="1400" dirty="0"/>
          </a:p>
        </p:txBody>
      </p:sp>
      <p:sp>
        <p:nvSpPr>
          <p:cNvPr id="22" name="Shape 20"/>
          <p:cNvSpPr/>
          <p:nvPr/>
        </p:nvSpPr>
        <p:spPr>
          <a:xfrm>
            <a:off x="7955280" y="2633472"/>
            <a:ext cx="3456432" cy="502920"/>
          </a:xfrm>
          <a:prstGeom prst="roundRect">
            <a:avLst>
              <a:gd name="adj" fmla="val 21818"/>
            </a:avLst>
          </a:prstGeom>
          <a:solidFill>
            <a:srgbClr val="1B2E4A"/>
          </a:solidFill>
          <a:ln/>
        </p:spPr>
      </p:sp>
      <p:sp>
        <p:nvSpPr>
          <p:cNvPr id="23" name="Text 21"/>
          <p:cNvSpPr txBox="1"/>
          <p:nvPr/>
        </p:nvSpPr>
        <p:spPr>
          <a:xfrm>
            <a:off x="7955280" y="2633472"/>
            <a:ext cx="3456432" cy="502920"/>
          </a:xfrm>
          <a:prstGeom prst="rect">
            <a:avLst/>
          </a:prstGeom>
          <a:noFill/>
          <a:ln/>
        </p:spPr>
        <p:txBody>
          <a:bodyPr wrap="square" lIns="0" tIns="0" rIns="0" bIns="0" rtlCol="0" anchor="ctr"/>
          <a:lstStyle/>
          <a:p>
            <a:pPr algn="ctr" indent="0" marL="0">
              <a:buNone/>
            </a:pPr>
            <a:r>
              <a:rPr lang="en-US" sz="1400" dirty="0">
                <a:solidFill>
                  <a:schemeClr val="bg1"/>
                </a:solidFill>
              </a:rPr>
              <a:t>Google Public DNS  8.8.8.8</a:t>
            </a:r>
            <a:endParaRPr lang="en-US" sz="1400" dirty="0"/>
          </a:p>
        </p:txBody>
      </p:sp>
      <p:sp>
        <p:nvSpPr>
          <p:cNvPr id="24" name="Shape 22"/>
          <p:cNvSpPr/>
          <p:nvPr/>
        </p:nvSpPr>
        <p:spPr>
          <a:xfrm>
            <a:off x="7955280" y="3255264"/>
            <a:ext cx="3456432" cy="502920"/>
          </a:xfrm>
          <a:prstGeom prst="roundRect">
            <a:avLst>
              <a:gd name="adj" fmla="val 21818"/>
            </a:avLst>
          </a:prstGeom>
          <a:solidFill>
            <a:srgbClr val="1B2E4A"/>
          </a:solidFill>
          <a:ln/>
        </p:spPr>
      </p:sp>
      <p:sp>
        <p:nvSpPr>
          <p:cNvPr id="25" name="Text 23"/>
          <p:cNvSpPr txBox="1"/>
          <p:nvPr/>
        </p:nvSpPr>
        <p:spPr>
          <a:xfrm>
            <a:off x="7955280" y="3255264"/>
            <a:ext cx="3456432" cy="502920"/>
          </a:xfrm>
          <a:prstGeom prst="rect">
            <a:avLst/>
          </a:prstGeom>
          <a:noFill/>
          <a:ln/>
        </p:spPr>
        <p:txBody>
          <a:bodyPr wrap="square" lIns="0" tIns="0" rIns="0" bIns="0" rtlCol="0" anchor="ctr"/>
          <a:lstStyle/>
          <a:p>
            <a:pPr algn="ctr" indent="0" marL="0">
              <a:buNone/>
            </a:pPr>
            <a:r>
              <a:rPr lang="en-US" sz="1400" dirty="0">
                <a:solidFill>
                  <a:schemeClr val="bg1"/>
                </a:solidFill>
              </a:rPr>
              <a:t>Cloudflare  1.1.1.1</a:t>
            </a:r>
            <a:endParaRPr lang="en-US" sz="1400" dirty="0"/>
          </a:p>
        </p:txBody>
      </p:sp>
      <p:sp>
        <p:nvSpPr>
          <p:cNvPr id="26" name="Shape 24"/>
          <p:cNvSpPr/>
          <p:nvPr/>
        </p:nvSpPr>
        <p:spPr>
          <a:xfrm>
            <a:off x="7955280" y="3877056"/>
            <a:ext cx="3456432" cy="502920"/>
          </a:xfrm>
          <a:prstGeom prst="roundRect">
            <a:avLst>
              <a:gd name="adj" fmla="val 21818"/>
            </a:avLst>
          </a:prstGeom>
          <a:solidFill>
            <a:srgbClr val="1B2E4A"/>
          </a:solidFill>
          <a:ln/>
        </p:spPr>
      </p:sp>
      <p:sp>
        <p:nvSpPr>
          <p:cNvPr id="27" name="Text 25"/>
          <p:cNvSpPr txBox="1"/>
          <p:nvPr/>
        </p:nvSpPr>
        <p:spPr>
          <a:xfrm>
            <a:off x="7955280" y="3877056"/>
            <a:ext cx="3456432" cy="502920"/>
          </a:xfrm>
          <a:prstGeom prst="rect">
            <a:avLst/>
          </a:prstGeom>
          <a:noFill/>
          <a:ln/>
        </p:spPr>
        <p:txBody>
          <a:bodyPr wrap="square" lIns="0" tIns="0" rIns="0" bIns="0" rtlCol="0" anchor="ctr"/>
          <a:lstStyle/>
          <a:p>
            <a:pPr algn="ctr" indent="0" marL="0">
              <a:buNone/>
            </a:pPr>
            <a:r>
              <a:rPr lang="en-US" sz="1400" dirty="0">
                <a:solidFill>
                  <a:schemeClr val="bg1"/>
                </a:solidFill>
              </a:rPr>
              <a:t>Quad9  9.9.9.9</a:t>
            </a:r>
            <a:endParaRPr lang="en-US" sz="1400" dirty="0"/>
          </a:p>
        </p:txBody>
      </p:sp>
      <p:sp>
        <p:nvSpPr>
          <p:cNvPr id="28" name="Text 26"/>
          <p:cNvSpPr txBox="1"/>
          <p:nvPr/>
        </p:nvSpPr>
        <p:spPr>
          <a:xfrm>
            <a:off x="7863840" y="4553712"/>
            <a:ext cx="3657600" cy="502920"/>
          </a:xfrm>
          <a:prstGeom prst="rect">
            <a:avLst/>
          </a:prstGeom>
          <a:noFill/>
          <a:ln/>
        </p:spPr>
        <p:txBody>
          <a:bodyPr wrap="square" lIns="0" tIns="0" rIns="0" bIns="0" rtlCol="0" anchor="t"/>
          <a:lstStyle/>
          <a:p>
            <a:pPr algn="ctr" indent="0" marL="0">
              <a:buNone/>
            </a:pPr>
            <a:r>
              <a:rPr lang="en-US" sz="1200" dirty="0">
                <a:solidFill>
                  <a:schemeClr val="bg2"/>
                </a:solidFill>
              </a:rPr>
              <a:t>query the root, TLD and authoritative servers</a:t>
            </a:r>
            <a:endParaRPr lang="en-US" sz="1200" dirty="0"/>
          </a:p>
        </p:txBody>
      </p:sp>
      <p:sp>
        <p:nvSpPr>
          <p:cNvPr id="29" name="Shape 27"/>
          <p:cNvSpPr/>
          <p:nvPr/>
        </p:nvSpPr>
        <p:spPr>
          <a:xfrm flipV="1">
            <a:off x="1874520" y="2834640"/>
            <a:ext cx="914" cy="1234440"/>
          </a:xfrm>
          <a:prstGeom prst="line">
            <a:avLst/>
          </a:prstGeom>
          <a:noFill/>
          <a:ln w="25400">
            <a:solidFill>
              <a:srgbClr val="B6C3D4"/>
            </a:solidFill>
            <a:prstDash val="solid"/>
            <a:tailEnd type="triangle"/>
          </a:ln>
        </p:spPr>
      </p:sp>
      <p:sp>
        <p:nvSpPr>
          <p:cNvPr id="30" name="Shape 28"/>
          <p:cNvSpPr/>
          <p:nvPr/>
        </p:nvSpPr>
        <p:spPr>
          <a:xfrm>
            <a:off x="3200400" y="1920240"/>
            <a:ext cx="640080" cy="914"/>
          </a:xfrm>
          <a:prstGeom prst="line">
            <a:avLst/>
          </a:prstGeom>
          <a:noFill/>
          <a:ln w="25400">
            <a:solidFill>
              <a:srgbClr val="A78BFA"/>
            </a:solidFill>
            <a:prstDash val="solid"/>
            <a:tailEnd type="triangle"/>
          </a:ln>
        </p:spPr>
      </p:sp>
      <p:sp>
        <p:nvSpPr>
          <p:cNvPr id="31" name="Text 29"/>
          <p:cNvSpPr txBox="1"/>
          <p:nvPr/>
        </p:nvSpPr>
        <p:spPr>
          <a:xfrm>
            <a:off x="3200400" y="1572768"/>
            <a:ext cx="685800" cy="365760"/>
          </a:xfrm>
          <a:prstGeom prst="rect">
            <a:avLst/>
          </a:prstGeom>
          <a:noFill/>
          <a:ln/>
        </p:spPr>
        <p:txBody>
          <a:bodyPr wrap="square" lIns="0" tIns="0" rIns="0" bIns="0" rtlCol="0" anchor="t"/>
          <a:lstStyle/>
          <a:p>
            <a:pPr algn="ctr" indent="0" marL="0">
              <a:buNone/>
            </a:pPr>
            <a:r>
              <a:rPr lang="en-US" sz="1200" dirty="0">
                <a:solidFill>
                  <a:schemeClr val="bg2"/>
                </a:solidFill>
              </a:rPr>
              <a:t>HTTP request</a:t>
            </a:r>
            <a:endParaRPr lang="en-US" sz="1200" dirty="0"/>
          </a:p>
        </p:txBody>
      </p:sp>
      <p:sp>
        <p:nvSpPr>
          <p:cNvPr id="32" name="Shape 30"/>
          <p:cNvSpPr/>
          <p:nvPr/>
        </p:nvSpPr>
        <p:spPr>
          <a:xfrm flipH="1">
            <a:off x="3246120" y="2377440"/>
            <a:ext cx="640080" cy="914"/>
          </a:xfrm>
          <a:prstGeom prst="line">
            <a:avLst/>
          </a:prstGeom>
          <a:noFill/>
          <a:ln w="25400">
            <a:solidFill>
              <a:srgbClr val="14B8A6"/>
            </a:solidFill>
            <a:prstDash val="solid"/>
            <a:tailEnd type="triangle"/>
          </a:ln>
        </p:spPr>
      </p:sp>
      <p:sp>
        <p:nvSpPr>
          <p:cNvPr id="33" name="Text 31"/>
          <p:cNvSpPr txBox="1"/>
          <p:nvPr/>
        </p:nvSpPr>
        <p:spPr>
          <a:xfrm>
            <a:off x="3200400" y="2423160"/>
            <a:ext cx="685800" cy="365760"/>
          </a:xfrm>
          <a:prstGeom prst="rect">
            <a:avLst/>
          </a:prstGeom>
          <a:noFill/>
          <a:ln/>
        </p:spPr>
        <p:txBody>
          <a:bodyPr wrap="square" lIns="0" tIns="0" rIns="0" bIns="0" rtlCol="0" anchor="t"/>
          <a:lstStyle/>
          <a:p>
            <a:pPr algn="ctr" indent="0" marL="0">
              <a:buNone/>
            </a:pPr>
            <a:r>
              <a:rPr lang="en-US" sz="1200" dirty="0">
                <a:solidFill>
                  <a:schemeClr val="bg2"/>
                </a:solidFill>
              </a:rPr>
              <a:t>JSON results</a:t>
            </a:r>
            <a:endParaRPr lang="en-US" sz="1200" dirty="0"/>
          </a:p>
        </p:txBody>
      </p:sp>
      <p:sp>
        <p:nvSpPr>
          <p:cNvPr id="34" name="Shape 32"/>
          <p:cNvSpPr/>
          <p:nvPr/>
        </p:nvSpPr>
        <p:spPr>
          <a:xfrm>
            <a:off x="5074920" y="2788920"/>
            <a:ext cx="914" cy="594360"/>
          </a:xfrm>
          <a:prstGeom prst="line">
            <a:avLst/>
          </a:prstGeom>
          <a:noFill/>
          <a:ln w="25400">
            <a:solidFill>
              <a:srgbClr val="14B8A6"/>
            </a:solidFill>
            <a:prstDash val="solid"/>
            <a:tailEnd type="triangle"/>
          </a:ln>
        </p:spPr>
      </p:sp>
      <p:sp>
        <p:nvSpPr>
          <p:cNvPr id="35" name="Shape 33"/>
          <p:cNvSpPr/>
          <p:nvPr/>
        </p:nvSpPr>
        <p:spPr>
          <a:xfrm flipV="1">
            <a:off x="5532120" y="2834640"/>
            <a:ext cx="914" cy="594360"/>
          </a:xfrm>
          <a:prstGeom prst="line">
            <a:avLst/>
          </a:prstGeom>
          <a:noFill/>
          <a:ln w="25400">
            <a:solidFill>
              <a:srgbClr val="22D3EE"/>
            </a:solidFill>
            <a:prstDash val="solid"/>
            <a:tailEnd type="triangle"/>
          </a:ln>
        </p:spPr>
      </p:sp>
      <p:sp>
        <p:nvSpPr>
          <p:cNvPr id="36" name="Shape 34"/>
          <p:cNvSpPr/>
          <p:nvPr/>
        </p:nvSpPr>
        <p:spPr>
          <a:xfrm>
            <a:off x="6720840" y="3840480"/>
            <a:ext cx="960120" cy="914"/>
          </a:xfrm>
          <a:prstGeom prst="line">
            <a:avLst/>
          </a:prstGeom>
          <a:noFill/>
          <a:ln w="25400">
            <a:solidFill>
              <a:srgbClr val="60A5FA"/>
            </a:solidFill>
            <a:prstDash val="solid"/>
            <a:tailEnd type="triangle"/>
          </a:ln>
        </p:spPr>
      </p:sp>
      <p:sp>
        <p:nvSpPr>
          <p:cNvPr id="37" name="Shape 35"/>
          <p:cNvSpPr/>
          <p:nvPr/>
        </p:nvSpPr>
        <p:spPr>
          <a:xfrm flipH="1">
            <a:off x="6766560" y="4343400"/>
            <a:ext cx="960120" cy="914"/>
          </a:xfrm>
          <a:prstGeom prst="line">
            <a:avLst/>
          </a:prstGeom>
          <a:noFill/>
          <a:ln w="25400">
            <a:solidFill>
              <a:srgbClr val="60A5FA"/>
            </a:solidFill>
            <a:prstDash val="solid"/>
            <a:tailEnd type="triangle"/>
          </a:ln>
        </p:spPr>
      </p:sp>
      <p:sp>
        <p:nvSpPr>
          <p:cNvPr id="38" name="Text 36"/>
          <p:cNvSpPr txBox="1"/>
          <p:nvPr/>
        </p:nvSpPr>
        <p:spPr>
          <a:xfrm>
            <a:off x="6720840" y="3904488"/>
            <a:ext cx="1005840" cy="365760"/>
          </a:xfrm>
          <a:prstGeom prst="rect">
            <a:avLst/>
          </a:prstGeom>
          <a:noFill/>
          <a:ln/>
        </p:spPr>
        <p:txBody>
          <a:bodyPr wrap="square" lIns="0" tIns="0" rIns="0" bIns="0" rtlCol="0" anchor="t"/>
          <a:lstStyle/>
          <a:p>
            <a:pPr algn="ctr" indent="0" marL="0">
              <a:buNone/>
            </a:pPr>
            <a:r>
              <a:rPr lang="en-US" sz="1200" dirty="0">
                <a:solidFill>
                  <a:schemeClr val="bg2"/>
                </a:solidFill>
              </a:rPr>
              <a:t>UDP/TCP 53</a:t>
            </a:r>
            <a:endParaRPr lang="en-US" sz="1200" dirty="0"/>
          </a:p>
        </p:txBody>
      </p:sp>
      <p:sp>
        <p:nvSpPr>
          <p:cNvPr id="39" name="Shape 37"/>
          <p:cNvSpPr/>
          <p:nvPr/>
        </p:nvSpPr>
        <p:spPr>
          <a:xfrm>
            <a:off x="5303520" y="5175504"/>
            <a:ext cx="914" cy="210312"/>
          </a:xfrm>
          <a:prstGeom prst="line">
            <a:avLst/>
          </a:prstGeom>
          <a:noFill/>
          <a:ln w="25400">
            <a:solidFill>
              <a:srgbClr val="F59E0B"/>
            </a:solidFill>
            <a:prstDash val="solid"/>
            <a:headEnd type="triangle"/>
            <a:tailEnd type="triangle"/>
          </a:ln>
        </p:spPr>
      </p:sp>
      <p:sp>
        <p:nvSpPr>
          <p:cNvPr id="40" name="Shape 38"/>
          <p:cNvSpPr/>
          <p:nvPr/>
        </p:nvSpPr>
        <p:spPr>
          <a:xfrm>
            <a:off x="7818120" y="5468112"/>
            <a:ext cx="164592" cy="164592"/>
          </a:xfrm>
          <a:prstGeom prst="ellipse">
            <a:avLst/>
          </a:prstGeom>
          <a:solidFill>
            <a:srgbClr val="A78BFA"/>
          </a:solidFill>
          <a:ln/>
        </p:spPr>
      </p:sp>
      <p:sp>
        <p:nvSpPr>
          <p:cNvPr id="41" name="Text 39"/>
          <p:cNvSpPr txBox="1"/>
          <p:nvPr/>
        </p:nvSpPr>
        <p:spPr>
          <a:xfrm>
            <a:off x="8046720" y="5413248"/>
            <a:ext cx="1143000" cy="274320"/>
          </a:xfrm>
          <a:prstGeom prst="rect">
            <a:avLst/>
          </a:prstGeom>
          <a:noFill/>
          <a:ln/>
        </p:spPr>
        <p:txBody>
          <a:bodyPr wrap="square" lIns="0" tIns="0" rIns="0" bIns="0" rtlCol="0" anchor="t"/>
          <a:lstStyle/>
          <a:p>
            <a:pPr indent="0" marL="0">
              <a:buNone/>
            </a:pPr>
            <a:r>
              <a:rPr lang="en-US" sz="1200" dirty="0">
                <a:solidFill>
                  <a:schemeClr val="bg2"/>
                </a:solidFill>
              </a:rPr>
              <a:t>Frontend</a:t>
            </a:r>
            <a:endParaRPr lang="en-US" sz="1200" dirty="0"/>
          </a:p>
        </p:txBody>
      </p:sp>
      <p:sp>
        <p:nvSpPr>
          <p:cNvPr id="42" name="Shape 40"/>
          <p:cNvSpPr/>
          <p:nvPr/>
        </p:nvSpPr>
        <p:spPr>
          <a:xfrm>
            <a:off x="9144000" y="5468112"/>
            <a:ext cx="164592" cy="164592"/>
          </a:xfrm>
          <a:prstGeom prst="ellipse">
            <a:avLst/>
          </a:prstGeom>
          <a:solidFill>
            <a:srgbClr val="14B8A6"/>
          </a:solidFill>
          <a:ln/>
        </p:spPr>
      </p:sp>
      <p:sp>
        <p:nvSpPr>
          <p:cNvPr id="43" name="Text 41"/>
          <p:cNvSpPr txBox="1"/>
          <p:nvPr/>
        </p:nvSpPr>
        <p:spPr>
          <a:xfrm>
            <a:off x="9372600" y="5413248"/>
            <a:ext cx="1143000" cy="274320"/>
          </a:xfrm>
          <a:prstGeom prst="rect">
            <a:avLst/>
          </a:prstGeom>
          <a:noFill/>
          <a:ln/>
        </p:spPr>
        <p:txBody>
          <a:bodyPr wrap="square" lIns="0" tIns="0" rIns="0" bIns="0" rtlCol="0" anchor="t"/>
          <a:lstStyle/>
          <a:p>
            <a:pPr indent="0" marL="0">
              <a:buNone/>
            </a:pPr>
            <a:r>
              <a:rPr lang="en-US" sz="1200" dirty="0">
                <a:solidFill>
                  <a:schemeClr val="bg2"/>
                </a:solidFill>
              </a:rPr>
              <a:t>Backend</a:t>
            </a:r>
            <a:endParaRPr lang="en-US" sz="1200" dirty="0"/>
          </a:p>
        </p:txBody>
      </p:sp>
      <p:sp>
        <p:nvSpPr>
          <p:cNvPr id="44" name="Shape 42"/>
          <p:cNvSpPr/>
          <p:nvPr/>
        </p:nvSpPr>
        <p:spPr>
          <a:xfrm>
            <a:off x="10469880" y="5468112"/>
            <a:ext cx="164592" cy="164592"/>
          </a:xfrm>
          <a:prstGeom prst="ellipse">
            <a:avLst/>
          </a:prstGeom>
          <a:solidFill>
            <a:srgbClr val="22D3EE"/>
          </a:solidFill>
          <a:ln/>
        </p:spPr>
      </p:sp>
      <p:sp>
        <p:nvSpPr>
          <p:cNvPr id="45" name="Text 43"/>
          <p:cNvSpPr txBox="1"/>
          <p:nvPr/>
        </p:nvSpPr>
        <p:spPr>
          <a:xfrm>
            <a:off x="10698480" y="5413248"/>
            <a:ext cx="1143000" cy="274320"/>
          </a:xfrm>
          <a:prstGeom prst="rect">
            <a:avLst/>
          </a:prstGeom>
          <a:noFill/>
          <a:ln/>
        </p:spPr>
        <p:txBody>
          <a:bodyPr wrap="square" lIns="0" tIns="0" rIns="0" bIns="0" rtlCol="0" anchor="t"/>
          <a:lstStyle/>
          <a:p>
            <a:pPr indent="0" marL="0">
              <a:buNone/>
            </a:pPr>
            <a:r>
              <a:rPr lang="en-US" sz="1200" dirty="0">
                <a:solidFill>
                  <a:schemeClr val="bg2"/>
                </a:solidFill>
              </a:rPr>
              <a:t>Analysis</a:t>
            </a:r>
            <a:endParaRPr lang="en-US" sz="1200" dirty="0"/>
          </a:p>
        </p:txBody>
      </p:sp>
      <p:sp>
        <p:nvSpPr>
          <p:cNvPr id="46" name="Shape 44"/>
          <p:cNvSpPr/>
          <p:nvPr/>
        </p:nvSpPr>
        <p:spPr>
          <a:xfrm>
            <a:off x="7818120" y="5815584"/>
            <a:ext cx="164592" cy="164592"/>
          </a:xfrm>
          <a:prstGeom prst="ellipse">
            <a:avLst/>
          </a:prstGeom>
          <a:solidFill>
            <a:srgbClr val="60A5FA"/>
          </a:solidFill>
          <a:ln/>
        </p:spPr>
      </p:sp>
      <p:sp>
        <p:nvSpPr>
          <p:cNvPr id="47" name="Text 45"/>
          <p:cNvSpPr txBox="1"/>
          <p:nvPr/>
        </p:nvSpPr>
        <p:spPr>
          <a:xfrm>
            <a:off x="8046720" y="5760720"/>
            <a:ext cx="1143000" cy="274320"/>
          </a:xfrm>
          <a:prstGeom prst="rect">
            <a:avLst/>
          </a:prstGeom>
          <a:noFill/>
          <a:ln/>
        </p:spPr>
        <p:txBody>
          <a:bodyPr wrap="square" lIns="0" tIns="0" rIns="0" bIns="0" rtlCol="0" anchor="t"/>
          <a:lstStyle/>
          <a:p>
            <a:pPr indent="0" marL="0">
              <a:buNone/>
            </a:pPr>
            <a:r>
              <a:rPr lang="en-US" sz="1200" dirty="0">
                <a:solidFill>
                  <a:schemeClr val="bg2"/>
                </a:solidFill>
              </a:rPr>
              <a:t>DNS services</a:t>
            </a:r>
            <a:endParaRPr lang="en-US" sz="1200" dirty="0"/>
          </a:p>
        </p:txBody>
      </p:sp>
      <p:sp>
        <p:nvSpPr>
          <p:cNvPr id="48" name="Shape 46"/>
          <p:cNvSpPr/>
          <p:nvPr/>
        </p:nvSpPr>
        <p:spPr>
          <a:xfrm>
            <a:off x="9144000" y="5815584"/>
            <a:ext cx="164592" cy="164592"/>
          </a:xfrm>
          <a:prstGeom prst="ellipse">
            <a:avLst/>
          </a:prstGeom>
          <a:solidFill>
            <a:srgbClr val="F59E0B"/>
          </a:solidFill>
          <a:ln/>
        </p:spPr>
      </p:sp>
      <p:sp>
        <p:nvSpPr>
          <p:cNvPr id="49" name="Text 47"/>
          <p:cNvSpPr txBox="1"/>
          <p:nvPr/>
        </p:nvSpPr>
        <p:spPr>
          <a:xfrm>
            <a:off x="9372600" y="5760720"/>
            <a:ext cx="1143000" cy="274320"/>
          </a:xfrm>
          <a:prstGeom prst="rect">
            <a:avLst/>
          </a:prstGeom>
          <a:noFill/>
          <a:ln/>
        </p:spPr>
        <p:txBody>
          <a:bodyPr wrap="square" lIns="0" tIns="0" rIns="0" bIns="0" rtlCol="0" anchor="t"/>
          <a:lstStyle/>
          <a:p>
            <a:pPr indent="0" marL="0">
              <a:buNone/>
            </a:pPr>
            <a:r>
              <a:rPr lang="en-US" sz="1200" dirty="0">
                <a:solidFill>
                  <a:schemeClr val="bg2"/>
                </a:solidFill>
              </a:rPr>
              <a:t>Database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DNS detection methodology</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731520"/>
                <a:gridCol w="2377440"/>
                <a:gridCol w="4389120"/>
                <a:gridCol w="3596335"/>
              </a:tblGrid>
              <a:tr h="512064">
                <a:tc>
                  <a:txBody>
                    <a:bodyPr/>
                    <a:lstStyle/>
                    <a:p>
                      <a:pPr indent="0" marL="0">
                        <a:buNone/>
                      </a:pPr>
                      <a:r>
                        <a:rPr lang="en-US" sz="1400" b="1" dirty="0">
                          <a:solidFill>
                            <a:srgbClr val="22D3EE"/>
                          </a:solidFill>
                          <a:latin typeface="Arial" pitchFamily="34" charset="0"/>
                          <a:ea typeface="Arial" pitchFamily="34" charset="-122"/>
                          <a:cs typeface="Arial" pitchFamily="34" charset="-120"/>
                        </a:rPr>
                        <a:t>Rule</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Signal</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What it checks</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b="1" dirty="0">
                          <a:solidFill>
                            <a:srgbClr val="22D3EE"/>
                          </a:solidFill>
                          <a:latin typeface="Arial" pitchFamily="34" charset="0"/>
                          <a:ea typeface="Arial" pitchFamily="34" charset="-122"/>
                          <a:cs typeface="Arial" pitchFamily="34" charset="-120"/>
                        </a:rPr>
                        <a:t>Why an alert may be raised</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r>
              <a:tr h="512064">
                <a:tc>
                  <a:txBody>
                    <a:bodyPr/>
                    <a:lstStyle/>
                    <a:p>
                      <a:pPr indent="0" marL="0">
                        <a:buNone/>
                      </a:pPr>
                      <a:r>
                        <a:rPr lang="en-US" sz="1400" b="1" dirty="0">
                          <a:solidFill>
                            <a:srgbClr val="14B8A6"/>
                          </a:solidFill>
                          <a:latin typeface="Arial" pitchFamily="34" charset="0"/>
                          <a:ea typeface="Arial" pitchFamily="34" charset="-122"/>
                          <a:cs typeface="Arial" pitchFamily="34" charset="-120"/>
                        </a:rPr>
                        <a:t>R1</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IP address change</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New IP not seen before and outside the domain's usual networks</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Could be a redirect, or a legitimate migration</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r>
              <a:tr h="512064">
                <a:tc>
                  <a:txBody>
                    <a:bodyPr/>
                    <a:lstStyle/>
                    <a:p>
                      <a:pPr indent="0" marL="0">
                        <a:buNone/>
                      </a:pPr>
                      <a:r>
                        <a:rPr lang="en-US" sz="1400" b="1" dirty="0">
                          <a:solidFill>
                            <a:srgbClr val="14B8A6"/>
                          </a:solidFill>
                          <a:latin typeface="Arial" pitchFamily="34" charset="0"/>
                          <a:ea typeface="Arial" pitchFamily="34" charset="-122"/>
                          <a:cs typeface="Arial" pitchFamily="34" charset="-120"/>
                        </a:rPr>
                        <a:t>R2</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Resolver disagreement</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One resolver's answer shares nothing with the others</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Could be poisoning, or CDN / geo-DNS routing</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r>
              <a:tr h="512064">
                <a:tc>
                  <a:txBody>
                    <a:bodyPr/>
                    <a:lstStyle/>
                    <a:p>
                      <a:pPr indent="0" marL="0">
                        <a:buNone/>
                      </a:pPr>
                      <a:r>
                        <a:rPr lang="en-US" sz="1400" b="1" dirty="0">
                          <a:solidFill>
                            <a:srgbClr val="14B8A6"/>
                          </a:solidFill>
                          <a:latin typeface="Arial" pitchFamily="34" charset="0"/>
                          <a:ea typeface="Arial" pitchFamily="34" charset="-122"/>
                          <a:cs typeface="Arial" pitchFamily="34" charset="-120"/>
                        </a:rPr>
                        <a:t>R3</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Unusual TTL</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TTL far shorter or longer than this domain's normal value</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Attackers often use unusual TTLs; operators also change them</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r>
              <a:tr h="512064">
                <a:tc>
                  <a:txBody>
                    <a:bodyPr/>
                    <a:lstStyle/>
                    <a:p>
                      <a:pPr indent="0" marL="0">
                        <a:buNone/>
                      </a:pPr>
                      <a:r>
                        <a:rPr lang="en-US" sz="1400" b="1" dirty="0">
                          <a:solidFill>
                            <a:srgbClr val="14B8A6"/>
                          </a:solidFill>
                          <a:latin typeface="Arial" pitchFamily="34" charset="0"/>
                          <a:ea typeface="Arial" pitchFamily="34" charset="-122"/>
                          <a:cs typeface="Arial" pitchFamily="34" charset="-120"/>
                        </a:rPr>
                        <a:t>R4</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Repeated failures</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Timeouts, SERVFAIL or unexpected NXDOMAIN in several checks</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Possible interference, or just an outage</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r>
              <a:tr h="512064">
                <a:tc>
                  <a:txBody>
                    <a:bodyPr/>
                    <a:lstStyle/>
                    <a:p>
                      <a:pPr indent="0" marL="0">
                        <a:buNone/>
                      </a:pPr>
                      <a:r>
                        <a:rPr lang="en-US" sz="1400" b="1" dirty="0">
                          <a:solidFill>
                            <a:srgbClr val="14B8A6"/>
                          </a:solidFill>
                          <a:latin typeface="Arial" pitchFamily="34" charset="0"/>
                          <a:ea typeface="Arial" pitchFamily="34" charset="-122"/>
                          <a:cs typeface="Arial" pitchFamily="34" charset="-120"/>
                        </a:rPr>
                        <a:t>R5</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DNSSEC failure</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Validating resolvers reject the data (when the zone is signed)</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Data could not be authenticated</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32238"/>
                    </a:solidFill>
                  </a:tcPr>
                </a:tc>
              </a:tr>
              <a:tr h="512064">
                <a:tc>
                  <a:txBody>
                    <a:bodyPr/>
                    <a:lstStyle/>
                    <a:p>
                      <a:pPr indent="0" marL="0">
                        <a:buNone/>
                      </a:pPr>
                      <a:r>
                        <a:rPr lang="en-US" sz="1400" b="1" dirty="0">
                          <a:solidFill>
                            <a:srgbClr val="14B8A6"/>
                          </a:solidFill>
                          <a:latin typeface="Arial" pitchFamily="34" charset="0"/>
                          <a:ea typeface="Arial" pitchFamily="34" charset="-122"/>
                          <a:cs typeface="Arial" pitchFamily="34" charset="-120"/>
                        </a:rPr>
                        <a:t>R6</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Private IP in answer</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Public name resolves to 10.x, 192.168.x or 127.x</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c>
                  <a:txBody>
                    <a:bodyPr/>
                    <a:lstStyle/>
                    <a:p>
                      <a:pPr indent="0" marL="0">
                        <a:buNone/>
                      </a:pPr>
                      <a:r>
                        <a:rPr lang="en-US" sz="1400" dirty="0">
                          <a:solidFill>
                            <a:srgbClr val="FFFFFF"/>
                          </a:solidFill>
                          <a:latin typeface="Arial" pitchFamily="34" charset="0"/>
                          <a:ea typeface="Arial" pitchFamily="34" charset="-122"/>
                          <a:cs typeface="Arial" pitchFamily="34" charset="-120"/>
                        </a:rPr>
                        <a:t>Possible redirect to internal hosts</a:t>
                      </a:r>
                      <a:endParaRPr lang="en-US" sz="1400" dirty="0">
                        <a:latin typeface="Arial" charset="0"/>
                        <a:ea typeface="Arial" charset="0"/>
                        <a:cs typeface="Arial" charset="0"/>
                      </a:endParaRPr>
                    </a:p>
                  </a:txBody>
                  <a:tcPr marL="109728" marR="109728" marT="54864" marB="54864" anchor="ctr">
                    <a:lnL w="0" cap="flat" cmpd="sng" algn="ctr">
                      <a:noFill/>
                    </a:lnL>
                    <a:lnR w="0" cap="flat" cmpd="sng" algn="ctr">
                      <a:noFill/>
                    </a:lnR>
                    <a:lnT w="0" cap="flat" cmpd="sng" algn="ctr">
                      <a:noFill/>
                    </a:lnT>
                    <a:lnB w="0" cap="flat" cmpd="sng" algn="ctr">
                      <a:noFill/>
                    </a:lnB>
                    <a:solidFill>
                      <a:srgbClr val="1B2E4A"/>
                    </a:solidFill>
                  </a:tcPr>
                </a:tc>
              </a:tr>
            </a:tbl>
          </a:graphicData>
        </a:graphic>
      </p:graphicFrame>
      <p:sp>
        <p:nvSpPr>
          <p:cNvPr id="4" name="Shape 1"/>
          <p:cNvSpPr/>
          <p:nvPr/>
        </p:nvSpPr>
        <p:spPr>
          <a:xfrm>
            <a:off x="548640" y="5120640"/>
            <a:ext cx="11094415" cy="1097280"/>
          </a:xfrm>
          <a:prstGeom prst="roundRect">
            <a:avLst>
              <a:gd name="adj" fmla="val 10000"/>
            </a:avLst>
          </a:prstGeom>
          <a:solidFill>
            <a:srgbClr val="1B2E4A"/>
          </a:solidFill>
          <a:ln w="15875">
            <a:solidFill>
              <a:srgbClr val="F59E0B"/>
            </a:solidFill>
            <a:prstDash val="solid"/>
          </a:ln>
        </p:spPr>
      </p:sp>
      <p:sp>
        <p:nvSpPr>
          <p:cNvPr id="5" name="Shape 2"/>
          <p:cNvSpPr/>
          <p:nvPr/>
        </p:nvSpPr>
        <p:spPr>
          <a:xfrm>
            <a:off x="777240" y="5303520"/>
            <a:ext cx="731520" cy="731520"/>
          </a:xfrm>
          <a:prstGeom prst="ellipse">
            <a:avLst/>
          </a:prstGeom>
          <a:solidFill>
            <a:schemeClr val="accent4"/>
          </a:solidFill>
          <a:ln/>
        </p:spPr>
      </p:sp>
      <p:pic>
        <p:nvPicPr>
          <p:cNvPr id="6" name="Image 0" descr="preencoded.png">    </p:cNvPr>
          <p:cNvPicPr>
            <a:picLocks noChangeAspect="1"/>
          </p:cNvPicPr>
          <p:nvPr/>
        </p:nvPicPr>
        <p:blipFill>
          <a:blip r:embed="rId1"/>
          <a:stretch>
            <a:fillRect/>
          </a:stretch>
        </p:blipFill>
        <p:spPr>
          <a:xfrm>
            <a:off x="952805" y="5479085"/>
            <a:ext cx="380390" cy="380390"/>
          </a:xfrm>
          <a:prstGeom prst="rect">
            <a:avLst/>
          </a:prstGeom>
        </p:spPr>
      </p:pic>
      <p:sp>
        <p:nvSpPr>
          <p:cNvPr id="7" name="Text 3"/>
          <p:cNvSpPr txBox="1"/>
          <p:nvPr/>
        </p:nvSpPr>
        <p:spPr>
          <a:xfrm>
            <a:off x="1737360" y="5212080"/>
            <a:ext cx="9677095" cy="914400"/>
          </a:xfrm>
          <a:prstGeom prst="rect">
            <a:avLst/>
          </a:prstGeom>
          <a:noFill/>
          <a:ln/>
        </p:spPr>
        <p:txBody>
          <a:bodyPr wrap="square" lIns="0" tIns="0" rIns="0" bIns="0" rtlCol="0" anchor="ctr"/>
          <a:lstStyle/>
          <a:p>
            <a:pPr indent="0" marL="0">
              <a:buNone/>
            </a:pPr>
            <a:r>
              <a:rPr lang="en-US" sz="1600" b="1" dirty="0">
                <a:solidFill>
                  <a:schemeClr val="accent4"/>
                </a:solidFill>
              </a:rPr>
              <a:t>Signals, not proof. </a:t>
            </a:r>
            <a:pPr indent="0" marL="0">
              <a:buNone/>
            </a:pPr>
            <a:r>
              <a:rPr lang="en-US" sz="1600" dirty="0">
                <a:solidFill>
                  <a:schemeClr val="bg1"/>
                </a:solidFill>
              </a:rPr>
              <a:t>Each alert means “investigate”, never “spoofing confirmed”. Severity rises only when several signals agree, and every alert shows its evidence and possible harmless causes.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Frontend dashboard design</a:t>
            </a:r>
            <a:endParaRPr lang="en-US" sz="3200" dirty="0"/>
          </a:p>
        </p:txBody>
      </p:sp>
      <p:sp>
        <p:nvSpPr>
          <p:cNvPr id="3" name="Shape 1"/>
          <p:cNvSpPr/>
          <p:nvPr/>
        </p:nvSpPr>
        <p:spPr>
          <a:xfrm>
            <a:off x="548640" y="1280160"/>
            <a:ext cx="11094415" cy="4983480"/>
          </a:xfrm>
          <a:prstGeom prst="roundRect">
            <a:avLst>
              <a:gd name="adj" fmla="val 2202"/>
            </a:avLst>
          </a:prstGeom>
          <a:solidFill>
            <a:srgbClr val="0E1A2E"/>
          </a:solidFill>
          <a:ln w="15875">
            <a:solidFill>
              <a:srgbClr val="2B4163"/>
            </a:solidFill>
            <a:prstDash val="solid"/>
          </a:ln>
        </p:spPr>
      </p:sp>
      <p:sp>
        <p:nvSpPr>
          <p:cNvPr id="4" name="Shape 2"/>
          <p:cNvSpPr/>
          <p:nvPr/>
        </p:nvSpPr>
        <p:spPr>
          <a:xfrm>
            <a:off x="594360" y="1325880"/>
            <a:ext cx="2148840" cy="4892040"/>
          </a:xfrm>
          <a:prstGeom prst="rect">
            <a:avLst/>
          </a:prstGeom>
          <a:solidFill>
            <a:srgbClr val="08111F"/>
          </a:solidFill>
          <a:ln/>
        </p:spPr>
      </p:sp>
      <p:sp>
        <p:nvSpPr>
          <p:cNvPr id="5" name="Text 3"/>
          <p:cNvSpPr txBox="1"/>
          <p:nvPr/>
        </p:nvSpPr>
        <p:spPr>
          <a:xfrm>
            <a:off x="822960" y="1508760"/>
            <a:ext cx="1828800" cy="365760"/>
          </a:xfrm>
          <a:prstGeom prst="rect">
            <a:avLst/>
          </a:prstGeom>
          <a:noFill/>
          <a:ln/>
        </p:spPr>
        <p:txBody>
          <a:bodyPr wrap="square" lIns="0" tIns="0" rIns="0" bIns="0" rtlCol="0" anchor="t"/>
          <a:lstStyle/>
          <a:p>
            <a:pPr indent="0" marL="0">
              <a:buNone/>
            </a:pPr>
            <a:r>
              <a:rPr lang="en-US" sz="1800" b="1" dirty="0">
                <a:solidFill>
                  <a:schemeClr val="bg1"/>
                </a:solidFill>
              </a:rPr>
              <a:t>DNScope</a:t>
            </a:r>
            <a:endParaRPr lang="en-US" sz="1800" dirty="0"/>
          </a:p>
        </p:txBody>
      </p:sp>
      <p:sp>
        <p:nvSpPr>
          <p:cNvPr id="6" name="Shape 4"/>
          <p:cNvSpPr/>
          <p:nvPr/>
        </p:nvSpPr>
        <p:spPr>
          <a:xfrm>
            <a:off x="713232" y="2093976"/>
            <a:ext cx="1920240" cy="438912"/>
          </a:xfrm>
          <a:prstGeom prst="roundRect">
            <a:avLst>
              <a:gd name="adj" fmla="val 25000"/>
            </a:avLst>
          </a:prstGeom>
          <a:solidFill>
            <a:schemeClr val="accent1"/>
          </a:solidFill>
          <a:ln/>
        </p:spPr>
      </p:sp>
      <p:sp>
        <p:nvSpPr>
          <p:cNvPr id="7" name="Text 5"/>
          <p:cNvSpPr txBox="1"/>
          <p:nvPr/>
        </p:nvSpPr>
        <p:spPr>
          <a:xfrm>
            <a:off x="841248" y="2148840"/>
            <a:ext cx="1828800" cy="329184"/>
          </a:xfrm>
          <a:prstGeom prst="rect">
            <a:avLst/>
          </a:prstGeom>
          <a:noFill/>
          <a:ln/>
        </p:spPr>
        <p:txBody>
          <a:bodyPr wrap="square" lIns="0" tIns="0" rIns="0" bIns="0" rtlCol="0" anchor="ctr"/>
          <a:lstStyle/>
          <a:p>
            <a:pPr indent="0" marL="0">
              <a:buNone/>
            </a:pPr>
            <a:r>
              <a:rPr lang="en-US" sz="1300" b="1" dirty="0">
                <a:solidFill>
                  <a:schemeClr val="tx1"/>
                </a:solidFill>
              </a:rPr>
              <a:t>1  Overview</a:t>
            </a:r>
            <a:endParaRPr lang="en-US" sz="1300" dirty="0"/>
          </a:p>
        </p:txBody>
      </p:sp>
      <p:sp>
        <p:nvSpPr>
          <p:cNvPr id="8" name="Text 6"/>
          <p:cNvSpPr txBox="1"/>
          <p:nvPr/>
        </p:nvSpPr>
        <p:spPr>
          <a:xfrm>
            <a:off x="841248" y="2697480"/>
            <a:ext cx="1828800" cy="329184"/>
          </a:xfrm>
          <a:prstGeom prst="rect">
            <a:avLst/>
          </a:prstGeom>
          <a:noFill/>
          <a:ln/>
        </p:spPr>
        <p:txBody>
          <a:bodyPr wrap="square" lIns="0" tIns="0" rIns="0" bIns="0" rtlCol="0" anchor="ctr"/>
          <a:lstStyle/>
          <a:p>
            <a:pPr indent="0" marL="0">
              <a:buNone/>
            </a:pPr>
            <a:r>
              <a:rPr lang="en-US" sz="1300" dirty="0">
                <a:solidFill>
                  <a:schemeClr val="bg2"/>
                </a:solidFill>
              </a:rPr>
              <a:t>2  DNS Lookup</a:t>
            </a:r>
            <a:endParaRPr lang="en-US" sz="1300" dirty="0"/>
          </a:p>
        </p:txBody>
      </p:sp>
      <p:sp>
        <p:nvSpPr>
          <p:cNvPr id="9" name="Text 7"/>
          <p:cNvSpPr txBox="1"/>
          <p:nvPr/>
        </p:nvSpPr>
        <p:spPr>
          <a:xfrm>
            <a:off x="841248" y="3246120"/>
            <a:ext cx="1828800" cy="329184"/>
          </a:xfrm>
          <a:prstGeom prst="rect">
            <a:avLst/>
          </a:prstGeom>
          <a:noFill/>
          <a:ln/>
        </p:spPr>
        <p:txBody>
          <a:bodyPr wrap="square" lIns="0" tIns="0" rIns="0" bIns="0" rtlCol="0" anchor="ctr"/>
          <a:lstStyle/>
          <a:p>
            <a:pPr indent="0" marL="0">
              <a:buNone/>
            </a:pPr>
            <a:r>
              <a:rPr lang="en-US" sz="1300" dirty="0">
                <a:solidFill>
                  <a:schemeClr val="bg2"/>
                </a:solidFill>
              </a:rPr>
              <a:t>3  Response Comparison</a:t>
            </a:r>
            <a:endParaRPr lang="en-US" sz="1300" dirty="0"/>
          </a:p>
        </p:txBody>
      </p:sp>
      <p:sp>
        <p:nvSpPr>
          <p:cNvPr id="10" name="Text 8"/>
          <p:cNvSpPr txBox="1"/>
          <p:nvPr/>
        </p:nvSpPr>
        <p:spPr>
          <a:xfrm>
            <a:off x="841248" y="3794760"/>
            <a:ext cx="1828800" cy="329184"/>
          </a:xfrm>
          <a:prstGeom prst="rect">
            <a:avLst/>
          </a:prstGeom>
          <a:noFill/>
          <a:ln/>
        </p:spPr>
        <p:txBody>
          <a:bodyPr wrap="square" lIns="0" tIns="0" rIns="0" bIns="0" rtlCol="0" anchor="ctr"/>
          <a:lstStyle/>
          <a:p>
            <a:pPr indent="0" marL="0">
              <a:buNone/>
            </a:pPr>
            <a:r>
              <a:rPr lang="en-US" sz="1300" dirty="0">
                <a:solidFill>
                  <a:schemeClr val="bg2"/>
                </a:solidFill>
              </a:rPr>
              <a:t>4  Security Alerts</a:t>
            </a:r>
            <a:endParaRPr lang="en-US" sz="1300" dirty="0"/>
          </a:p>
        </p:txBody>
      </p:sp>
      <p:sp>
        <p:nvSpPr>
          <p:cNvPr id="11" name="Text 9"/>
          <p:cNvSpPr txBox="1"/>
          <p:nvPr/>
        </p:nvSpPr>
        <p:spPr>
          <a:xfrm>
            <a:off x="841248" y="4343400"/>
            <a:ext cx="1828800" cy="329184"/>
          </a:xfrm>
          <a:prstGeom prst="rect">
            <a:avLst/>
          </a:prstGeom>
          <a:noFill/>
          <a:ln/>
        </p:spPr>
        <p:txBody>
          <a:bodyPr wrap="square" lIns="0" tIns="0" rIns="0" bIns="0" rtlCol="0" anchor="ctr"/>
          <a:lstStyle/>
          <a:p>
            <a:pPr indent="0" marL="0">
              <a:buNone/>
            </a:pPr>
            <a:r>
              <a:rPr lang="en-US" sz="1300" dirty="0">
                <a:solidFill>
                  <a:schemeClr val="bg2"/>
                </a:solidFill>
              </a:rPr>
              <a:t>5  Domain History</a:t>
            </a:r>
            <a:endParaRPr lang="en-US" sz="1300" dirty="0"/>
          </a:p>
        </p:txBody>
      </p:sp>
      <p:sp>
        <p:nvSpPr>
          <p:cNvPr id="12" name="Text 10"/>
          <p:cNvSpPr txBox="1"/>
          <p:nvPr/>
        </p:nvSpPr>
        <p:spPr>
          <a:xfrm>
            <a:off x="822960" y="5760720"/>
            <a:ext cx="1828800" cy="274320"/>
          </a:xfrm>
          <a:prstGeom prst="rect">
            <a:avLst/>
          </a:prstGeom>
          <a:noFill/>
          <a:ln/>
        </p:spPr>
        <p:txBody>
          <a:bodyPr wrap="square" lIns="0" tIns="0" rIns="0" bIns="0" rtlCol="0" anchor="t"/>
          <a:lstStyle/>
          <a:p>
            <a:pPr indent="0" marL="0">
              <a:buNone/>
            </a:pPr>
            <a:r>
              <a:rPr lang="en-US" sz="1200" dirty="0">
                <a:solidFill>
                  <a:schemeClr val="accent1"/>
                </a:solidFill>
              </a:rPr>
              <a:t>● Backend connected</a:t>
            </a:r>
            <a:endParaRPr lang="en-US" sz="1200" dirty="0"/>
          </a:p>
        </p:txBody>
      </p:sp>
      <p:sp>
        <p:nvSpPr>
          <p:cNvPr id="13" name="Shape 11"/>
          <p:cNvSpPr/>
          <p:nvPr/>
        </p:nvSpPr>
        <p:spPr>
          <a:xfrm>
            <a:off x="2926080" y="1463040"/>
            <a:ext cx="5760720" cy="457200"/>
          </a:xfrm>
          <a:prstGeom prst="roundRect">
            <a:avLst>
              <a:gd name="adj" fmla="val 24000"/>
            </a:avLst>
          </a:prstGeom>
          <a:solidFill>
            <a:srgbClr val="0B1628"/>
          </a:solidFill>
          <a:ln w="15875">
            <a:solidFill>
              <a:srgbClr val="2B4163"/>
            </a:solidFill>
            <a:prstDash val="solid"/>
          </a:ln>
        </p:spPr>
      </p:sp>
      <p:sp>
        <p:nvSpPr>
          <p:cNvPr id="14" name="Shape 12"/>
          <p:cNvSpPr/>
          <p:nvPr/>
        </p:nvSpPr>
        <p:spPr>
          <a:xfrm>
            <a:off x="2999232" y="1508760"/>
            <a:ext cx="365760" cy="365760"/>
          </a:xfrm>
          <a:prstGeom prst="ellipse">
            <a:avLst/>
          </a:prstGeom>
          <a:solidFill>
            <a:srgbClr val="1B2E4A"/>
          </a:solidFill>
          <a:ln/>
        </p:spPr>
      </p:sp>
      <p:pic>
        <p:nvPicPr>
          <p:cNvPr id="15" name="Image 0" descr="preencoded.png">    </p:cNvPr>
          <p:cNvPicPr>
            <a:picLocks noChangeAspect="1"/>
          </p:cNvPicPr>
          <p:nvPr/>
        </p:nvPicPr>
        <p:blipFill>
          <a:blip r:embed="rId1"/>
          <a:stretch>
            <a:fillRect/>
          </a:stretch>
        </p:blipFill>
        <p:spPr>
          <a:xfrm>
            <a:off x="3087014" y="1596542"/>
            <a:ext cx="190195" cy="190195"/>
          </a:xfrm>
          <a:prstGeom prst="rect">
            <a:avLst/>
          </a:prstGeom>
        </p:spPr>
      </p:pic>
      <p:sp>
        <p:nvSpPr>
          <p:cNvPr id="16" name="Text 13"/>
          <p:cNvSpPr txBox="1"/>
          <p:nvPr/>
        </p:nvSpPr>
        <p:spPr>
          <a:xfrm>
            <a:off x="3474720" y="1463040"/>
            <a:ext cx="5029200" cy="457200"/>
          </a:xfrm>
          <a:prstGeom prst="rect">
            <a:avLst/>
          </a:prstGeom>
          <a:noFill/>
          <a:ln/>
        </p:spPr>
        <p:txBody>
          <a:bodyPr wrap="square" lIns="0" tIns="0" rIns="0" bIns="0" rtlCol="0" anchor="ctr"/>
          <a:lstStyle/>
          <a:p>
            <a:pPr indent="0" marL="0">
              <a:buNone/>
            </a:pPr>
            <a:r>
              <a:rPr lang="en-US" sz="1300" dirty="0">
                <a:solidFill>
                  <a:schemeClr val="bg2"/>
                </a:solidFill>
              </a:rPr>
              <a:t>Investigate a domain…  e.g. shop.example.net</a:t>
            </a:r>
            <a:endParaRPr lang="en-US" sz="1300" dirty="0"/>
          </a:p>
        </p:txBody>
      </p:sp>
      <p:sp>
        <p:nvSpPr>
          <p:cNvPr id="17" name="Shape 14"/>
          <p:cNvSpPr/>
          <p:nvPr/>
        </p:nvSpPr>
        <p:spPr>
          <a:xfrm>
            <a:off x="8823960" y="1463040"/>
            <a:ext cx="1737360" cy="457200"/>
          </a:xfrm>
          <a:prstGeom prst="roundRect">
            <a:avLst>
              <a:gd name="adj" fmla="val 24000"/>
            </a:avLst>
          </a:prstGeom>
          <a:solidFill>
            <a:schemeClr val="accent1"/>
          </a:solidFill>
          <a:ln/>
        </p:spPr>
      </p:sp>
      <p:sp>
        <p:nvSpPr>
          <p:cNvPr id="18" name="Text 15"/>
          <p:cNvSpPr txBox="1"/>
          <p:nvPr/>
        </p:nvSpPr>
        <p:spPr>
          <a:xfrm>
            <a:off x="8823960" y="1463040"/>
            <a:ext cx="1737360" cy="457200"/>
          </a:xfrm>
          <a:prstGeom prst="rect">
            <a:avLst/>
          </a:prstGeom>
          <a:noFill/>
          <a:ln/>
        </p:spPr>
        <p:txBody>
          <a:bodyPr wrap="square" lIns="0" tIns="0" rIns="0" bIns="0" rtlCol="0" anchor="ctr"/>
          <a:lstStyle/>
          <a:p>
            <a:pPr algn="ctr" indent="0" marL="0">
              <a:buNone/>
            </a:pPr>
            <a:r>
              <a:rPr lang="en-US" sz="1400" b="1" dirty="0">
                <a:solidFill>
                  <a:schemeClr val="tx1"/>
                </a:solidFill>
              </a:rPr>
              <a:t>Check Domain</a:t>
            </a:r>
            <a:endParaRPr lang="en-US" sz="1400" dirty="0"/>
          </a:p>
        </p:txBody>
      </p:sp>
      <p:sp>
        <p:nvSpPr>
          <p:cNvPr id="19" name="Shape 16"/>
          <p:cNvSpPr/>
          <p:nvPr/>
        </p:nvSpPr>
        <p:spPr>
          <a:xfrm>
            <a:off x="2926080" y="2103120"/>
            <a:ext cx="2030654" cy="868680"/>
          </a:xfrm>
          <a:prstGeom prst="roundRect">
            <a:avLst>
              <a:gd name="adj" fmla="val 12632"/>
            </a:avLst>
          </a:prstGeom>
          <a:solidFill>
            <a:schemeClr val="tx2"/>
          </a:solidFill>
          <a:ln/>
        </p:spPr>
      </p:sp>
      <p:sp>
        <p:nvSpPr>
          <p:cNvPr id="20" name="Text 17"/>
          <p:cNvSpPr txBox="1"/>
          <p:nvPr/>
        </p:nvSpPr>
        <p:spPr>
          <a:xfrm>
            <a:off x="3090672" y="2176272"/>
            <a:ext cx="1756334" cy="274320"/>
          </a:xfrm>
          <a:prstGeom prst="rect">
            <a:avLst/>
          </a:prstGeom>
          <a:noFill/>
          <a:ln/>
        </p:spPr>
        <p:txBody>
          <a:bodyPr wrap="square" lIns="0" tIns="0" rIns="0" bIns="0" rtlCol="0" anchor="t"/>
          <a:lstStyle/>
          <a:p>
            <a:pPr indent="0" marL="0">
              <a:buNone/>
            </a:pPr>
            <a:r>
              <a:rPr lang="en-US" sz="1200" dirty="0">
                <a:solidFill>
                  <a:schemeClr val="bg2"/>
                </a:solidFill>
              </a:rPr>
              <a:t>DNS checks</a:t>
            </a:r>
            <a:endParaRPr lang="en-US" sz="1200" dirty="0"/>
          </a:p>
        </p:txBody>
      </p:sp>
      <p:sp>
        <p:nvSpPr>
          <p:cNvPr id="21" name="Text 18"/>
          <p:cNvSpPr txBox="1"/>
          <p:nvPr/>
        </p:nvSpPr>
        <p:spPr>
          <a:xfrm>
            <a:off x="3090672" y="2450592"/>
            <a:ext cx="1756334" cy="457200"/>
          </a:xfrm>
          <a:prstGeom prst="rect">
            <a:avLst/>
          </a:prstGeom>
          <a:noFill/>
          <a:ln/>
        </p:spPr>
        <p:txBody>
          <a:bodyPr wrap="square" lIns="0" tIns="0" rIns="0" bIns="0" rtlCol="0" anchor="t"/>
          <a:lstStyle/>
          <a:p>
            <a:pPr indent="0" marL="0">
              <a:buNone/>
            </a:pPr>
            <a:r>
              <a:rPr lang="en-US" sz="2400" b="1" dirty="0">
                <a:solidFill>
                  <a:srgbClr val="14B8A6"/>
                </a:solidFill>
              </a:rPr>
              <a:t>1,248</a:t>
            </a:r>
            <a:endParaRPr lang="en-US" sz="2400" dirty="0"/>
          </a:p>
        </p:txBody>
      </p:sp>
      <p:sp>
        <p:nvSpPr>
          <p:cNvPr id="22" name="Shape 19"/>
          <p:cNvSpPr/>
          <p:nvPr/>
        </p:nvSpPr>
        <p:spPr>
          <a:xfrm>
            <a:off x="5093894" y="2103120"/>
            <a:ext cx="2030654" cy="868680"/>
          </a:xfrm>
          <a:prstGeom prst="roundRect">
            <a:avLst>
              <a:gd name="adj" fmla="val 12632"/>
            </a:avLst>
          </a:prstGeom>
          <a:solidFill>
            <a:schemeClr val="tx2"/>
          </a:solidFill>
          <a:ln/>
        </p:spPr>
      </p:sp>
      <p:sp>
        <p:nvSpPr>
          <p:cNvPr id="23" name="Text 20"/>
          <p:cNvSpPr txBox="1"/>
          <p:nvPr/>
        </p:nvSpPr>
        <p:spPr>
          <a:xfrm>
            <a:off x="5258486" y="2176272"/>
            <a:ext cx="1756334" cy="274320"/>
          </a:xfrm>
          <a:prstGeom prst="rect">
            <a:avLst/>
          </a:prstGeom>
          <a:noFill/>
          <a:ln/>
        </p:spPr>
        <p:txBody>
          <a:bodyPr wrap="square" lIns="0" tIns="0" rIns="0" bIns="0" rtlCol="0" anchor="t"/>
          <a:lstStyle/>
          <a:p>
            <a:pPr indent="0" marL="0">
              <a:buNone/>
            </a:pPr>
            <a:r>
              <a:rPr lang="en-US" sz="1200" dirty="0">
                <a:solidFill>
                  <a:schemeClr val="bg2"/>
                </a:solidFill>
              </a:rPr>
              <a:t>Domains</a:t>
            </a:r>
            <a:endParaRPr lang="en-US" sz="1200" dirty="0"/>
          </a:p>
        </p:txBody>
      </p:sp>
      <p:sp>
        <p:nvSpPr>
          <p:cNvPr id="24" name="Text 21"/>
          <p:cNvSpPr txBox="1"/>
          <p:nvPr/>
        </p:nvSpPr>
        <p:spPr>
          <a:xfrm>
            <a:off x="5258486" y="2450592"/>
            <a:ext cx="1756334" cy="457200"/>
          </a:xfrm>
          <a:prstGeom prst="rect">
            <a:avLst/>
          </a:prstGeom>
          <a:noFill/>
          <a:ln/>
        </p:spPr>
        <p:txBody>
          <a:bodyPr wrap="square" lIns="0" tIns="0" rIns="0" bIns="0" rtlCol="0" anchor="t"/>
          <a:lstStyle/>
          <a:p>
            <a:pPr indent="0" marL="0">
              <a:buNone/>
            </a:pPr>
            <a:r>
              <a:rPr lang="en-US" sz="2400" b="1" dirty="0">
                <a:solidFill>
                  <a:srgbClr val="22D3EE"/>
                </a:solidFill>
              </a:rPr>
              <a:t>37</a:t>
            </a:r>
            <a:endParaRPr lang="en-US" sz="2400" dirty="0"/>
          </a:p>
        </p:txBody>
      </p:sp>
      <p:sp>
        <p:nvSpPr>
          <p:cNvPr id="25" name="Shape 22"/>
          <p:cNvSpPr/>
          <p:nvPr/>
        </p:nvSpPr>
        <p:spPr>
          <a:xfrm>
            <a:off x="7261708" y="2103120"/>
            <a:ext cx="2030654" cy="868680"/>
          </a:xfrm>
          <a:prstGeom prst="roundRect">
            <a:avLst>
              <a:gd name="adj" fmla="val 12632"/>
            </a:avLst>
          </a:prstGeom>
          <a:solidFill>
            <a:schemeClr val="tx2"/>
          </a:solidFill>
          <a:ln/>
        </p:spPr>
      </p:sp>
      <p:sp>
        <p:nvSpPr>
          <p:cNvPr id="26" name="Text 23"/>
          <p:cNvSpPr txBox="1"/>
          <p:nvPr/>
        </p:nvSpPr>
        <p:spPr>
          <a:xfrm>
            <a:off x="7426300" y="2176272"/>
            <a:ext cx="1756334" cy="274320"/>
          </a:xfrm>
          <a:prstGeom prst="rect">
            <a:avLst/>
          </a:prstGeom>
          <a:noFill/>
          <a:ln/>
        </p:spPr>
        <p:txBody>
          <a:bodyPr wrap="square" lIns="0" tIns="0" rIns="0" bIns="0" rtlCol="0" anchor="t"/>
          <a:lstStyle/>
          <a:p>
            <a:pPr indent="0" marL="0">
              <a:buNone/>
            </a:pPr>
            <a:r>
              <a:rPr lang="en-US" sz="1200" dirty="0">
                <a:solidFill>
                  <a:schemeClr val="bg2"/>
                </a:solidFill>
              </a:rPr>
              <a:t>Open alerts</a:t>
            </a:r>
            <a:endParaRPr lang="en-US" sz="1200" dirty="0"/>
          </a:p>
        </p:txBody>
      </p:sp>
      <p:sp>
        <p:nvSpPr>
          <p:cNvPr id="27" name="Text 24"/>
          <p:cNvSpPr txBox="1"/>
          <p:nvPr/>
        </p:nvSpPr>
        <p:spPr>
          <a:xfrm>
            <a:off x="7426300" y="2450592"/>
            <a:ext cx="1756334" cy="457200"/>
          </a:xfrm>
          <a:prstGeom prst="rect">
            <a:avLst/>
          </a:prstGeom>
          <a:noFill/>
          <a:ln/>
        </p:spPr>
        <p:txBody>
          <a:bodyPr wrap="square" lIns="0" tIns="0" rIns="0" bIns="0" rtlCol="0" anchor="t"/>
          <a:lstStyle/>
          <a:p>
            <a:pPr indent="0" marL="0">
              <a:buNone/>
            </a:pPr>
            <a:r>
              <a:rPr lang="en-US" sz="2400" b="1" dirty="0">
                <a:solidFill>
                  <a:srgbClr val="EF4444"/>
                </a:solidFill>
              </a:rPr>
              <a:t>5</a:t>
            </a:r>
            <a:endParaRPr lang="en-US" sz="2400" dirty="0"/>
          </a:p>
        </p:txBody>
      </p:sp>
      <p:sp>
        <p:nvSpPr>
          <p:cNvPr id="28" name="Shape 25"/>
          <p:cNvSpPr/>
          <p:nvPr/>
        </p:nvSpPr>
        <p:spPr>
          <a:xfrm>
            <a:off x="9429521" y="2103120"/>
            <a:ext cx="2030654" cy="868680"/>
          </a:xfrm>
          <a:prstGeom prst="roundRect">
            <a:avLst>
              <a:gd name="adj" fmla="val 12632"/>
            </a:avLst>
          </a:prstGeom>
          <a:solidFill>
            <a:schemeClr val="tx2"/>
          </a:solidFill>
          <a:ln/>
        </p:spPr>
      </p:sp>
      <p:sp>
        <p:nvSpPr>
          <p:cNvPr id="29" name="Text 26"/>
          <p:cNvSpPr txBox="1"/>
          <p:nvPr/>
        </p:nvSpPr>
        <p:spPr>
          <a:xfrm>
            <a:off x="9594113" y="2176272"/>
            <a:ext cx="1756334" cy="274320"/>
          </a:xfrm>
          <a:prstGeom prst="rect">
            <a:avLst/>
          </a:prstGeom>
          <a:noFill/>
          <a:ln/>
        </p:spPr>
        <p:txBody>
          <a:bodyPr wrap="square" lIns="0" tIns="0" rIns="0" bIns="0" rtlCol="0" anchor="t"/>
          <a:lstStyle/>
          <a:p>
            <a:pPr indent="0" marL="0">
              <a:buNone/>
            </a:pPr>
            <a:r>
              <a:rPr lang="en-US" sz="1200" dirty="0">
                <a:solidFill>
                  <a:schemeClr val="bg2"/>
                </a:solidFill>
              </a:rPr>
              <a:t>Resolver agreement</a:t>
            </a:r>
            <a:endParaRPr lang="en-US" sz="1200" dirty="0"/>
          </a:p>
        </p:txBody>
      </p:sp>
      <p:sp>
        <p:nvSpPr>
          <p:cNvPr id="30" name="Text 27"/>
          <p:cNvSpPr txBox="1"/>
          <p:nvPr/>
        </p:nvSpPr>
        <p:spPr>
          <a:xfrm>
            <a:off x="9594113" y="2450592"/>
            <a:ext cx="1756334" cy="457200"/>
          </a:xfrm>
          <a:prstGeom prst="rect">
            <a:avLst/>
          </a:prstGeom>
          <a:noFill/>
          <a:ln/>
        </p:spPr>
        <p:txBody>
          <a:bodyPr wrap="square" lIns="0" tIns="0" rIns="0" bIns="0" rtlCol="0" anchor="t"/>
          <a:lstStyle/>
          <a:p>
            <a:pPr indent="0" marL="0">
              <a:buNone/>
            </a:pPr>
            <a:r>
              <a:rPr lang="en-US" sz="2400" b="1" dirty="0">
                <a:solidFill>
                  <a:srgbClr val="22C55E"/>
                </a:solidFill>
              </a:rPr>
              <a:t>94%</a:t>
            </a:r>
            <a:endParaRPr lang="en-US" sz="2400" dirty="0"/>
          </a:p>
        </p:txBody>
      </p:sp>
      <p:sp>
        <p:nvSpPr>
          <p:cNvPr id="31" name="Shape 28"/>
          <p:cNvSpPr/>
          <p:nvPr/>
        </p:nvSpPr>
        <p:spPr>
          <a:xfrm>
            <a:off x="2926080" y="3108960"/>
            <a:ext cx="4663440" cy="1783080"/>
          </a:xfrm>
          <a:prstGeom prst="roundRect">
            <a:avLst>
              <a:gd name="adj" fmla="val 6154"/>
            </a:avLst>
          </a:prstGeom>
          <a:solidFill>
            <a:schemeClr val="tx2"/>
          </a:solidFill>
          <a:ln/>
        </p:spPr>
      </p:sp>
      <p:sp>
        <p:nvSpPr>
          <p:cNvPr id="32" name="Text 29"/>
          <p:cNvSpPr txBox="1"/>
          <p:nvPr/>
        </p:nvSpPr>
        <p:spPr>
          <a:xfrm>
            <a:off x="3090672" y="3182112"/>
            <a:ext cx="3657600" cy="274320"/>
          </a:xfrm>
          <a:prstGeom prst="rect">
            <a:avLst/>
          </a:prstGeom>
          <a:noFill/>
          <a:ln/>
        </p:spPr>
        <p:txBody>
          <a:bodyPr wrap="square" lIns="0" tIns="0" rIns="0" bIns="0" rtlCol="0" anchor="t"/>
          <a:lstStyle/>
          <a:p>
            <a:pPr indent="0" marL="0">
              <a:buNone/>
            </a:pPr>
            <a:r>
              <a:rPr lang="en-US" sz="1200" b="1" dirty="0">
                <a:solidFill>
                  <a:schemeClr val="bg2"/>
                </a:solidFill>
              </a:rPr>
              <a:t>DNS activity (checks / day)</a:t>
            </a:r>
            <a:endParaRPr lang="en-US" sz="1200" dirty="0"/>
          </a:p>
        </p:txBody>
      </p:sp>
      <p:graphicFrame>
        <p:nvGraphicFramePr>
          <p:cNvPr id="33" name="Chart 0" descr=""/>
          <p:cNvGraphicFramePr/>
          <p:nvPr/>
        </p:nvGraphicFramePr>
        <p:xfrm>
          <a:off x="3017520" y="3429000"/>
          <a:ext cx="4480560" cy="1417320"/>
        </p:xfrm>
        <a:graphic xmlns:a="http://schemas.openxmlformats.org/drawingml/2006/main">
          <a:graphicData uri="http://schemas.openxmlformats.org/drawingml/2006/chart">
            <c:chart xmlns:c="http://schemas.openxmlformats.org/drawingml/2006/chart" r:id="rId2"/>
          </a:graphicData>
        </a:graphic>
      </p:graphicFrame>
      <p:sp>
        <p:nvSpPr>
          <p:cNvPr id="34" name="Shape 30"/>
          <p:cNvSpPr/>
          <p:nvPr/>
        </p:nvSpPr>
        <p:spPr>
          <a:xfrm>
            <a:off x="7726680" y="3108960"/>
            <a:ext cx="3733495" cy="1783080"/>
          </a:xfrm>
          <a:prstGeom prst="roundRect">
            <a:avLst>
              <a:gd name="adj" fmla="val 6154"/>
            </a:avLst>
          </a:prstGeom>
          <a:solidFill>
            <a:schemeClr val="tx2"/>
          </a:solidFill>
          <a:ln w="15875">
            <a:solidFill>
              <a:srgbClr val="F59E0B"/>
            </a:solidFill>
            <a:prstDash val="solid"/>
          </a:ln>
        </p:spPr>
      </p:sp>
      <p:sp>
        <p:nvSpPr>
          <p:cNvPr id="35" name="Text 31"/>
          <p:cNvSpPr txBox="1"/>
          <p:nvPr/>
        </p:nvSpPr>
        <p:spPr>
          <a:xfrm>
            <a:off x="7891272" y="3182112"/>
            <a:ext cx="3459175" cy="292608"/>
          </a:xfrm>
          <a:prstGeom prst="rect">
            <a:avLst/>
          </a:prstGeom>
          <a:noFill/>
          <a:ln/>
        </p:spPr>
        <p:txBody>
          <a:bodyPr wrap="square" lIns="0" tIns="0" rIns="0" bIns="0" rtlCol="0" anchor="t"/>
          <a:lstStyle/>
          <a:p>
            <a:pPr indent="0" marL="0">
              <a:buNone/>
            </a:pPr>
            <a:r>
              <a:rPr lang="en-US" sz="1300" b="1" dirty="0">
                <a:solidFill>
                  <a:schemeClr val="bg1"/>
                </a:solidFill>
              </a:rPr>
              <a:t>Investigation: shop.example.net</a:t>
            </a:r>
            <a:endParaRPr lang="en-US" sz="1300" dirty="0"/>
          </a:p>
        </p:txBody>
      </p:sp>
      <p:sp>
        <p:nvSpPr>
          <p:cNvPr id="36" name="Shape 32"/>
          <p:cNvSpPr/>
          <p:nvPr/>
        </p:nvSpPr>
        <p:spPr>
          <a:xfrm>
            <a:off x="7891272" y="3547872"/>
            <a:ext cx="1051560" cy="310896"/>
          </a:xfrm>
          <a:prstGeom prst="roundRect">
            <a:avLst>
              <a:gd name="adj" fmla="val 35294"/>
            </a:avLst>
          </a:prstGeom>
          <a:solidFill>
            <a:schemeClr val="accent4"/>
          </a:solidFill>
          <a:ln/>
        </p:spPr>
      </p:sp>
      <p:sp>
        <p:nvSpPr>
          <p:cNvPr id="37" name="Text 33"/>
          <p:cNvSpPr txBox="1"/>
          <p:nvPr/>
        </p:nvSpPr>
        <p:spPr>
          <a:xfrm>
            <a:off x="7891272" y="3547872"/>
            <a:ext cx="1051560" cy="310896"/>
          </a:xfrm>
          <a:prstGeom prst="rect">
            <a:avLst/>
          </a:prstGeom>
          <a:noFill/>
          <a:ln/>
        </p:spPr>
        <p:txBody>
          <a:bodyPr wrap="square" lIns="0" tIns="0" rIns="0" bIns="0" rtlCol="0" anchor="ctr"/>
          <a:lstStyle/>
          <a:p>
            <a:pPr algn="ctr" indent="0" marL="0">
              <a:buNone/>
            </a:pPr>
            <a:r>
              <a:rPr lang="en-US" sz="1200" b="1" dirty="0">
                <a:solidFill>
                  <a:schemeClr val="tx1"/>
                </a:solidFill>
              </a:rPr>
              <a:t>MEDIUM</a:t>
            </a:r>
            <a:endParaRPr lang="en-US" sz="1200" dirty="0"/>
          </a:p>
        </p:txBody>
      </p:sp>
      <p:sp>
        <p:nvSpPr>
          <p:cNvPr id="38" name="Text 34"/>
          <p:cNvSpPr txBox="1"/>
          <p:nvPr/>
        </p:nvSpPr>
        <p:spPr>
          <a:xfrm>
            <a:off x="9052560" y="3547872"/>
            <a:ext cx="2270455" cy="310896"/>
          </a:xfrm>
          <a:prstGeom prst="rect">
            <a:avLst/>
          </a:prstGeom>
          <a:noFill/>
          <a:ln/>
        </p:spPr>
        <p:txBody>
          <a:bodyPr wrap="square" lIns="0" tIns="0" rIns="0" bIns="0" rtlCol="0" anchor="ctr"/>
          <a:lstStyle/>
          <a:p>
            <a:pPr indent="0" marL="0">
              <a:buNone/>
            </a:pPr>
            <a:r>
              <a:rPr lang="en-US" sz="1200" dirty="0">
                <a:solidFill>
                  <a:schemeClr val="bg2"/>
                </a:solidFill>
              </a:rPr>
              <a:t>R2 · resolver disagreement</a:t>
            </a:r>
            <a:endParaRPr lang="en-US" sz="1200" dirty="0"/>
          </a:p>
        </p:txBody>
      </p:sp>
      <p:sp>
        <p:nvSpPr>
          <p:cNvPr id="39" name="Text 35"/>
          <p:cNvSpPr txBox="1"/>
          <p:nvPr/>
        </p:nvSpPr>
        <p:spPr>
          <a:xfrm>
            <a:off x="7891272" y="3950208"/>
            <a:ext cx="3459175" cy="868680"/>
          </a:xfrm>
          <a:prstGeom prst="rect">
            <a:avLst/>
          </a:prstGeom>
          <a:noFill/>
          <a:ln/>
        </p:spPr>
        <p:txBody>
          <a:bodyPr wrap="square" lIns="0" tIns="0" rIns="0" bIns="0" rtlCol="0" anchor="t"/>
          <a:lstStyle/>
          <a:p>
            <a:pPr indent="0" marL="0">
              <a:buNone/>
            </a:pPr>
            <a:r>
              <a:rPr lang="en-US" sz="1200" dirty="0">
                <a:solidFill>
                  <a:schemeClr val="bg1"/>
                </a:solidFill>
              </a:rPr>
              <a:t>Quad9 → 203.0.113.66 (TTL 60 s)</a:t>
            </a:r>
            <a:endParaRPr lang="en-US" sz="1200" dirty="0"/>
          </a:p>
          <a:p>
            <a:pPr indent="0" marL="0">
              <a:buNone/>
            </a:pPr>
            <a:r>
              <a:rPr lang="en-US" sz="1200" dirty="0">
                <a:solidFill>
                  <a:schemeClr val="bg1"/>
                </a:solidFill>
              </a:rPr>
              <a:t>Others → 198.51.100.20 (TTL 300 s)</a:t>
            </a:r>
            <a:endParaRPr lang="en-US" sz="1200" dirty="0"/>
          </a:p>
          <a:p>
            <a:pPr indent="0" marL="0">
              <a:buNone/>
            </a:pPr>
            <a:r>
              <a:rPr lang="en-US" sz="1200" dirty="0">
                <a:solidFill>
                  <a:schemeClr val="bg1"/>
                </a:solidFill>
              </a:rPr>
              <a:t>Possible: CDN routing, stale cache</a:t>
            </a:r>
            <a:endParaRPr lang="en-US" sz="1200" dirty="0"/>
          </a:p>
        </p:txBody>
      </p:sp>
      <p:sp>
        <p:nvSpPr>
          <p:cNvPr id="40" name="Shape 36"/>
          <p:cNvSpPr/>
          <p:nvPr/>
        </p:nvSpPr>
        <p:spPr>
          <a:xfrm>
            <a:off x="2926080" y="5029200"/>
            <a:ext cx="8534095" cy="1097280"/>
          </a:xfrm>
          <a:prstGeom prst="roundRect">
            <a:avLst>
              <a:gd name="adj" fmla="val 10000"/>
            </a:avLst>
          </a:prstGeom>
          <a:solidFill>
            <a:schemeClr val="tx2"/>
          </a:solidFill>
          <a:ln/>
        </p:spPr>
      </p:sp>
      <p:sp>
        <p:nvSpPr>
          <p:cNvPr id="41" name="Text 37"/>
          <p:cNvSpPr txBox="1"/>
          <p:nvPr/>
        </p:nvSpPr>
        <p:spPr>
          <a:xfrm>
            <a:off x="3090672" y="5102352"/>
            <a:ext cx="2011680" cy="256032"/>
          </a:xfrm>
          <a:prstGeom prst="rect">
            <a:avLst/>
          </a:prstGeom>
          <a:noFill/>
          <a:ln/>
        </p:spPr>
        <p:txBody>
          <a:bodyPr wrap="square" lIns="0" tIns="0" rIns="0" bIns="0" rtlCol="0" anchor="t"/>
          <a:lstStyle/>
          <a:p>
            <a:pPr indent="0" marL="0">
              <a:buNone/>
            </a:pPr>
            <a:r>
              <a:rPr lang="en-US" sz="1200" b="1" dirty="0">
                <a:solidFill>
                  <a:schemeClr val="bg2"/>
                </a:solidFill>
              </a:rPr>
              <a:t>Severity</a:t>
            </a:r>
            <a:endParaRPr lang="en-US" sz="1200" dirty="0"/>
          </a:p>
        </p:txBody>
      </p:sp>
      <p:sp>
        <p:nvSpPr>
          <p:cNvPr id="42" name="Text 38"/>
          <p:cNvSpPr txBox="1"/>
          <p:nvPr/>
        </p:nvSpPr>
        <p:spPr>
          <a:xfrm>
            <a:off x="4251960" y="5102352"/>
            <a:ext cx="2011680" cy="256032"/>
          </a:xfrm>
          <a:prstGeom prst="rect">
            <a:avLst/>
          </a:prstGeom>
          <a:noFill/>
          <a:ln/>
        </p:spPr>
        <p:txBody>
          <a:bodyPr wrap="square" lIns="0" tIns="0" rIns="0" bIns="0" rtlCol="0" anchor="t"/>
          <a:lstStyle/>
          <a:p>
            <a:pPr indent="0" marL="0">
              <a:buNone/>
            </a:pPr>
            <a:r>
              <a:rPr lang="en-US" sz="1200" b="1" dirty="0">
                <a:solidFill>
                  <a:schemeClr val="bg2"/>
                </a:solidFill>
              </a:rPr>
              <a:t>Domain</a:t>
            </a:r>
            <a:endParaRPr lang="en-US" sz="1200" dirty="0"/>
          </a:p>
        </p:txBody>
      </p:sp>
      <p:sp>
        <p:nvSpPr>
          <p:cNvPr id="43" name="Text 39"/>
          <p:cNvSpPr txBox="1"/>
          <p:nvPr/>
        </p:nvSpPr>
        <p:spPr>
          <a:xfrm>
            <a:off x="6355080" y="5102352"/>
            <a:ext cx="2011680" cy="256032"/>
          </a:xfrm>
          <a:prstGeom prst="rect">
            <a:avLst/>
          </a:prstGeom>
          <a:noFill/>
          <a:ln/>
        </p:spPr>
        <p:txBody>
          <a:bodyPr wrap="square" lIns="0" tIns="0" rIns="0" bIns="0" rtlCol="0" anchor="t"/>
          <a:lstStyle/>
          <a:p>
            <a:pPr indent="0" marL="0">
              <a:buNone/>
            </a:pPr>
            <a:r>
              <a:rPr lang="en-US" sz="1200" b="1" dirty="0">
                <a:solidFill>
                  <a:schemeClr val="bg2"/>
                </a:solidFill>
              </a:rPr>
              <a:t>Rule</a:t>
            </a:r>
            <a:endParaRPr lang="en-US" sz="1200" dirty="0"/>
          </a:p>
        </p:txBody>
      </p:sp>
      <p:sp>
        <p:nvSpPr>
          <p:cNvPr id="44" name="Text 40"/>
          <p:cNvSpPr txBox="1"/>
          <p:nvPr/>
        </p:nvSpPr>
        <p:spPr>
          <a:xfrm>
            <a:off x="7132320" y="5102352"/>
            <a:ext cx="2011680" cy="256032"/>
          </a:xfrm>
          <a:prstGeom prst="rect">
            <a:avLst/>
          </a:prstGeom>
          <a:noFill/>
          <a:ln/>
        </p:spPr>
        <p:txBody>
          <a:bodyPr wrap="square" lIns="0" tIns="0" rIns="0" bIns="0" rtlCol="0" anchor="t"/>
          <a:lstStyle/>
          <a:p>
            <a:pPr indent="0" marL="0">
              <a:buNone/>
            </a:pPr>
            <a:r>
              <a:rPr lang="en-US" sz="1200" b="1" dirty="0">
                <a:solidFill>
                  <a:schemeClr val="bg2"/>
                </a:solidFill>
              </a:rPr>
              <a:t>Evidence</a:t>
            </a:r>
            <a:endParaRPr lang="en-US" sz="1200" dirty="0"/>
          </a:p>
        </p:txBody>
      </p:sp>
      <p:sp>
        <p:nvSpPr>
          <p:cNvPr id="45" name="Text 41"/>
          <p:cNvSpPr txBox="1"/>
          <p:nvPr/>
        </p:nvSpPr>
        <p:spPr>
          <a:xfrm>
            <a:off x="10728655" y="5102352"/>
            <a:ext cx="2011680" cy="256032"/>
          </a:xfrm>
          <a:prstGeom prst="rect">
            <a:avLst/>
          </a:prstGeom>
          <a:noFill/>
          <a:ln/>
        </p:spPr>
        <p:txBody>
          <a:bodyPr wrap="square" lIns="0" tIns="0" rIns="0" bIns="0" rtlCol="0" anchor="t"/>
          <a:lstStyle/>
          <a:p>
            <a:pPr indent="0" marL="0">
              <a:buNone/>
            </a:pPr>
            <a:r>
              <a:rPr lang="en-US" sz="1200" b="1" dirty="0">
                <a:solidFill>
                  <a:schemeClr val="bg2"/>
                </a:solidFill>
              </a:rPr>
              <a:t>Time</a:t>
            </a:r>
            <a:endParaRPr lang="en-US" sz="1200" dirty="0"/>
          </a:p>
        </p:txBody>
      </p:sp>
      <p:sp>
        <p:nvSpPr>
          <p:cNvPr id="46" name="Shape 42"/>
          <p:cNvSpPr/>
          <p:nvPr/>
        </p:nvSpPr>
        <p:spPr>
          <a:xfrm>
            <a:off x="3090672" y="5413248"/>
            <a:ext cx="914400" cy="256032"/>
          </a:xfrm>
          <a:prstGeom prst="roundRect">
            <a:avLst>
              <a:gd name="adj" fmla="val 42857"/>
            </a:avLst>
          </a:prstGeom>
          <a:solidFill>
            <a:srgbClr val="F59E0B"/>
          </a:solidFill>
          <a:ln/>
        </p:spPr>
      </p:sp>
      <p:sp>
        <p:nvSpPr>
          <p:cNvPr id="47" name="Text 43"/>
          <p:cNvSpPr txBox="1"/>
          <p:nvPr/>
        </p:nvSpPr>
        <p:spPr>
          <a:xfrm>
            <a:off x="3090672" y="5413248"/>
            <a:ext cx="914400" cy="256032"/>
          </a:xfrm>
          <a:prstGeom prst="rect">
            <a:avLst/>
          </a:prstGeom>
          <a:noFill/>
          <a:ln/>
        </p:spPr>
        <p:txBody>
          <a:bodyPr wrap="square" lIns="0" tIns="0" rIns="0" bIns="0" rtlCol="0" anchor="ctr"/>
          <a:lstStyle/>
          <a:p>
            <a:pPr algn="ctr" indent="0" marL="0">
              <a:buNone/>
            </a:pPr>
            <a:r>
              <a:rPr lang="en-US" sz="1100" b="1" dirty="0">
                <a:solidFill>
                  <a:schemeClr val="tx1"/>
                </a:solidFill>
              </a:rPr>
              <a:t>MEDIUM</a:t>
            </a:r>
            <a:endParaRPr lang="en-US" sz="1100" dirty="0"/>
          </a:p>
        </p:txBody>
      </p:sp>
      <p:sp>
        <p:nvSpPr>
          <p:cNvPr id="48" name="Text 44"/>
          <p:cNvSpPr txBox="1"/>
          <p:nvPr/>
        </p:nvSpPr>
        <p:spPr>
          <a:xfrm>
            <a:off x="4251960" y="5394960"/>
            <a:ext cx="2057400" cy="292608"/>
          </a:xfrm>
          <a:prstGeom prst="rect">
            <a:avLst/>
          </a:prstGeom>
          <a:noFill/>
          <a:ln/>
        </p:spPr>
        <p:txBody>
          <a:bodyPr wrap="square" lIns="0" tIns="0" rIns="0" bIns="0" rtlCol="0" anchor="ctr"/>
          <a:lstStyle/>
          <a:p>
            <a:pPr indent="0" marL="0">
              <a:buNone/>
            </a:pPr>
            <a:r>
              <a:rPr lang="en-US" sz="1200" dirty="0">
                <a:solidFill>
                  <a:schemeClr val="bg1"/>
                </a:solidFill>
              </a:rPr>
              <a:t>shop.example.net</a:t>
            </a:r>
            <a:endParaRPr lang="en-US" sz="1200" dirty="0"/>
          </a:p>
        </p:txBody>
      </p:sp>
      <p:sp>
        <p:nvSpPr>
          <p:cNvPr id="49" name="Text 45"/>
          <p:cNvSpPr txBox="1"/>
          <p:nvPr/>
        </p:nvSpPr>
        <p:spPr>
          <a:xfrm>
            <a:off x="6355080" y="5394960"/>
            <a:ext cx="640080" cy="292608"/>
          </a:xfrm>
          <a:prstGeom prst="rect">
            <a:avLst/>
          </a:prstGeom>
          <a:noFill/>
          <a:ln/>
        </p:spPr>
        <p:txBody>
          <a:bodyPr wrap="square" lIns="0" tIns="0" rIns="0" bIns="0" rtlCol="0" anchor="ctr"/>
          <a:lstStyle/>
          <a:p>
            <a:pPr indent="0" marL="0">
              <a:buNone/>
            </a:pPr>
            <a:r>
              <a:rPr lang="en-US" sz="1200" dirty="0">
                <a:solidFill>
                  <a:schemeClr val="bg1"/>
                </a:solidFill>
              </a:rPr>
              <a:t>R2</a:t>
            </a:r>
            <a:endParaRPr lang="en-US" sz="1200" dirty="0"/>
          </a:p>
        </p:txBody>
      </p:sp>
      <p:sp>
        <p:nvSpPr>
          <p:cNvPr id="50" name="Text 46"/>
          <p:cNvSpPr txBox="1"/>
          <p:nvPr/>
        </p:nvSpPr>
        <p:spPr>
          <a:xfrm>
            <a:off x="7132320" y="5394960"/>
            <a:ext cx="3504895" cy="292608"/>
          </a:xfrm>
          <a:prstGeom prst="rect">
            <a:avLst/>
          </a:prstGeom>
          <a:noFill/>
          <a:ln/>
        </p:spPr>
        <p:txBody>
          <a:bodyPr wrap="square" lIns="0" tIns="0" rIns="0" bIns="0" rtlCol="0" anchor="ctr"/>
          <a:lstStyle/>
          <a:p>
            <a:pPr indent="0" marL="0">
              <a:buNone/>
            </a:pPr>
            <a:r>
              <a:rPr lang="en-US" sz="1200" dirty="0">
                <a:solidFill>
                  <a:schemeClr val="bg1"/>
                </a:solidFill>
              </a:rPr>
              <a:t>Resolvers returned different networks</a:t>
            </a:r>
            <a:endParaRPr lang="en-US" sz="1200" dirty="0"/>
          </a:p>
        </p:txBody>
      </p:sp>
      <p:sp>
        <p:nvSpPr>
          <p:cNvPr id="51" name="Text 47"/>
          <p:cNvSpPr txBox="1"/>
          <p:nvPr/>
        </p:nvSpPr>
        <p:spPr>
          <a:xfrm>
            <a:off x="10728655" y="5394960"/>
            <a:ext cx="640080" cy="292608"/>
          </a:xfrm>
          <a:prstGeom prst="rect">
            <a:avLst/>
          </a:prstGeom>
          <a:noFill/>
          <a:ln/>
        </p:spPr>
        <p:txBody>
          <a:bodyPr wrap="square" lIns="0" tIns="0" rIns="0" bIns="0" rtlCol="0" anchor="ctr"/>
          <a:lstStyle/>
          <a:p>
            <a:pPr indent="0" marL="0">
              <a:buNone/>
            </a:pPr>
            <a:r>
              <a:rPr lang="en-US" sz="1200" dirty="0">
                <a:solidFill>
                  <a:schemeClr val="bg1"/>
                </a:solidFill>
              </a:rPr>
              <a:t>10:42</a:t>
            </a:r>
            <a:endParaRPr lang="en-US" sz="1200" dirty="0"/>
          </a:p>
        </p:txBody>
      </p:sp>
      <p:sp>
        <p:nvSpPr>
          <p:cNvPr id="52" name="Shape 48"/>
          <p:cNvSpPr/>
          <p:nvPr/>
        </p:nvSpPr>
        <p:spPr>
          <a:xfrm>
            <a:off x="3090672" y="5760720"/>
            <a:ext cx="914400" cy="256032"/>
          </a:xfrm>
          <a:prstGeom prst="roundRect">
            <a:avLst>
              <a:gd name="adj" fmla="val 42857"/>
            </a:avLst>
          </a:prstGeom>
          <a:solidFill>
            <a:srgbClr val="EF4444"/>
          </a:solidFill>
          <a:ln/>
        </p:spPr>
      </p:sp>
      <p:sp>
        <p:nvSpPr>
          <p:cNvPr id="53" name="Text 49"/>
          <p:cNvSpPr txBox="1"/>
          <p:nvPr/>
        </p:nvSpPr>
        <p:spPr>
          <a:xfrm>
            <a:off x="3090672" y="5760720"/>
            <a:ext cx="914400" cy="256032"/>
          </a:xfrm>
          <a:prstGeom prst="rect">
            <a:avLst/>
          </a:prstGeom>
          <a:noFill/>
          <a:ln/>
        </p:spPr>
        <p:txBody>
          <a:bodyPr wrap="square" lIns="0" tIns="0" rIns="0" bIns="0" rtlCol="0" anchor="ctr"/>
          <a:lstStyle/>
          <a:p>
            <a:pPr algn="ctr" indent="0" marL="0">
              <a:buNone/>
            </a:pPr>
            <a:r>
              <a:rPr lang="en-US" sz="1100" b="1" dirty="0">
                <a:solidFill>
                  <a:schemeClr val="tx1"/>
                </a:solidFill>
              </a:rPr>
              <a:t>HIGH</a:t>
            </a:r>
            <a:endParaRPr lang="en-US" sz="1100" dirty="0"/>
          </a:p>
        </p:txBody>
      </p:sp>
      <p:sp>
        <p:nvSpPr>
          <p:cNvPr id="54" name="Text 50"/>
          <p:cNvSpPr txBox="1"/>
          <p:nvPr/>
        </p:nvSpPr>
        <p:spPr>
          <a:xfrm>
            <a:off x="4251960" y="5742432"/>
            <a:ext cx="2057400" cy="292608"/>
          </a:xfrm>
          <a:prstGeom prst="rect">
            <a:avLst/>
          </a:prstGeom>
          <a:noFill/>
          <a:ln/>
        </p:spPr>
        <p:txBody>
          <a:bodyPr wrap="square" lIns="0" tIns="0" rIns="0" bIns="0" rtlCol="0" anchor="ctr"/>
          <a:lstStyle/>
          <a:p>
            <a:pPr indent="0" marL="0">
              <a:buNone/>
            </a:pPr>
            <a:r>
              <a:rPr lang="en-US" sz="1200" dirty="0">
                <a:solidFill>
                  <a:schemeClr val="bg1"/>
                </a:solidFill>
              </a:rPr>
              <a:t>demo.example.com (sim.)</a:t>
            </a:r>
            <a:endParaRPr lang="en-US" sz="1200" dirty="0"/>
          </a:p>
        </p:txBody>
      </p:sp>
      <p:sp>
        <p:nvSpPr>
          <p:cNvPr id="55" name="Text 51"/>
          <p:cNvSpPr txBox="1"/>
          <p:nvPr/>
        </p:nvSpPr>
        <p:spPr>
          <a:xfrm>
            <a:off x="6355080" y="5742432"/>
            <a:ext cx="640080" cy="292608"/>
          </a:xfrm>
          <a:prstGeom prst="rect">
            <a:avLst/>
          </a:prstGeom>
          <a:noFill/>
          <a:ln/>
        </p:spPr>
        <p:txBody>
          <a:bodyPr wrap="square" lIns="0" tIns="0" rIns="0" bIns="0" rtlCol="0" anchor="ctr"/>
          <a:lstStyle/>
          <a:p>
            <a:pPr indent="0" marL="0">
              <a:buNone/>
            </a:pPr>
            <a:r>
              <a:rPr lang="en-US" sz="1200" dirty="0">
                <a:solidFill>
                  <a:schemeClr val="bg1"/>
                </a:solidFill>
              </a:rPr>
              <a:t>R6</a:t>
            </a:r>
            <a:endParaRPr lang="en-US" sz="1200" dirty="0"/>
          </a:p>
        </p:txBody>
      </p:sp>
      <p:sp>
        <p:nvSpPr>
          <p:cNvPr id="56" name="Text 52"/>
          <p:cNvSpPr txBox="1"/>
          <p:nvPr/>
        </p:nvSpPr>
        <p:spPr>
          <a:xfrm>
            <a:off x="7132320" y="5742432"/>
            <a:ext cx="3504895" cy="292608"/>
          </a:xfrm>
          <a:prstGeom prst="rect">
            <a:avLst/>
          </a:prstGeom>
          <a:noFill/>
          <a:ln/>
        </p:spPr>
        <p:txBody>
          <a:bodyPr wrap="square" lIns="0" tIns="0" rIns="0" bIns="0" rtlCol="0" anchor="ctr"/>
          <a:lstStyle/>
          <a:p>
            <a:pPr indent="0" marL="0">
              <a:buNone/>
            </a:pPr>
            <a:r>
              <a:rPr lang="en-US" sz="1200" dirty="0">
                <a:solidFill>
                  <a:schemeClr val="bg1"/>
                </a:solidFill>
              </a:rPr>
              <a:t>Private address 10.0.0.5 in answer</a:t>
            </a:r>
            <a:endParaRPr lang="en-US" sz="1200" dirty="0"/>
          </a:p>
        </p:txBody>
      </p:sp>
      <p:sp>
        <p:nvSpPr>
          <p:cNvPr id="57" name="Text 53"/>
          <p:cNvSpPr txBox="1"/>
          <p:nvPr/>
        </p:nvSpPr>
        <p:spPr>
          <a:xfrm>
            <a:off x="10728655" y="5742432"/>
            <a:ext cx="640080" cy="292608"/>
          </a:xfrm>
          <a:prstGeom prst="rect">
            <a:avLst/>
          </a:prstGeom>
          <a:noFill/>
          <a:ln/>
        </p:spPr>
        <p:txBody>
          <a:bodyPr wrap="square" lIns="0" tIns="0" rIns="0" bIns="0" rtlCol="0" anchor="ctr"/>
          <a:lstStyle/>
          <a:p>
            <a:pPr indent="0" marL="0">
              <a:buNone/>
            </a:pPr>
            <a:r>
              <a:rPr lang="en-US" sz="1200" dirty="0">
                <a:solidFill>
                  <a:schemeClr val="bg1"/>
                </a:solidFill>
              </a:rPr>
              <a:t>09:15</a:t>
            </a:r>
            <a:endParaRPr lang="en-US" sz="1200" dirty="0"/>
          </a:p>
        </p:txBody>
      </p:sp>
      <p:sp>
        <p:nvSpPr>
          <p:cNvPr id="58" name="Text 54"/>
          <p:cNvSpPr txBox="1"/>
          <p:nvPr/>
        </p:nvSpPr>
        <p:spPr>
          <a:xfrm>
            <a:off x="7528255" y="502920"/>
            <a:ext cx="4114800" cy="365760"/>
          </a:xfrm>
          <a:prstGeom prst="rect">
            <a:avLst/>
          </a:prstGeom>
          <a:noFill/>
          <a:ln/>
        </p:spPr>
        <p:txBody>
          <a:bodyPr wrap="square" lIns="0" tIns="0" rIns="0" bIns="0" rtlCol="0" anchor="t"/>
          <a:lstStyle/>
          <a:p>
            <a:pPr algn="r" indent="0" marL="0">
              <a:buNone/>
            </a:pPr>
            <a:r>
              <a:rPr lang="en-US" sz="1300" i="1" dirty="0">
                <a:solidFill>
                  <a:schemeClr val="bg2"/>
                </a:solidFill>
              </a:rPr>
              <a:t>Illustrative mockup · placeholder data</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Technology stack</a:t>
            </a:r>
            <a:endParaRPr lang="en-US" sz="3200" dirty="0"/>
          </a:p>
        </p:txBody>
      </p:sp>
      <p:sp>
        <p:nvSpPr>
          <p:cNvPr id="3" name="Shape 1"/>
          <p:cNvSpPr/>
          <p:nvPr/>
        </p:nvSpPr>
        <p:spPr>
          <a:xfrm>
            <a:off x="548640" y="1325880"/>
            <a:ext cx="2606040" cy="1325880"/>
          </a:xfrm>
          <a:prstGeom prst="roundRect">
            <a:avLst>
              <a:gd name="adj" fmla="val 8276"/>
            </a:avLst>
          </a:prstGeom>
          <a:solidFill>
            <a:schemeClr val="tx2"/>
          </a:solidFill>
          <a:ln/>
        </p:spPr>
      </p:sp>
      <p:sp>
        <p:nvSpPr>
          <p:cNvPr id="4" name="Shape 2"/>
          <p:cNvSpPr/>
          <p:nvPr/>
        </p:nvSpPr>
        <p:spPr>
          <a:xfrm>
            <a:off x="731520" y="1645920"/>
            <a:ext cx="685800" cy="685800"/>
          </a:xfrm>
          <a:prstGeom prst="ellipse">
            <a:avLst/>
          </a:prstGeom>
          <a:solidFill>
            <a:srgbClr val="A78BFA"/>
          </a:solidFill>
          <a:ln/>
        </p:spPr>
      </p:sp>
      <p:pic>
        <p:nvPicPr>
          <p:cNvPr id="5" name="Image 0" descr="preencoded.png">    </p:cNvPr>
          <p:cNvPicPr>
            <a:picLocks noChangeAspect="1"/>
          </p:cNvPicPr>
          <p:nvPr/>
        </p:nvPicPr>
        <p:blipFill>
          <a:blip r:embed="rId1"/>
          <a:stretch>
            <a:fillRect/>
          </a:stretch>
        </p:blipFill>
        <p:spPr>
          <a:xfrm>
            <a:off x="896112" y="1810512"/>
            <a:ext cx="356616" cy="356616"/>
          </a:xfrm>
          <a:prstGeom prst="rect">
            <a:avLst/>
          </a:prstGeom>
        </p:spPr>
      </p:pic>
      <p:sp>
        <p:nvSpPr>
          <p:cNvPr id="6" name="Text 3"/>
          <p:cNvSpPr txBox="1"/>
          <p:nvPr/>
        </p:nvSpPr>
        <p:spPr>
          <a:xfrm>
            <a:off x="1554480" y="1417320"/>
            <a:ext cx="1508760" cy="566928"/>
          </a:xfrm>
          <a:prstGeom prst="rect">
            <a:avLst/>
          </a:prstGeom>
          <a:noFill/>
          <a:ln/>
        </p:spPr>
        <p:txBody>
          <a:bodyPr wrap="square" lIns="0" tIns="0" rIns="0" bIns="0" rtlCol="0" anchor="b"/>
          <a:lstStyle/>
          <a:p>
            <a:pPr indent="0" marL="0">
              <a:buNone/>
            </a:pPr>
            <a:r>
              <a:rPr lang="en-US" sz="1500" b="1" dirty="0">
                <a:solidFill>
                  <a:schemeClr val="bg1"/>
                </a:solidFill>
              </a:rPr>
              <a:t>React + TypeScript</a:t>
            </a:r>
            <a:endParaRPr lang="en-US" sz="1500" dirty="0"/>
          </a:p>
        </p:txBody>
      </p:sp>
      <p:sp>
        <p:nvSpPr>
          <p:cNvPr id="7" name="Text 4"/>
          <p:cNvSpPr txBox="1"/>
          <p:nvPr/>
        </p:nvSpPr>
        <p:spPr>
          <a:xfrm>
            <a:off x="1554480" y="2039112"/>
            <a:ext cx="1508760" cy="548640"/>
          </a:xfrm>
          <a:prstGeom prst="rect">
            <a:avLst/>
          </a:prstGeom>
          <a:noFill/>
          <a:ln/>
        </p:spPr>
        <p:txBody>
          <a:bodyPr wrap="square" lIns="0" tIns="0" rIns="0" bIns="0" rtlCol="0" anchor="t"/>
          <a:lstStyle/>
          <a:p>
            <a:pPr indent="0" marL="0">
              <a:buNone/>
            </a:pPr>
            <a:r>
              <a:rPr lang="en-US" sz="1300" dirty="0">
                <a:solidFill>
                  <a:schemeClr val="bg2"/>
                </a:solidFill>
              </a:rPr>
              <a:t>Frontend pages and components</a:t>
            </a:r>
            <a:endParaRPr lang="en-US" sz="1300" dirty="0"/>
          </a:p>
        </p:txBody>
      </p:sp>
      <p:sp>
        <p:nvSpPr>
          <p:cNvPr id="8" name="Shape 5"/>
          <p:cNvSpPr/>
          <p:nvPr/>
        </p:nvSpPr>
        <p:spPr>
          <a:xfrm>
            <a:off x="3392424" y="1325880"/>
            <a:ext cx="2606040" cy="1325880"/>
          </a:xfrm>
          <a:prstGeom prst="roundRect">
            <a:avLst>
              <a:gd name="adj" fmla="val 8276"/>
            </a:avLst>
          </a:prstGeom>
          <a:solidFill>
            <a:schemeClr val="tx2"/>
          </a:solidFill>
          <a:ln/>
        </p:spPr>
      </p:sp>
      <p:sp>
        <p:nvSpPr>
          <p:cNvPr id="9" name="Shape 6"/>
          <p:cNvSpPr/>
          <p:nvPr/>
        </p:nvSpPr>
        <p:spPr>
          <a:xfrm>
            <a:off x="3575304" y="1645920"/>
            <a:ext cx="685800" cy="685800"/>
          </a:xfrm>
          <a:prstGeom prst="ellipse">
            <a:avLst/>
          </a:prstGeom>
          <a:solidFill>
            <a:srgbClr val="A78BFA"/>
          </a:solidFill>
          <a:ln/>
        </p:spPr>
      </p:sp>
      <p:pic>
        <p:nvPicPr>
          <p:cNvPr id="10" name="Image 1" descr="preencoded.png">    </p:cNvPr>
          <p:cNvPicPr>
            <a:picLocks noChangeAspect="1"/>
          </p:cNvPicPr>
          <p:nvPr/>
        </p:nvPicPr>
        <p:blipFill>
          <a:blip r:embed="rId2"/>
          <a:stretch>
            <a:fillRect/>
          </a:stretch>
        </p:blipFill>
        <p:spPr>
          <a:xfrm>
            <a:off x="3739896" y="1810512"/>
            <a:ext cx="356616" cy="356616"/>
          </a:xfrm>
          <a:prstGeom prst="rect">
            <a:avLst/>
          </a:prstGeom>
        </p:spPr>
      </p:pic>
      <p:sp>
        <p:nvSpPr>
          <p:cNvPr id="11" name="Text 7"/>
          <p:cNvSpPr txBox="1"/>
          <p:nvPr/>
        </p:nvSpPr>
        <p:spPr>
          <a:xfrm>
            <a:off x="4398264" y="1417320"/>
            <a:ext cx="1508760" cy="566928"/>
          </a:xfrm>
          <a:prstGeom prst="rect">
            <a:avLst/>
          </a:prstGeom>
          <a:noFill/>
          <a:ln/>
        </p:spPr>
        <p:txBody>
          <a:bodyPr wrap="square" lIns="0" tIns="0" rIns="0" bIns="0" rtlCol="0" anchor="b"/>
          <a:lstStyle/>
          <a:p>
            <a:pPr indent="0" marL="0">
              <a:buNone/>
            </a:pPr>
            <a:r>
              <a:rPr lang="en-US" sz="1500" b="1" dirty="0">
                <a:solidFill>
                  <a:schemeClr val="bg1"/>
                </a:solidFill>
              </a:rPr>
              <a:t>Tailwind CSS</a:t>
            </a:r>
            <a:endParaRPr lang="en-US" sz="1500" dirty="0"/>
          </a:p>
        </p:txBody>
      </p:sp>
      <p:sp>
        <p:nvSpPr>
          <p:cNvPr id="12" name="Text 8"/>
          <p:cNvSpPr txBox="1"/>
          <p:nvPr/>
        </p:nvSpPr>
        <p:spPr>
          <a:xfrm>
            <a:off x="4398264" y="2039112"/>
            <a:ext cx="1508760" cy="548640"/>
          </a:xfrm>
          <a:prstGeom prst="rect">
            <a:avLst/>
          </a:prstGeom>
          <a:noFill/>
          <a:ln/>
        </p:spPr>
        <p:txBody>
          <a:bodyPr wrap="square" lIns="0" tIns="0" rIns="0" bIns="0" rtlCol="0" anchor="t"/>
          <a:lstStyle/>
          <a:p>
            <a:pPr indent="0" marL="0">
              <a:buNone/>
            </a:pPr>
            <a:r>
              <a:rPr lang="en-US" sz="1300" dirty="0">
                <a:solidFill>
                  <a:schemeClr val="bg2"/>
                </a:solidFill>
              </a:rPr>
              <a:t>Consistent dark-theme styling</a:t>
            </a:r>
            <a:endParaRPr lang="en-US" sz="1300" dirty="0"/>
          </a:p>
        </p:txBody>
      </p:sp>
      <p:sp>
        <p:nvSpPr>
          <p:cNvPr id="13" name="Shape 9"/>
          <p:cNvSpPr/>
          <p:nvPr/>
        </p:nvSpPr>
        <p:spPr>
          <a:xfrm>
            <a:off x="6236208" y="1325880"/>
            <a:ext cx="2606040" cy="1325880"/>
          </a:xfrm>
          <a:prstGeom prst="roundRect">
            <a:avLst>
              <a:gd name="adj" fmla="val 8276"/>
            </a:avLst>
          </a:prstGeom>
          <a:solidFill>
            <a:schemeClr val="tx2"/>
          </a:solidFill>
          <a:ln/>
        </p:spPr>
      </p:sp>
      <p:sp>
        <p:nvSpPr>
          <p:cNvPr id="14" name="Shape 10"/>
          <p:cNvSpPr/>
          <p:nvPr/>
        </p:nvSpPr>
        <p:spPr>
          <a:xfrm>
            <a:off x="6419088" y="1645920"/>
            <a:ext cx="685800" cy="685800"/>
          </a:xfrm>
          <a:prstGeom prst="ellipse">
            <a:avLst/>
          </a:prstGeom>
          <a:solidFill>
            <a:srgbClr val="A78BFA"/>
          </a:solidFill>
          <a:ln/>
        </p:spPr>
      </p:sp>
      <p:pic>
        <p:nvPicPr>
          <p:cNvPr id="15" name="Image 2" descr="preencoded.png">    </p:cNvPr>
          <p:cNvPicPr>
            <a:picLocks noChangeAspect="1"/>
          </p:cNvPicPr>
          <p:nvPr/>
        </p:nvPicPr>
        <p:blipFill>
          <a:blip r:embed="rId3"/>
          <a:stretch>
            <a:fillRect/>
          </a:stretch>
        </p:blipFill>
        <p:spPr>
          <a:xfrm>
            <a:off x="6583680" y="1810512"/>
            <a:ext cx="356616" cy="356616"/>
          </a:xfrm>
          <a:prstGeom prst="rect">
            <a:avLst/>
          </a:prstGeom>
        </p:spPr>
      </p:pic>
      <p:sp>
        <p:nvSpPr>
          <p:cNvPr id="16" name="Text 11"/>
          <p:cNvSpPr txBox="1"/>
          <p:nvPr/>
        </p:nvSpPr>
        <p:spPr>
          <a:xfrm>
            <a:off x="7242048" y="1417320"/>
            <a:ext cx="1508760" cy="566928"/>
          </a:xfrm>
          <a:prstGeom prst="rect">
            <a:avLst/>
          </a:prstGeom>
          <a:noFill/>
          <a:ln/>
        </p:spPr>
        <p:txBody>
          <a:bodyPr wrap="square" lIns="0" tIns="0" rIns="0" bIns="0" rtlCol="0" anchor="b"/>
          <a:lstStyle/>
          <a:p>
            <a:pPr indent="0" marL="0">
              <a:buNone/>
            </a:pPr>
            <a:r>
              <a:rPr lang="en-US" sz="1500" b="1" dirty="0">
                <a:solidFill>
                  <a:schemeClr val="bg1"/>
                </a:solidFill>
              </a:rPr>
              <a:t>Recharts</a:t>
            </a:r>
            <a:endParaRPr lang="en-US" sz="1500" dirty="0"/>
          </a:p>
        </p:txBody>
      </p:sp>
      <p:sp>
        <p:nvSpPr>
          <p:cNvPr id="17" name="Text 12"/>
          <p:cNvSpPr txBox="1"/>
          <p:nvPr/>
        </p:nvSpPr>
        <p:spPr>
          <a:xfrm>
            <a:off x="7242048" y="2039112"/>
            <a:ext cx="1508760" cy="548640"/>
          </a:xfrm>
          <a:prstGeom prst="rect">
            <a:avLst/>
          </a:prstGeom>
          <a:noFill/>
          <a:ln/>
        </p:spPr>
        <p:txBody>
          <a:bodyPr wrap="square" lIns="0" tIns="0" rIns="0" bIns="0" rtlCol="0" anchor="t"/>
          <a:lstStyle/>
          <a:p>
            <a:pPr indent="0" marL="0">
              <a:buNone/>
            </a:pPr>
            <a:r>
              <a:rPr lang="en-US" sz="1300" dirty="0">
                <a:solidFill>
                  <a:schemeClr val="bg2"/>
                </a:solidFill>
              </a:rPr>
              <a:t>Activity and TTL trend charts</a:t>
            </a:r>
            <a:endParaRPr lang="en-US" sz="1300" dirty="0"/>
          </a:p>
        </p:txBody>
      </p:sp>
      <p:sp>
        <p:nvSpPr>
          <p:cNvPr id="18" name="Shape 13"/>
          <p:cNvSpPr/>
          <p:nvPr/>
        </p:nvSpPr>
        <p:spPr>
          <a:xfrm>
            <a:off x="9079992" y="1325880"/>
            <a:ext cx="2606040" cy="1325880"/>
          </a:xfrm>
          <a:prstGeom prst="roundRect">
            <a:avLst>
              <a:gd name="adj" fmla="val 8276"/>
            </a:avLst>
          </a:prstGeom>
          <a:solidFill>
            <a:schemeClr val="tx2"/>
          </a:solidFill>
          <a:ln/>
        </p:spPr>
      </p:sp>
      <p:sp>
        <p:nvSpPr>
          <p:cNvPr id="19" name="Shape 14"/>
          <p:cNvSpPr/>
          <p:nvPr/>
        </p:nvSpPr>
        <p:spPr>
          <a:xfrm>
            <a:off x="9262872" y="1645920"/>
            <a:ext cx="685800" cy="685800"/>
          </a:xfrm>
          <a:prstGeom prst="ellipse">
            <a:avLst/>
          </a:prstGeom>
          <a:solidFill>
            <a:srgbClr val="14B8A6"/>
          </a:solidFill>
          <a:ln/>
        </p:spPr>
      </p:sp>
      <p:pic>
        <p:nvPicPr>
          <p:cNvPr id="20" name="Image 3" descr="preencoded.png">    </p:cNvPr>
          <p:cNvPicPr>
            <a:picLocks noChangeAspect="1"/>
          </p:cNvPicPr>
          <p:nvPr/>
        </p:nvPicPr>
        <p:blipFill>
          <a:blip r:embed="rId4"/>
          <a:stretch>
            <a:fillRect/>
          </a:stretch>
        </p:blipFill>
        <p:spPr>
          <a:xfrm>
            <a:off x="9427464" y="1810512"/>
            <a:ext cx="356616" cy="356616"/>
          </a:xfrm>
          <a:prstGeom prst="rect">
            <a:avLst/>
          </a:prstGeom>
        </p:spPr>
      </p:pic>
      <p:sp>
        <p:nvSpPr>
          <p:cNvPr id="21" name="Text 15"/>
          <p:cNvSpPr txBox="1"/>
          <p:nvPr/>
        </p:nvSpPr>
        <p:spPr>
          <a:xfrm>
            <a:off x="10085832" y="1417320"/>
            <a:ext cx="1508760" cy="566928"/>
          </a:xfrm>
          <a:prstGeom prst="rect">
            <a:avLst/>
          </a:prstGeom>
          <a:noFill/>
          <a:ln/>
        </p:spPr>
        <p:txBody>
          <a:bodyPr wrap="square" lIns="0" tIns="0" rIns="0" bIns="0" rtlCol="0" anchor="b"/>
          <a:lstStyle/>
          <a:p>
            <a:pPr indent="0" marL="0">
              <a:buNone/>
            </a:pPr>
            <a:r>
              <a:rPr lang="en-US" sz="1500" b="1" dirty="0">
                <a:solidFill>
                  <a:schemeClr val="bg1"/>
                </a:solidFill>
              </a:rPr>
              <a:t>FastAPI</a:t>
            </a:r>
            <a:endParaRPr lang="en-US" sz="1500" dirty="0"/>
          </a:p>
        </p:txBody>
      </p:sp>
      <p:sp>
        <p:nvSpPr>
          <p:cNvPr id="22" name="Text 16"/>
          <p:cNvSpPr txBox="1"/>
          <p:nvPr/>
        </p:nvSpPr>
        <p:spPr>
          <a:xfrm>
            <a:off x="10085832" y="2039112"/>
            <a:ext cx="1508760" cy="548640"/>
          </a:xfrm>
          <a:prstGeom prst="rect">
            <a:avLst/>
          </a:prstGeom>
          <a:noFill/>
          <a:ln/>
        </p:spPr>
        <p:txBody>
          <a:bodyPr wrap="square" lIns="0" tIns="0" rIns="0" bIns="0" rtlCol="0" anchor="t"/>
          <a:lstStyle/>
          <a:p>
            <a:pPr indent="0" marL="0">
              <a:buNone/>
            </a:pPr>
            <a:r>
              <a:rPr lang="en-US" sz="1300" dirty="0">
                <a:solidFill>
                  <a:schemeClr val="bg2"/>
                </a:solidFill>
              </a:rPr>
              <a:t>Backend REST API and validation</a:t>
            </a:r>
            <a:endParaRPr lang="en-US" sz="1300" dirty="0"/>
          </a:p>
        </p:txBody>
      </p:sp>
      <p:sp>
        <p:nvSpPr>
          <p:cNvPr id="23" name="Shape 17"/>
          <p:cNvSpPr/>
          <p:nvPr/>
        </p:nvSpPr>
        <p:spPr>
          <a:xfrm>
            <a:off x="1970532" y="2880360"/>
            <a:ext cx="2606040" cy="1325880"/>
          </a:xfrm>
          <a:prstGeom prst="roundRect">
            <a:avLst>
              <a:gd name="adj" fmla="val 8276"/>
            </a:avLst>
          </a:prstGeom>
          <a:solidFill>
            <a:schemeClr val="tx2"/>
          </a:solidFill>
          <a:ln/>
        </p:spPr>
      </p:sp>
      <p:sp>
        <p:nvSpPr>
          <p:cNvPr id="24" name="Shape 18"/>
          <p:cNvSpPr/>
          <p:nvPr/>
        </p:nvSpPr>
        <p:spPr>
          <a:xfrm>
            <a:off x="2153412" y="3200400"/>
            <a:ext cx="685800" cy="685800"/>
          </a:xfrm>
          <a:prstGeom prst="ellipse">
            <a:avLst/>
          </a:prstGeom>
          <a:solidFill>
            <a:srgbClr val="22D3EE"/>
          </a:solidFill>
          <a:ln/>
        </p:spPr>
      </p:sp>
      <p:pic>
        <p:nvPicPr>
          <p:cNvPr id="25" name="Image 4" descr="preencoded.png">    </p:cNvPr>
          <p:cNvPicPr>
            <a:picLocks noChangeAspect="1"/>
          </p:cNvPicPr>
          <p:nvPr/>
        </p:nvPicPr>
        <p:blipFill>
          <a:blip r:embed="rId5"/>
          <a:stretch>
            <a:fillRect/>
          </a:stretch>
        </p:blipFill>
        <p:spPr>
          <a:xfrm>
            <a:off x="2318004" y="3364992"/>
            <a:ext cx="356616" cy="356616"/>
          </a:xfrm>
          <a:prstGeom prst="rect">
            <a:avLst/>
          </a:prstGeom>
        </p:spPr>
      </p:pic>
      <p:sp>
        <p:nvSpPr>
          <p:cNvPr id="26" name="Text 19"/>
          <p:cNvSpPr txBox="1"/>
          <p:nvPr/>
        </p:nvSpPr>
        <p:spPr>
          <a:xfrm>
            <a:off x="2976372" y="2971800"/>
            <a:ext cx="1508760" cy="566928"/>
          </a:xfrm>
          <a:prstGeom prst="rect">
            <a:avLst/>
          </a:prstGeom>
          <a:noFill/>
          <a:ln/>
        </p:spPr>
        <p:txBody>
          <a:bodyPr wrap="square" lIns="0" tIns="0" rIns="0" bIns="0" rtlCol="0" anchor="b"/>
          <a:lstStyle/>
          <a:p>
            <a:pPr indent="0" marL="0">
              <a:buNone/>
            </a:pPr>
            <a:r>
              <a:rPr lang="en-US" sz="1500" b="1" dirty="0">
                <a:solidFill>
                  <a:schemeClr val="bg1"/>
                </a:solidFill>
              </a:rPr>
              <a:t>Python + dnspython</a:t>
            </a:r>
            <a:endParaRPr lang="en-US" sz="1500" dirty="0"/>
          </a:p>
        </p:txBody>
      </p:sp>
      <p:sp>
        <p:nvSpPr>
          <p:cNvPr id="27" name="Text 20"/>
          <p:cNvSpPr txBox="1"/>
          <p:nvPr/>
        </p:nvSpPr>
        <p:spPr>
          <a:xfrm>
            <a:off x="2976372" y="3593592"/>
            <a:ext cx="1508760" cy="548640"/>
          </a:xfrm>
          <a:prstGeom prst="rect">
            <a:avLst/>
          </a:prstGeom>
          <a:noFill/>
          <a:ln/>
        </p:spPr>
        <p:txBody>
          <a:bodyPr wrap="square" lIns="0" tIns="0" rIns="0" bIns="0" rtlCol="0" anchor="t"/>
          <a:lstStyle/>
          <a:p>
            <a:pPr indent="0" marL="0">
              <a:buNone/>
            </a:pPr>
            <a:r>
              <a:rPr lang="en-US" sz="1300" dirty="0">
                <a:solidFill>
                  <a:schemeClr val="bg2"/>
                </a:solidFill>
              </a:rPr>
              <a:t>Send DNS queries, parse records</a:t>
            </a:r>
            <a:endParaRPr lang="en-US" sz="1300" dirty="0"/>
          </a:p>
        </p:txBody>
      </p:sp>
      <p:sp>
        <p:nvSpPr>
          <p:cNvPr id="28" name="Shape 21"/>
          <p:cNvSpPr/>
          <p:nvPr/>
        </p:nvSpPr>
        <p:spPr>
          <a:xfrm>
            <a:off x="4814316" y="2880360"/>
            <a:ext cx="2606040" cy="1325880"/>
          </a:xfrm>
          <a:prstGeom prst="roundRect">
            <a:avLst>
              <a:gd name="adj" fmla="val 8276"/>
            </a:avLst>
          </a:prstGeom>
          <a:solidFill>
            <a:schemeClr val="tx2"/>
          </a:solidFill>
          <a:ln/>
        </p:spPr>
      </p:sp>
      <p:sp>
        <p:nvSpPr>
          <p:cNvPr id="29" name="Shape 22"/>
          <p:cNvSpPr/>
          <p:nvPr/>
        </p:nvSpPr>
        <p:spPr>
          <a:xfrm>
            <a:off x="4997196" y="3200400"/>
            <a:ext cx="685800" cy="685800"/>
          </a:xfrm>
          <a:prstGeom prst="ellipse">
            <a:avLst/>
          </a:prstGeom>
          <a:solidFill>
            <a:srgbClr val="F59E0B"/>
          </a:solidFill>
          <a:ln/>
        </p:spPr>
      </p:sp>
      <p:pic>
        <p:nvPicPr>
          <p:cNvPr id="30" name="Image 5" descr="preencoded.png">    </p:cNvPr>
          <p:cNvPicPr>
            <a:picLocks noChangeAspect="1"/>
          </p:cNvPicPr>
          <p:nvPr/>
        </p:nvPicPr>
        <p:blipFill>
          <a:blip r:embed="rId6"/>
          <a:stretch>
            <a:fillRect/>
          </a:stretch>
        </p:blipFill>
        <p:spPr>
          <a:xfrm>
            <a:off x="5161788" y="3364992"/>
            <a:ext cx="356616" cy="356616"/>
          </a:xfrm>
          <a:prstGeom prst="rect">
            <a:avLst/>
          </a:prstGeom>
        </p:spPr>
      </p:pic>
      <p:sp>
        <p:nvSpPr>
          <p:cNvPr id="31" name="Text 23"/>
          <p:cNvSpPr txBox="1"/>
          <p:nvPr/>
        </p:nvSpPr>
        <p:spPr>
          <a:xfrm>
            <a:off x="5820156" y="2971800"/>
            <a:ext cx="1508760" cy="566928"/>
          </a:xfrm>
          <a:prstGeom prst="rect">
            <a:avLst/>
          </a:prstGeom>
          <a:noFill/>
          <a:ln/>
        </p:spPr>
        <p:txBody>
          <a:bodyPr wrap="square" lIns="0" tIns="0" rIns="0" bIns="0" rtlCol="0" anchor="b"/>
          <a:lstStyle/>
          <a:p>
            <a:pPr indent="0" marL="0">
              <a:buNone/>
            </a:pPr>
            <a:r>
              <a:rPr lang="en-US" sz="1500" b="1" dirty="0">
                <a:solidFill>
                  <a:schemeClr val="bg1"/>
                </a:solidFill>
              </a:rPr>
              <a:t>SQLite</a:t>
            </a:r>
            <a:endParaRPr lang="en-US" sz="1500" dirty="0"/>
          </a:p>
        </p:txBody>
      </p:sp>
      <p:sp>
        <p:nvSpPr>
          <p:cNvPr id="32" name="Text 24"/>
          <p:cNvSpPr txBox="1"/>
          <p:nvPr/>
        </p:nvSpPr>
        <p:spPr>
          <a:xfrm>
            <a:off x="5820156" y="3593592"/>
            <a:ext cx="1508760" cy="548640"/>
          </a:xfrm>
          <a:prstGeom prst="rect">
            <a:avLst/>
          </a:prstGeom>
          <a:noFill/>
          <a:ln/>
        </p:spPr>
        <p:txBody>
          <a:bodyPr wrap="square" lIns="0" tIns="0" rIns="0" bIns="0" rtlCol="0" anchor="t"/>
          <a:lstStyle/>
          <a:p>
            <a:pPr indent="0" marL="0">
              <a:buNone/>
            </a:pPr>
            <a:r>
              <a:rPr lang="en-US" sz="1300" dirty="0">
                <a:solidFill>
                  <a:schemeClr val="bg2"/>
                </a:solidFill>
              </a:rPr>
              <a:t>Store observations and alerts</a:t>
            </a:r>
            <a:endParaRPr lang="en-US" sz="1300" dirty="0"/>
          </a:p>
        </p:txBody>
      </p:sp>
      <p:sp>
        <p:nvSpPr>
          <p:cNvPr id="33" name="Shape 25"/>
          <p:cNvSpPr/>
          <p:nvPr/>
        </p:nvSpPr>
        <p:spPr>
          <a:xfrm>
            <a:off x="7658100" y="2880360"/>
            <a:ext cx="2606040" cy="1325880"/>
          </a:xfrm>
          <a:prstGeom prst="roundRect">
            <a:avLst>
              <a:gd name="adj" fmla="val 8276"/>
            </a:avLst>
          </a:prstGeom>
          <a:solidFill>
            <a:schemeClr val="tx2"/>
          </a:solidFill>
          <a:ln/>
        </p:spPr>
      </p:sp>
      <p:sp>
        <p:nvSpPr>
          <p:cNvPr id="34" name="Shape 26"/>
          <p:cNvSpPr/>
          <p:nvPr/>
        </p:nvSpPr>
        <p:spPr>
          <a:xfrm>
            <a:off x="7840980" y="3200400"/>
            <a:ext cx="685800" cy="685800"/>
          </a:xfrm>
          <a:prstGeom prst="ellipse">
            <a:avLst/>
          </a:prstGeom>
          <a:solidFill>
            <a:srgbClr val="22C55E"/>
          </a:solidFill>
          <a:ln/>
        </p:spPr>
      </p:sp>
      <p:pic>
        <p:nvPicPr>
          <p:cNvPr id="35" name="Image 6" descr="preencoded.png">    </p:cNvPr>
          <p:cNvPicPr>
            <a:picLocks noChangeAspect="1"/>
          </p:cNvPicPr>
          <p:nvPr/>
        </p:nvPicPr>
        <p:blipFill>
          <a:blip r:embed="rId7"/>
          <a:stretch>
            <a:fillRect/>
          </a:stretch>
        </p:blipFill>
        <p:spPr>
          <a:xfrm>
            <a:off x="8005572" y="3364992"/>
            <a:ext cx="356616" cy="356616"/>
          </a:xfrm>
          <a:prstGeom prst="rect">
            <a:avLst/>
          </a:prstGeom>
        </p:spPr>
      </p:pic>
      <p:sp>
        <p:nvSpPr>
          <p:cNvPr id="36" name="Text 27"/>
          <p:cNvSpPr txBox="1"/>
          <p:nvPr/>
        </p:nvSpPr>
        <p:spPr>
          <a:xfrm>
            <a:off x="8663940" y="2971800"/>
            <a:ext cx="1508760" cy="566928"/>
          </a:xfrm>
          <a:prstGeom prst="rect">
            <a:avLst/>
          </a:prstGeom>
          <a:noFill/>
          <a:ln/>
        </p:spPr>
        <p:txBody>
          <a:bodyPr wrap="square" lIns="0" tIns="0" rIns="0" bIns="0" rtlCol="0" anchor="b"/>
          <a:lstStyle/>
          <a:p>
            <a:pPr indent="0" marL="0">
              <a:buNone/>
            </a:pPr>
            <a:r>
              <a:rPr lang="en-US" sz="1500" b="1" dirty="0">
                <a:solidFill>
                  <a:schemeClr val="bg1"/>
                </a:solidFill>
              </a:rPr>
              <a:t>Git + GitHub</a:t>
            </a:r>
            <a:endParaRPr lang="en-US" sz="1500" dirty="0"/>
          </a:p>
        </p:txBody>
      </p:sp>
      <p:sp>
        <p:nvSpPr>
          <p:cNvPr id="37" name="Text 28"/>
          <p:cNvSpPr txBox="1"/>
          <p:nvPr/>
        </p:nvSpPr>
        <p:spPr>
          <a:xfrm>
            <a:off x="8663940" y="3593592"/>
            <a:ext cx="1508760" cy="548640"/>
          </a:xfrm>
          <a:prstGeom prst="rect">
            <a:avLst/>
          </a:prstGeom>
          <a:noFill/>
          <a:ln/>
        </p:spPr>
        <p:txBody>
          <a:bodyPr wrap="square" lIns="0" tIns="0" rIns="0" bIns="0" rtlCol="0" anchor="t"/>
          <a:lstStyle/>
          <a:p>
            <a:pPr indent="0" marL="0">
              <a:buNone/>
            </a:pPr>
            <a:r>
              <a:rPr lang="en-US" sz="1300" dirty="0">
                <a:solidFill>
                  <a:schemeClr val="bg2"/>
                </a:solidFill>
              </a:rPr>
              <a:t>Version control and history</a:t>
            </a:r>
            <a:endParaRPr lang="en-US" sz="1300" dirty="0"/>
          </a:p>
        </p:txBody>
      </p:sp>
      <p:sp>
        <p:nvSpPr>
          <p:cNvPr id="38" name="Shape 29"/>
          <p:cNvSpPr/>
          <p:nvPr/>
        </p:nvSpPr>
        <p:spPr>
          <a:xfrm>
            <a:off x="868680" y="4617720"/>
            <a:ext cx="2240280" cy="914400"/>
          </a:xfrm>
          <a:prstGeom prst="roundRect">
            <a:avLst>
              <a:gd name="adj" fmla="val 12000"/>
            </a:avLst>
          </a:prstGeom>
          <a:solidFill>
            <a:srgbClr val="1B2E4A"/>
          </a:solidFill>
          <a:ln w="15875">
            <a:solidFill>
              <a:srgbClr val="A78BFA"/>
            </a:solidFill>
            <a:prstDash val="solid"/>
          </a:ln>
        </p:spPr>
      </p:sp>
      <p:sp>
        <p:nvSpPr>
          <p:cNvPr id="39" name="Text 30"/>
          <p:cNvSpPr txBox="1"/>
          <p:nvPr/>
        </p:nvSpPr>
        <p:spPr>
          <a:xfrm>
            <a:off x="868680" y="4709160"/>
            <a:ext cx="2240280" cy="365760"/>
          </a:xfrm>
          <a:prstGeom prst="rect">
            <a:avLst/>
          </a:prstGeom>
          <a:noFill/>
          <a:ln/>
        </p:spPr>
        <p:txBody>
          <a:bodyPr wrap="square" lIns="0" tIns="0" rIns="0" bIns="0" rtlCol="0" anchor="t"/>
          <a:lstStyle/>
          <a:p>
            <a:pPr algn="ctr" indent="0" marL="0">
              <a:buNone/>
            </a:pPr>
            <a:r>
              <a:rPr lang="en-US" sz="1600" b="1" dirty="0">
                <a:solidFill>
                  <a:srgbClr val="A78BFA"/>
                </a:solidFill>
              </a:rPr>
              <a:t>Browser</a:t>
            </a:r>
            <a:endParaRPr lang="en-US" sz="1600" dirty="0"/>
          </a:p>
        </p:txBody>
      </p:sp>
      <p:sp>
        <p:nvSpPr>
          <p:cNvPr id="40" name="Text 31"/>
          <p:cNvSpPr txBox="1"/>
          <p:nvPr/>
        </p:nvSpPr>
        <p:spPr>
          <a:xfrm>
            <a:off x="868680" y="5093208"/>
            <a:ext cx="2240280" cy="320040"/>
          </a:xfrm>
          <a:prstGeom prst="rect">
            <a:avLst/>
          </a:prstGeom>
          <a:noFill/>
          <a:ln/>
        </p:spPr>
        <p:txBody>
          <a:bodyPr wrap="square" lIns="0" tIns="0" rIns="0" bIns="0" rtlCol="0" anchor="t"/>
          <a:lstStyle/>
          <a:p>
            <a:pPr algn="ctr" indent="0" marL="0">
              <a:buNone/>
            </a:pPr>
            <a:r>
              <a:rPr lang="en-US" sz="1200" dirty="0">
                <a:solidFill>
                  <a:schemeClr val="bg2"/>
                </a:solidFill>
              </a:rPr>
              <a:t>React · TS · Tailwind · Recharts</a:t>
            </a:r>
            <a:endParaRPr lang="en-US" sz="1200" dirty="0"/>
          </a:p>
        </p:txBody>
      </p:sp>
      <p:sp>
        <p:nvSpPr>
          <p:cNvPr id="41" name="Shape 32"/>
          <p:cNvSpPr/>
          <p:nvPr/>
        </p:nvSpPr>
        <p:spPr>
          <a:xfrm>
            <a:off x="3154680" y="5074920"/>
            <a:ext cx="457200" cy="914"/>
          </a:xfrm>
          <a:prstGeom prst="line">
            <a:avLst/>
          </a:prstGeom>
          <a:noFill/>
          <a:ln w="25400">
            <a:solidFill>
              <a:srgbClr val="B6C3D4"/>
            </a:solidFill>
            <a:prstDash val="solid"/>
            <a:headEnd type="triangle"/>
            <a:tailEnd type="triangle"/>
          </a:ln>
        </p:spPr>
      </p:sp>
      <p:sp>
        <p:nvSpPr>
          <p:cNvPr id="42" name="Shape 33"/>
          <p:cNvSpPr/>
          <p:nvPr/>
        </p:nvSpPr>
        <p:spPr>
          <a:xfrm>
            <a:off x="3657600" y="4617720"/>
            <a:ext cx="2240280" cy="914400"/>
          </a:xfrm>
          <a:prstGeom prst="roundRect">
            <a:avLst>
              <a:gd name="adj" fmla="val 12000"/>
            </a:avLst>
          </a:prstGeom>
          <a:solidFill>
            <a:srgbClr val="1B2E4A"/>
          </a:solidFill>
          <a:ln w="15875">
            <a:solidFill>
              <a:srgbClr val="14B8A6"/>
            </a:solidFill>
            <a:prstDash val="solid"/>
          </a:ln>
        </p:spPr>
      </p:sp>
      <p:sp>
        <p:nvSpPr>
          <p:cNvPr id="43" name="Text 34"/>
          <p:cNvSpPr txBox="1"/>
          <p:nvPr/>
        </p:nvSpPr>
        <p:spPr>
          <a:xfrm>
            <a:off x="3657600" y="4709160"/>
            <a:ext cx="2240280" cy="365760"/>
          </a:xfrm>
          <a:prstGeom prst="rect">
            <a:avLst/>
          </a:prstGeom>
          <a:noFill/>
          <a:ln/>
        </p:spPr>
        <p:txBody>
          <a:bodyPr wrap="square" lIns="0" tIns="0" rIns="0" bIns="0" rtlCol="0" anchor="t"/>
          <a:lstStyle/>
          <a:p>
            <a:pPr algn="ctr" indent="0" marL="0">
              <a:buNone/>
            </a:pPr>
            <a:r>
              <a:rPr lang="en-US" sz="1600" b="1" dirty="0">
                <a:solidFill>
                  <a:srgbClr val="14B8A6"/>
                </a:solidFill>
              </a:rPr>
              <a:t>FastAPI</a:t>
            </a:r>
            <a:endParaRPr lang="en-US" sz="1600" dirty="0"/>
          </a:p>
        </p:txBody>
      </p:sp>
      <p:sp>
        <p:nvSpPr>
          <p:cNvPr id="44" name="Text 35"/>
          <p:cNvSpPr txBox="1"/>
          <p:nvPr/>
        </p:nvSpPr>
        <p:spPr>
          <a:xfrm>
            <a:off x="3657600" y="5093208"/>
            <a:ext cx="2240280" cy="320040"/>
          </a:xfrm>
          <a:prstGeom prst="rect">
            <a:avLst/>
          </a:prstGeom>
          <a:noFill/>
          <a:ln/>
        </p:spPr>
        <p:txBody>
          <a:bodyPr wrap="square" lIns="0" tIns="0" rIns="0" bIns="0" rtlCol="0" anchor="t"/>
          <a:lstStyle/>
          <a:p>
            <a:pPr algn="ctr" indent="0" marL="0">
              <a:buNone/>
            </a:pPr>
            <a:r>
              <a:rPr lang="en-US" sz="1200" dirty="0">
                <a:solidFill>
                  <a:schemeClr val="bg2"/>
                </a:solidFill>
              </a:rPr>
              <a:t>Python backend</a:t>
            </a:r>
            <a:endParaRPr lang="en-US" sz="1200" dirty="0"/>
          </a:p>
        </p:txBody>
      </p:sp>
      <p:sp>
        <p:nvSpPr>
          <p:cNvPr id="45" name="Shape 36"/>
          <p:cNvSpPr/>
          <p:nvPr/>
        </p:nvSpPr>
        <p:spPr>
          <a:xfrm>
            <a:off x="5943600" y="5074920"/>
            <a:ext cx="457200" cy="914"/>
          </a:xfrm>
          <a:prstGeom prst="line">
            <a:avLst/>
          </a:prstGeom>
          <a:noFill/>
          <a:ln w="25400">
            <a:solidFill>
              <a:srgbClr val="B6C3D4"/>
            </a:solidFill>
            <a:prstDash val="solid"/>
            <a:headEnd type="triangle"/>
            <a:tailEnd type="triangle"/>
          </a:ln>
        </p:spPr>
      </p:sp>
      <p:sp>
        <p:nvSpPr>
          <p:cNvPr id="46" name="Shape 37"/>
          <p:cNvSpPr/>
          <p:nvPr/>
        </p:nvSpPr>
        <p:spPr>
          <a:xfrm>
            <a:off x="6446520" y="4617720"/>
            <a:ext cx="2240280" cy="914400"/>
          </a:xfrm>
          <a:prstGeom prst="roundRect">
            <a:avLst>
              <a:gd name="adj" fmla="val 12000"/>
            </a:avLst>
          </a:prstGeom>
          <a:solidFill>
            <a:srgbClr val="1B2E4A"/>
          </a:solidFill>
          <a:ln w="15875">
            <a:solidFill>
              <a:srgbClr val="22D3EE"/>
            </a:solidFill>
            <a:prstDash val="solid"/>
          </a:ln>
        </p:spPr>
      </p:sp>
      <p:sp>
        <p:nvSpPr>
          <p:cNvPr id="47" name="Text 38"/>
          <p:cNvSpPr txBox="1"/>
          <p:nvPr/>
        </p:nvSpPr>
        <p:spPr>
          <a:xfrm>
            <a:off x="6446520" y="4709160"/>
            <a:ext cx="2240280" cy="365760"/>
          </a:xfrm>
          <a:prstGeom prst="rect">
            <a:avLst/>
          </a:prstGeom>
          <a:noFill/>
          <a:ln/>
        </p:spPr>
        <p:txBody>
          <a:bodyPr wrap="square" lIns="0" tIns="0" rIns="0" bIns="0" rtlCol="0" anchor="t"/>
          <a:lstStyle/>
          <a:p>
            <a:pPr algn="ctr" indent="0" marL="0">
              <a:buNone/>
            </a:pPr>
            <a:r>
              <a:rPr lang="en-US" sz="1600" b="1" dirty="0">
                <a:solidFill>
                  <a:srgbClr val="22D3EE"/>
                </a:solidFill>
              </a:rPr>
              <a:t>dnspython</a:t>
            </a:r>
            <a:endParaRPr lang="en-US" sz="1600" dirty="0"/>
          </a:p>
        </p:txBody>
      </p:sp>
      <p:sp>
        <p:nvSpPr>
          <p:cNvPr id="48" name="Text 39"/>
          <p:cNvSpPr txBox="1"/>
          <p:nvPr/>
        </p:nvSpPr>
        <p:spPr>
          <a:xfrm>
            <a:off x="6446520" y="5093208"/>
            <a:ext cx="2240280" cy="320040"/>
          </a:xfrm>
          <a:prstGeom prst="rect">
            <a:avLst/>
          </a:prstGeom>
          <a:noFill/>
          <a:ln/>
        </p:spPr>
        <p:txBody>
          <a:bodyPr wrap="square" lIns="0" tIns="0" rIns="0" bIns="0" rtlCol="0" anchor="t"/>
          <a:lstStyle/>
          <a:p>
            <a:pPr algn="ctr" indent="0" marL="0">
              <a:buNone/>
            </a:pPr>
            <a:r>
              <a:rPr lang="en-US" sz="1200" dirty="0">
                <a:solidFill>
                  <a:schemeClr val="bg2"/>
                </a:solidFill>
              </a:rPr>
              <a:t>DNS queries to resolvers</a:t>
            </a:r>
            <a:endParaRPr lang="en-US" sz="1200" dirty="0"/>
          </a:p>
        </p:txBody>
      </p:sp>
      <p:sp>
        <p:nvSpPr>
          <p:cNvPr id="49" name="Shape 40"/>
          <p:cNvSpPr/>
          <p:nvPr/>
        </p:nvSpPr>
        <p:spPr>
          <a:xfrm>
            <a:off x="8732520" y="5074920"/>
            <a:ext cx="457200" cy="914"/>
          </a:xfrm>
          <a:prstGeom prst="line">
            <a:avLst/>
          </a:prstGeom>
          <a:noFill/>
          <a:ln w="25400">
            <a:solidFill>
              <a:srgbClr val="B6C3D4"/>
            </a:solidFill>
            <a:prstDash val="solid"/>
            <a:headEnd type="triangle"/>
            <a:tailEnd type="triangle"/>
          </a:ln>
        </p:spPr>
      </p:sp>
      <p:sp>
        <p:nvSpPr>
          <p:cNvPr id="50" name="Shape 41"/>
          <p:cNvSpPr/>
          <p:nvPr/>
        </p:nvSpPr>
        <p:spPr>
          <a:xfrm>
            <a:off x="9235440" y="4617720"/>
            <a:ext cx="2240280" cy="914400"/>
          </a:xfrm>
          <a:prstGeom prst="roundRect">
            <a:avLst>
              <a:gd name="adj" fmla="val 12000"/>
            </a:avLst>
          </a:prstGeom>
          <a:solidFill>
            <a:srgbClr val="1B2E4A"/>
          </a:solidFill>
          <a:ln w="15875">
            <a:solidFill>
              <a:srgbClr val="F59E0B"/>
            </a:solidFill>
            <a:prstDash val="solid"/>
          </a:ln>
        </p:spPr>
      </p:sp>
      <p:sp>
        <p:nvSpPr>
          <p:cNvPr id="51" name="Text 42"/>
          <p:cNvSpPr txBox="1"/>
          <p:nvPr/>
        </p:nvSpPr>
        <p:spPr>
          <a:xfrm>
            <a:off x="9235440" y="4709160"/>
            <a:ext cx="2240280" cy="365760"/>
          </a:xfrm>
          <a:prstGeom prst="rect">
            <a:avLst/>
          </a:prstGeom>
          <a:noFill/>
          <a:ln/>
        </p:spPr>
        <p:txBody>
          <a:bodyPr wrap="square" lIns="0" tIns="0" rIns="0" bIns="0" rtlCol="0" anchor="t"/>
          <a:lstStyle/>
          <a:p>
            <a:pPr algn="ctr" indent="0" marL="0">
              <a:buNone/>
            </a:pPr>
            <a:r>
              <a:rPr lang="en-US" sz="1600" b="1" dirty="0">
                <a:solidFill>
                  <a:srgbClr val="F59E0B"/>
                </a:solidFill>
              </a:rPr>
              <a:t>SQLite</a:t>
            </a:r>
            <a:endParaRPr lang="en-US" sz="1600" dirty="0"/>
          </a:p>
        </p:txBody>
      </p:sp>
      <p:sp>
        <p:nvSpPr>
          <p:cNvPr id="52" name="Text 43"/>
          <p:cNvSpPr txBox="1"/>
          <p:nvPr/>
        </p:nvSpPr>
        <p:spPr>
          <a:xfrm>
            <a:off x="9235440" y="5093208"/>
            <a:ext cx="2240280" cy="320040"/>
          </a:xfrm>
          <a:prstGeom prst="rect">
            <a:avLst/>
          </a:prstGeom>
          <a:noFill/>
          <a:ln/>
        </p:spPr>
        <p:txBody>
          <a:bodyPr wrap="square" lIns="0" tIns="0" rIns="0" bIns="0" rtlCol="0" anchor="t"/>
          <a:lstStyle/>
          <a:p>
            <a:pPr algn="ctr" indent="0" marL="0">
              <a:buNone/>
            </a:pPr>
            <a:r>
              <a:rPr lang="en-US" sz="1200" dirty="0">
                <a:solidFill>
                  <a:schemeClr val="bg2"/>
                </a:solidFill>
              </a:rPr>
              <a:t>local database file</a:t>
            </a:r>
            <a:endParaRPr lang="en-US" sz="1200" dirty="0"/>
          </a:p>
        </p:txBody>
      </p:sp>
      <p:sp>
        <p:nvSpPr>
          <p:cNvPr id="53" name="Text 44"/>
          <p:cNvSpPr txBox="1"/>
          <p:nvPr/>
        </p:nvSpPr>
        <p:spPr>
          <a:xfrm>
            <a:off x="2834640" y="5605272"/>
            <a:ext cx="1097280" cy="274320"/>
          </a:xfrm>
          <a:prstGeom prst="rect">
            <a:avLst/>
          </a:prstGeom>
          <a:noFill/>
          <a:ln/>
        </p:spPr>
        <p:txBody>
          <a:bodyPr wrap="square" lIns="0" tIns="0" rIns="0" bIns="0" rtlCol="0" anchor="t"/>
          <a:lstStyle/>
          <a:p>
            <a:pPr algn="ctr" indent="0" marL="0">
              <a:buNone/>
            </a:pPr>
            <a:r>
              <a:rPr lang="en-US" sz="1200" dirty="0">
                <a:solidFill>
                  <a:schemeClr val="bg2"/>
                </a:solidFill>
              </a:rPr>
              <a:t>HTTP / JSON</a:t>
            </a:r>
            <a:endParaRPr lang="en-US" sz="1200" dirty="0"/>
          </a:p>
        </p:txBody>
      </p:sp>
      <p:sp>
        <p:nvSpPr>
          <p:cNvPr id="54" name="Text 45"/>
          <p:cNvSpPr txBox="1"/>
          <p:nvPr/>
        </p:nvSpPr>
        <p:spPr>
          <a:xfrm>
            <a:off x="5623560" y="5605272"/>
            <a:ext cx="1097280" cy="274320"/>
          </a:xfrm>
          <a:prstGeom prst="rect">
            <a:avLst/>
          </a:prstGeom>
          <a:noFill/>
          <a:ln/>
        </p:spPr>
        <p:txBody>
          <a:bodyPr wrap="square" lIns="0" tIns="0" rIns="0" bIns="0" rtlCol="0" anchor="t"/>
          <a:lstStyle/>
          <a:p>
            <a:pPr algn="ctr" indent="0" marL="0">
              <a:buNone/>
            </a:pPr>
            <a:r>
              <a:rPr lang="en-US" sz="1200" dirty="0">
                <a:solidFill>
                  <a:schemeClr val="bg2"/>
                </a:solidFill>
              </a:rPr>
              <a:t>DNS · port 53</a:t>
            </a:r>
            <a:endParaRPr lang="en-US" sz="1200" dirty="0"/>
          </a:p>
        </p:txBody>
      </p:sp>
      <p:sp>
        <p:nvSpPr>
          <p:cNvPr id="55" name="Text 46"/>
          <p:cNvSpPr txBox="1"/>
          <p:nvPr/>
        </p:nvSpPr>
        <p:spPr>
          <a:xfrm>
            <a:off x="8412480" y="5605272"/>
            <a:ext cx="1097280" cy="274320"/>
          </a:xfrm>
          <a:prstGeom prst="rect">
            <a:avLst/>
          </a:prstGeom>
          <a:noFill/>
          <a:ln/>
        </p:spPr>
        <p:txBody>
          <a:bodyPr wrap="square" lIns="0" tIns="0" rIns="0" bIns="0" rtlCol="0" anchor="t"/>
          <a:lstStyle/>
          <a:p>
            <a:pPr algn="ctr" indent="0" marL="0">
              <a:buNone/>
            </a:pPr>
            <a:r>
              <a:rPr lang="en-US" sz="1200" dirty="0">
                <a:solidFill>
                  <a:schemeClr val="bg2"/>
                </a:solidFill>
              </a:rPr>
              <a:t>SQL</a:t>
            </a:r>
            <a:endParaRPr lang="en-US" sz="1200" dirty="0"/>
          </a:p>
        </p:txBody>
      </p:sp>
      <p:sp>
        <p:nvSpPr>
          <p:cNvPr id="56" name="Text 47"/>
          <p:cNvSpPr txBox="1"/>
          <p:nvPr/>
        </p:nvSpPr>
        <p:spPr>
          <a:xfrm>
            <a:off x="868680" y="5943600"/>
            <a:ext cx="5486400" cy="274320"/>
          </a:xfrm>
          <a:prstGeom prst="rect">
            <a:avLst/>
          </a:prstGeom>
          <a:noFill/>
          <a:ln/>
        </p:spPr>
        <p:txBody>
          <a:bodyPr wrap="square" lIns="0" tIns="0" rIns="0" bIns="0" rtlCol="0" anchor="t"/>
          <a:lstStyle/>
          <a:p>
            <a:pPr indent="0" marL="0">
              <a:buNone/>
            </a:pPr>
            <a:r>
              <a:rPr lang="en-US" sz="1300" dirty="0">
                <a:solidFill>
                  <a:schemeClr val="accent3"/>
                </a:solidFill>
              </a:rPr>
              <a:t>All code tracked in Git and GitHub</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Database and backend</a:t>
            </a:r>
            <a:endParaRPr lang="en-US" sz="3200" dirty="0"/>
          </a:p>
        </p:txBody>
      </p:sp>
      <p:sp>
        <p:nvSpPr>
          <p:cNvPr id="3" name="Shape 1"/>
          <p:cNvSpPr/>
          <p:nvPr/>
        </p:nvSpPr>
        <p:spPr>
          <a:xfrm>
            <a:off x="548640" y="1325880"/>
            <a:ext cx="2514600" cy="2057400"/>
          </a:xfrm>
          <a:prstGeom prst="roundRect">
            <a:avLst>
              <a:gd name="adj" fmla="val 5333"/>
            </a:avLst>
          </a:prstGeom>
          <a:solidFill>
            <a:schemeClr val="tx2"/>
          </a:solidFill>
          <a:ln w="15875">
            <a:solidFill>
              <a:srgbClr val="22C55E"/>
            </a:solidFill>
            <a:prstDash val="solid"/>
          </a:ln>
        </p:spPr>
      </p:sp>
      <p:sp>
        <p:nvSpPr>
          <p:cNvPr id="4" name="Shape 2"/>
          <p:cNvSpPr/>
          <p:nvPr/>
        </p:nvSpPr>
        <p:spPr>
          <a:xfrm>
            <a:off x="548640" y="1325880"/>
            <a:ext cx="2514600" cy="438912"/>
          </a:xfrm>
          <a:prstGeom prst="roundRect">
            <a:avLst>
              <a:gd name="adj" fmla="val 25000"/>
            </a:avLst>
          </a:prstGeom>
          <a:solidFill>
            <a:srgbClr val="22C55E"/>
          </a:solidFill>
          <a:ln/>
        </p:spPr>
      </p:sp>
      <p:sp>
        <p:nvSpPr>
          <p:cNvPr id="5" name="Text 3"/>
          <p:cNvSpPr txBox="1"/>
          <p:nvPr/>
        </p:nvSpPr>
        <p:spPr>
          <a:xfrm>
            <a:off x="548640" y="1325880"/>
            <a:ext cx="2514600" cy="438912"/>
          </a:xfrm>
          <a:prstGeom prst="rect">
            <a:avLst/>
          </a:prstGeom>
          <a:noFill/>
          <a:ln/>
        </p:spPr>
        <p:txBody>
          <a:bodyPr wrap="square" lIns="0" tIns="0" rIns="0" bIns="0" rtlCol="0" anchor="ctr"/>
          <a:lstStyle/>
          <a:p>
            <a:pPr algn="ctr" indent="0" marL="0">
              <a:buNone/>
            </a:pPr>
            <a:r>
              <a:rPr lang="en-US" sz="1500" b="1" dirty="0">
                <a:solidFill>
                  <a:schemeClr val="tx1"/>
                </a:solidFill>
              </a:rPr>
              <a:t>domain_profiles</a:t>
            </a:r>
            <a:endParaRPr lang="en-US" sz="1500" dirty="0"/>
          </a:p>
        </p:txBody>
      </p:sp>
      <p:sp>
        <p:nvSpPr>
          <p:cNvPr id="6" name="Text 4"/>
          <p:cNvSpPr txBox="1"/>
          <p:nvPr/>
        </p:nvSpPr>
        <p:spPr>
          <a:xfrm>
            <a:off x="685800" y="1837944"/>
            <a:ext cx="2240280" cy="274320"/>
          </a:xfrm>
          <a:prstGeom prst="rect">
            <a:avLst/>
          </a:prstGeom>
          <a:noFill/>
          <a:ln/>
        </p:spPr>
        <p:txBody>
          <a:bodyPr wrap="square" lIns="0" tIns="0" rIns="0" bIns="0" rtlCol="0" anchor="t"/>
          <a:lstStyle/>
          <a:p>
            <a:pPr indent="0" marL="0">
              <a:buNone/>
            </a:pPr>
            <a:r>
              <a:rPr lang="en-US" sz="1300" b="1" dirty="0">
                <a:solidFill>
                  <a:srgbClr val="F59E0B"/>
                </a:solidFill>
              </a:rPr>
              <a:t>PK  </a:t>
            </a:r>
            <a:pPr indent="0" marL="0">
              <a:buNone/>
            </a:pPr>
            <a:r>
              <a:rPr lang="en-US" sz="1300" dirty="0">
                <a:solidFill>
                  <a:schemeClr val="bg1"/>
                </a:solidFill>
              </a:rPr>
              <a:t>domain_id</a:t>
            </a:r>
            <a:endParaRPr lang="en-US" sz="1300" dirty="0"/>
          </a:p>
        </p:txBody>
      </p:sp>
      <p:sp>
        <p:nvSpPr>
          <p:cNvPr id="7" name="Text 5"/>
          <p:cNvSpPr txBox="1"/>
          <p:nvPr/>
        </p:nvSpPr>
        <p:spPr>
          <a:xfrm>
            <a:off x="685800" y="2139696"/>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domain_name</a:t>
            </a:r>
            <a:endParaRPr lang="en-US" sz="1300" dirty="0"/>
          </a:p>
        </p:txBody>
      </p:sp>
      <p:sp>
        <p:nvSpPr>
          <p:cNvPr id="8" name="Text 6"/>
          <p:cNvSpPr txBox="1"/>
          <p:nvPr/>
        </p:nvSpPr>
        <p:spPr>
          <a:xfrm>
            <a:off x="685800" y="2441448"/>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known_ips, prefixes</a:t>
            </a:r>
            <a:endParaRPr lang="en-US" sz="1300" dirty="0"/>
          </a:p>
        </p:txBody>
      </p:sp>
      <p:sp>
        <p:nvSpPr>
          <p:cNvPr id="9" name="Text 7"/>
          <p:cNvSpPr txBox="1"/>
          <p:nvPr/>
        </p:nvSpPr>
        <p:spPr>
          <a:xfrm>
            <a:off x="685800" y="2743200"/>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ttl_baseline</a:t>
            </a:r>
            <a:endParaRPr lang="en-US" sz="1300" dirty="0"/>
          </a:p>
        </p:txBody>
      </p:sp>
      <p:sp>
        <p:nvSpPr>
          <p:cNvPr id="10" name="Text 8"/>
          <p:cNvSpPr txBox="1"/>
          <p:nvPr/>
        </p:nvSpPr>
        <p:spPr>
          <a:xfrm>
            <a:off x="685800" y="3044952"/>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dnssec_seen</a:t>
            </a:r>
            <a:endParaRPr lang="en-US" sz="1300" dirty="0"/>
          </a:p>
        </p:txBody>
      </p:sp>
      <p:sp>
        <p:nvSpPr>
          <p:cNvPr id="11" name="Shape 9"/>
          <p:cNvSpPr/>
          <p:nvPr/>
        </p:nvSpPr>
        <p:spPr>
          <a:xfrm>
            <a:off x="3657600" y="1325880"/>
            <a:ext cx="2514600" cy="1755648"/>
          </a:xfrm>
          <a:prstGeom prst="roundRect">
            <a:avLst>
              <a:gd name="adj" fmla="val 6250"/>
            </a:avLst>
          </a:prstGeom>
          <a:solidFill>
            <a:schemeClr val="tx2"/>
          </a:solidFill>
          <a:ln w="15875">
            <a:solidFill>
              <a:srgbClr val="60A5FA"/>
            </a:solidFill>
            <a:prstDash val="solid"/>
          </a:ln>
        </p:spPr>
      </p:sp>
      <p:sp>
        <p:nvSpPr>
          <p:cNvPr id="12" name="Shape 10"/>
          <p:cNvSpPr/>
          <p:nvPr/>
        </p:nvSpPr>
        <p:spPr>
          <a:xfrm>
            <a:off x="3657600" y="1325880"/>
            <a:ext cx="2514600" cy="438912"/>
          </a:xfrm>
          <a:prstGeom prst="roundRect">
            <a:avLst>
              <a:gd name="adj" fmla="val 25000"/>
            </a:avLst>
          </a:prstGeom>
          <a:solidFill>
            <a:srgbClr val="60A5FA"/>
          </a:solidFill>
          <a:ln/>
        </p:spPr>
      </p:sp>
      <p:sp>
        <p:nvSpPr>
          <p:cNvPr id="13" name="Text 11"/>
          <p:cNvSpPr txBox="1"/>
          <p:nvPr/>
        </p:nvSpPr>
        <p:spPr>
          <a:xfrm>
            <a:off x="3657600" y="1325880"/>
            <a:ext cx="2514600" cy="438912"/>
          </a:xfrm>
          <a:prstGeom prst="rect">
            <a:avLst/>
          </a:prstGeom>
          <a:noFill/>
          <a:ln/>
        </p:spPr>
        <p:txBody>
          <a:bodyPr wrap="square" lIns="0" tIns="0" rIns="0" bIns="0" rtlCol="0" anchor="ctr"/>
          <a:lstStyle/>
          <a:p>
            <a:pPr algn="ctr" indent="0" marL="0">
              <a:buNone/>
            </a:pPr>
            <a:r>
              <a:rPr lang="en-US" sz="1500" b="1" dirty="0">
                <a:solidFill>
                  <a:schemeClr val="tx1"/>
                </a:solidFill>
              </a:rPr>
              <a:t>resolver_checks</a:t>
            </a:r>
            <a:endParaRPr lang="en-US" sz="1500" dirty="0"/>
          </a:p>
        </p:txBody>
      </p:sp>
      <p:sp>
        <p:nvSpPr>
          <p:cNvPr id="14" name="Text 12"/>
          <p:cNvSpPr txBox="1"/>
          <p:nvPr/>
        </p:nvSpPr>
        <p:spPr>
          <a:xfrm>
            <a:off x="3794760" y="1837944"/>
            <a:ext cx="2240280" cy="274320"/>
          </a:xfrm>
          <a:prstGeom prst="rect">
            <a:avLst/>
          </a:prstGeom>
          <a:noFill/>
          <a:ln/>
        </p:spPr>
        <p:txBody>
          <a:bodyPr wrap="square" lIns="0" tIns="0" rIns="0" bIns="0" rtlCol="0" anchor="t"/>
          <a:lstStyle/>
          <a:p>
            <a:pPr indent="0" marL="0">
              <a:buNone/>
            </a:pPr>
            <a:r>
              <a:rPr lang="en-US" sz="1300" b="1" dirty="0">
                <a:solidFill>
                  <a:srgbClr val="F59E0B"/>
                </a:solidFill>
              </a:rPr>
              <a:t>PK  </a:t>
            </a:r>
            <a:pPr indent="0" marL="0">
              <a:buNone/>
            </a:pPr>
            <a:r>
              <a:rPr lang="en-US" sz="1300" dirty="0">
                <a:solidFill>
                  <a:schemeClr val="bg1"/>
                </a:solidFill>
              </a:rPr>
              <a:t>check_id</a:t>
            </a:r>
            <a:endParaRPr lang="en-US" sz="1300" dirty="0"/>
          </a:p>
        </p:txBody>
      </p:sp>
      <p:sp>
        <p:nvSpPr>
          <p:cNvPr id="15" name="Text 13"/>
          <p:cNvSpPr txBox="1"/>
          <p:nvPr/>
        </p:nvSpPr>
        <p:spPr>
          <a:xfrm>
            <a:off x="3794760" y="2139696"/>
            <a:ext cx="2240280" cy="274320"/>
          </a:xfrm>
          <a:prstGeom prst="rect">
            <a:avLst/>
          </a:prstGeom>
          <a:noFill/>
          <a:ln/>
        </p:spPr>
        <p:txBody>
          <a:bodyPr wrap="square" lIns="0" tIns="0" rIns="0" bIns="0" rtlCol="0" anchor="t"/>
          <a:lstStyle/>
          <a:p>
            <a:pPr indent="0" marL="0">
              <a:buNone/>
            </a:pPr>
            <a:r>
              <a:rPr lang="en-US" sz="1300" b="1" dirty="0">
                <a:solidFill>
                  <a:srgbClr val="22D3EE"/>
                </a:solidFill>
              </a:rPr>
              <a:t>FK  </a:t>
            </a:r>
            <a:pPr indent="0" marL="0">
              <a:buNone/>
            </a:pPr>
            <a:r>
              <a:rPr lang="en-US" sz="1300" dirty="0">
                <a:solidFill>
                  <a:schemeClr val="bg1"/>
                </a:solidFill>
              </a:rPr>
              <a:t>domain_id</a:t>
            </a:r>
            <a:endParaRPr lang="en-US" sz="1300" dirty="0"/>
          </a:p>
        </p:txBody>
      </p:sp>
      <p:sp>
        <p:nvSpPr>
          <p:cNvPr id="16" name="Text 14"/>
          <p:cNvSpPr txBox="1"/>
          <p:nvPr/>
        </p:nvSpPr>
        <p:spPr>
          <a:xfrm>
            <a:off x="3794760" y="2441448"/>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resolver, rcode</a:t>
            </a:r>
            <a:endParaRPr lang="en-US" sz="1300" dirty="0"/>
          </a:p>
        </p:txBody>
      </p:sp>
      <p:sp>
        <p:nvSpPr>
          <p:cNvPr id="17" name="Text 15"/>
          <p:cNvSpPr txBox="1"/>
          <p:nvPr/>
        </p:nvSpPr>
        <p:spPr>
          <a:xfrm>
            <a:off x="3794760" y="2743200"/>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response_ms, ad_flag</a:t>
            </a:r>
            <a:endParaRPr lang="en-US" sz="1300" dirty="0"/>
          </a:p>
        </p:txBody>
      </p:sp>
      <p:sp>
        <p:nvSpPr>
          <p:cNvPr id="18" name="Shape 16"/>
          <p:cNvSpPr/>
          <p:nvPr/>
        </p:nvSpPr>
        <p:spPr>
          <a:xfrm>
            <a:off x="3657600" y="3977640"/>
            <a:ext cx="2514600" cy="1755648"/>
          </a:xfrm>
          <a:prstGeom prst="roundRect">
            <a:avLst>
              <a:gd name="adj" fmla="val 6250"/>
            </a:avLst>
          </a:prstGeom>
          <a:solidFill>
            <a:schemeClr val="tx2"/>
          </a:solidFill>
          <a:ln w="15875">
            <a:solidFill>
              <a:srgbClr val="14B8A6"/>
            </a:solidFill>
            <a:prstDash val="solid"/>
          </a:ln>
        </p:spPr>
      </p:sp>
      <p:sp>
        <p:nvSpPr>
          <p:cNvPr id="19" name="Shape 17"/>
          <p:cNvSpPr/>
          <p:nvPr/>
        </p:nvSpPr>
        <p:spPr>
          <a:xfrm>
            <a:off x="3657600" y="3977640"/>
            <a:ext cx="2514600" cy="438912"/>
          </a:xfrm>
          <a:prstGeom prst="roundRect">
            <a:avLst>
              <a:gd name="adj" fmla="val 25000"/>
            </a:avLst>
          </a:prstGeom>
          <a:solidFill>
            <a:srgbClr val="14B8A6"/>
          </a:solidFill>
          <a:ln/>
        </p:spPr>
      </p:sp>
      <p:sp>
        <p:nvSpPr>
          <p:cNvPr id="20" name="Text 18"/>
          <p:cNvSpPr txBox="1"/>
          <p:nvPr/>
        </p:nvSpPr>
        <p:spPr>
          <a:xfrm>
            <a:off x="3657600" y="3977640"/>
            <a:ext cx="2514600" cy="438912"/>
          </a:xfrm>
          <a:prstGeom prst="rect">
            <a:avLst/>
          </a:prstGeom>
          <a:noFill/>
          <a:ln/>
        </p:spPr>
        <p:txBody>
          <a:bodyPr wrap="square" lIns="0" tIns="0" rIns="0" bIns="0" rtlCol="0" anchor="ctr"/>
          <a:lstStyle/>
          <a:p>
            <a:pPr algn="ctr" indent="0" marL="0">
              <a:buNone/>
            </a:pPr>
            <a:r>
              <a:rPr lang="en-US" sz="1500" b="1" dirty="0">
                <a:solidFill>
                  <a:schemeClr val="tx1"/>
                </a:solidFill>
              </a:rPr>
              <a:t>dns_observations</a:t>
            </a:r>
            <a:endParaRPr lang="en-US" sz="1500" dirty="0"/>
          </a:p>
        </p:txBody>
      </p:sp>
      <p:sp>
        <p:nvSpPr>
          <p:cNvPr id="21" name="Text 19"/>
          <p:cNvSpPr txBox="1"/>
          <p:nvPr/>
        </p:nvSpPr>
        <p:spPr>
          <a:xfrm>
            <a:off x="3794760" y="4489704"/>
            <a:ext cx="2240280" cy="274320"/>
          </a:xfrm>
          <a:prstGeom prst="rect">
            <a:avLst/>
          </a:prstGeom>
          <a:noFill/>
          <a:ln/>
        </p:spPr>
        <p:txBody>
          <a:bodyPr wrap="square" lIns="0" tIns="0" rIns="0" bIns="0" rtlCol="0" anchor="t"/>
          <a:lstStyle/>
          <a:p>
            <a:pPr indent="0" marL="0">
              <a:buNone/>
            </a:pPr>
            <a:r>
              <a:rPr lang="en-US" sz="1300" b="1" dirty="0">
                <a:solidFill>
                  <a:srgbClr val="F59E0B"/>
                </a:solidFill>
              </a:rPr>
              <a:t>PK  </a:t>
            </a:r>
            <a:pPr indent="0" marL="0">
              <a:buNone/>
            </a:pPr>
            <a:r>
              <a:rPr lang="en-US" sz="1300" dirty="0">
                <a:solidFill>
                  <a:schemeClr val="bg1"/>
                </a:solidFill>
              </a:rPr>
              <a:t>observation_id</a:t>
            </a:r>
            <a:endParaRPr lang="en-US" sz="1300" dirty="0"/>
          </a:p>
        </p:txBody>
      </p:sp>
      <p:sp>
        <p:nvSpPr>
          <p:cNvPr id="22" name="Text 20"/>
          <p:cNvSpPr txBox="1"/>
          <p:nvPr/>
        </p:nvSpPr>
        <p:spPr>
          <a:xfrm>
            <a:off x="3794760" y="4791456"/>
            <a:ext cx="2240280" cy="274320"/>
          </a:xfrm>
          <a:prstGeom prst="rect">
            <a:avLst/>
          </a:prstGeom>
          <a:noFill/>
          <a:ln/>
        </p:spPr>
        <p:txBody>
          <a:bodyPr wrap="square" lIns="0" tIns="0" rIns="0" bIns="0" rtlCol="0" anchor="t"/>
          <a:lstStyle/>
          <a:p>
            <a:pPr indent="0" marL="0">
              <a:buNone/>
            </a:pPr>
            <a:r>
              <a:rPr lang="en-US" sz="1300" b="1" dirty="0">
                <a:solidFill>
                  <a:srgbClr val="22D3EE"/>
                </a:solidFill>
              </a:rPr>
              <a:t>FK  </a:t>
            </a:r>
            <a:pPr indent="0" marL="0">
              <a:buNone/>
            </a:pPr>
            <a:r>
              <a:rPr lang="en-US" sz="1300" dirty="0">
                <a:solidFill>
                  <a:schemeClr val="bg1"/>
                </a:solidFill>
              </a:rPr>
              <a:t>check_id</a:t>
            </a:r>
            <a:endParaRPr lang="en-US" sz="1300" dirty="0"/>
          </a:p>
        </p:txBody>
      </p:sp>
      <p:sp>
        <p:nvSpPr>
          <p:cNvPr id="23" name="Text 21"/>
          <p:cNvSpPr txBox="1"/>
          <p:nvPr/>
        </p:nvSpPr>
        <p:spPr>
          <a:xfrm>
            <a:off x="3794760" y="5093208"/>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record_type, value</a:t>
            </a:r>
            <a:endParaRPr lang="en-US" sz="1300" dirty="0"/>
          </a:p>
        </p:txBody>
      </p:sp>
      <p:sp>
        <p:nvSpPr>
          <p:cNvPr id="24" name="Text 22"/>
          <p:cNvSpPr txBox="1"/>
          <p:nvPr/>
        </p:nvSpPr>
        <p:spPr>
          <a:xfrm>
            <a:off x="3794760" y="5394960"/>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ttl</a:t>
            </a:r>
            <a:endParaRPr lang="en-US" sz="1300" dirty="0"/>
          </a:p>
        </p:txBody>
      </p:sp>
      <p:sp>
        <p:nvSpPr>
          <p:cNvPr id="25" name="Shape 23"/>
          <p:cNvSpPr/>
          <p:nvPr/>
        </p:nvSpPr>
        <p:spPr>
          <a:xfrm>
            <a:off x="548640" y="3977640"/>
            <a:ext cx="2514600" cy="1755648"/>
          </a:xfrm>
          <a:prstGeom prst="roundRect">
            <a:avLst>
              <a:gd name="adj" fmla="val 6250"/>
            </a:avLst>
          </a:prstGeom>
          <a:solidFill>
            <a:schemeClr val="tx2"/>
          </a:solidFill>
          <a:ln w="15875">
            <a:solidFill>
              <a:srgbClr val="EF4444"/>
            </a:solidFill>
            <a:prstDash val="solid"/>
          </a:ln>
        </p:spPr>
      </p:sp>
      <p:sp>
        <p:nvSpPr>
          <p:cNvPr id="26" name="Shape 24"/>
          <p:cNvSpPr/>
          <p:nvPr/>
        </p:nvSpPr>
        <p:spPr>
          <a:xfrm>
            <a:off x="548640" y="3977640"/>
            <a:ext cx="2514600" cy="438912"/>
          </a:xfrm>
          <a:prstGeom prst="roundRect">
            <a:avLst>
              <a:gd name="adj" fmla="val 25000"/>
            </a:avLst>
          </a:prstGeom>
          <a:solidFill>
            <a:srgbClr val="EF4444"/>
          </a:solidFill>
          <a:ln/>
        </p:spPr>
      </p:sp>
      <p:sp>
        <p:nvSpPr>
          <p:cNvPr id="27" name="Text 25"/>
          <p:cNvSpPr txBox="1"/>
          <p:nvPr/>
        </p:nvSpPr>
        <p:spPr>
          <a:xfrm>
            <a:off x="548640" y="3977640"/>
            <a:ext cx="2514600" cy="438912"/>
          </a:xfrm>
          <a:prstGeom prst="rect">
            <a:avLst/>
          </a:prstGeom>
          <a:noFill/>
          <a:ln/>
        </p:spPr>
        <p:txBody>
          <a:bodyPr wrap="square" lIns="0" tIns="0" rIns="0" bIns="0" rtlCol="0" anchor="ctr"/>
          <a:lstStyle/>
          <a:p>
            <a:pPr algn="ctr" indent="0" marL="0">
              <a:buNone/>
            </a:pPr>
            <a:r>
              <a:rPr lang="en-US" sz="1500" b="1" dirty="0">
                <a:solidFill>
                  <a:schemeClr val="tx1"/>
                </a:solidFill>
              </a:rPr>
              <a:t>security_alerts</a:t>
            </a:r>
            <a:endParaRPr lang="en-US" sz="1500" dirty="0"/>
          </a:p>
        </p:txBody>
      </p:sp>
      <p:sp>
        <p:nvSpPr>
          <p:cNvPr id="28" name="Text 26"/>
          <p:cNvSpPr txBox="1"/>
          <p:nvPr/>
        </p:nvSpPr>
        <p:spPr>
          <a:xfrm>
            <a:off x="685800" y="4489704"/>
            <a:ext cx="2240280" cy="274320"/>
          </a:xfrm>
          <a:prstGeom prst="rect">
            <a:avLst/>
          </a:prstGeom>
          <a:noFill/>
          <a:ln/>
        </p:spPr>
        <p:txBody>
          <a:bodyPr wrap="square" lIns="0" tIns="0" rIns="0" bIns="0" rtlCol="0" anchor="t"/>
          <a:lstStyle/>
          <a:p>
            <a:pPr indent="0" marL="0">
              <a:buNone/>
            </a:pPr>
            <a:r>
              <a:rPr lang="en-US" sz="1300" b="1" dirty="0">
                <a:solidFill>
                  <a:srgbClr val="F59E0B"/>
                </a:solidFill>
              </a:rPr>
              <a:t>PK  </a:t>
            </a:r>
            <a:pPr indent="0" marL="0">
              <a:buNone/>
            </a:pPr>
            <a:r>
              <a:rPr lang="en-US" sz="1300" dirty="0">
                <a:solidFill>
                  <a:schemeClr val="bg1"/>
                </a:solidFill>
              </a:rPr>
              <a:t>alert_id</a:t>
            </a:r>
            <a:endParaRPr lang="en-US" sz="1300" dirty="0"/>
          </a:p>
        </p:txBody>
      </p:sp>
      <p:sp>
        <p:nvSpPr>
          <p:cNvPr id="29" name="Text 27"/>
          <p:cNvSpPr txBox="1"/>
          <p:nvPr/>
        </p:nvSpPr>
        <p:spPr>
          <a:xfrm>
            <a:off x="685800" y="4791456"/>
            <a:ext cx="2240280" cy="274320"/>
          </a:xfrm>
          <a:prstGeom prst="rect">
            <a:avLst/>
          </a:prstGeom>
          <a:noFill/>
          <a:ln/>
        </p:spPr>
        <p:txBody>
          <a:bodyPr wrap="square" lIns="0" tIns="0" rIns="0" bIns="0" rtlCol="0" anchor="t"/>
          <a:lstStyle/>
          <a:p>
            <a:pPr indent="0" marL="0">
              <a:buNone/>
            </a:pPr>
            <a:r>
              <a:rPr lang="en-US" sz="1300" b="1" dirty="0">
                <a:solidFill>
                  <a:srgbClr val="22D3EE"/>
                </a:solidFill>
              </a:rPr>
              <a:t>FK  </a:t>
            </a:r>
            <a:pPr indent="0" marL="0">
              <a:buNone/>
            </a:pPr>
            <a:r>
              <a:rPr lang="en-US" sz="1300" dirty="0">
                <a:solidFill>
                  <a:schemeClr val="bg1"/>
                </a:solidFill>
              </a:rPr>
              <a:t>domain_id, check_id</a:t>
            </a:r>
            <a:endParaRPr lang="en-US" sz="1300" dirty="0"/>
          </a:p>
        </p:txBody>
      </p:sp>
      <p:sp>
        <p:nvSpPr>
          <p:cNvPr id="30" name="Text 28"/>
          <p:cNvSpPr txBox="1"/>
          <p:nvPr/>
        </p:nvSpPr>
        <p:spPr>
          <a:xfrm>
            <a:off x="685800" y="5093208"/>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rule_id, severity</a:t>
            </a:r>
            <a:endParaRPr lang="en-US" sz="1300" dirty="0"/>
          </a:p>
        </p:txBody>
      </p:sp>
      <p:sp>
        <p:nvSpPr>
          <p:cNvPr id="31" name="Text 29"/>
          <p:cNvSpPr txBox="1"/>
          <p:nvPr/>
        </p:nvSpPr>
        <p:spPr>
          <a:xfrm>
            <a:off x="685800" y="5394960"/>
            <a:ext cx="2240280" cy="274320"/>
          </a:xfrm>
          <a:prstGeom prst="rect">
            <a:avLst/>
          </a:prstGeom>
          <a:noFill/>
          <a:ln/>
        </p:spPr>
        <p:txBody>
          <a:bodyPr wrap="square" lIns="0" tIns="0" rIns="0" bIns="0" rtlCol="0" anchor="t"/>
          <a:lstStyle/>
          <a:p>
            <a:pPr indent="0" marL="0">
              <a:buNone/>
            </a:pPr>
            <a:pPr indent="0" marL="0">
              <a:buNone/>
            </a:pPr>
            <a:r>
              <a:rPr lang="en-US" sz="1300" dirty="0">
                <a:solidFill>
                  <a:schemeClr val="bg1"/>
                </a:solidFill>
              </a:rPr>
              <a:t>evidence, explanation</a:t>
            </a:r>
            <a:endParaRPr lang="en-US" sz="1300" dirty="0"/>
          </a:p>
        </p:txBody>
      </p:sp>
      <p:sp>
        <p:nvSpPr>
          <p:cNvPr id="32" name="Shape 30"/>
          <p:cNvSpPr/>
          <p:nvPr/>
        </p:nvSpPr>
        <p:spPr>
          <a:xfrm>
            <a:off x="3063240" y="1920240"/>
            <a:ext cx="594360" cy="914"/>
          </a:xfrm>
          <a:prstGeom prst="line">
            <a:avLst/>
          </a:prstGeom>
          <a:noFill/>
          <a:ln w="22225">
            <a:solidFill>
              <a:srgbClr val="B6C3D4"/>
            </a:solidFill>
            <a:prstDash val="solid"/>
          </a:ln>
        </p:spPr>
      </p:sp>
      <p:sp>
        <p:nvSpPr>
          <p:cNvPr id="33" name="Text 31"/>
          <p:cNvSpPr txBox="1"/>
          <p:nvPr/>
        </p:nvSpPr>
        <p:spPr>
          <a:xfrm>
            <a:off x="3017520" y="1600200"/>
            <a:ext cx="685800" cy="256032"/>
          </a:xfrm>
          <a:prstGeom prst="rect">
            <a:avLst/>
          </a:prstGeom>
          <a:noFill/>
          <a:ln/>
        </p:spPr>
        <p:txBody>
          <a:bodyPr wrap="square" lIns="0" tIns="0" rIns="0" bIns="0" rtlCol="0" anchor="t"/>
          <a:lstStyle/>
          <a:p>
            <a:pPr algn="ctr" indent="0" marL="0">
              <a:buNone/>
            </a:pPr>
            <a:r>
              <a:rPr lang="en-US" sz="1200" b="1" dirty="0">
                <a:solidFill>
                  <a:schemeClr val="accent2"/>
                </a:solidFill>
              </a:rPr>
              <a:t>1 : N</a:t>
            </a:r>
            <a:endParaRPr lang="en-US" sz="1200" dirty="0"/>
          </a:p>
        </p:txBody>
      </p:sp>
      <p:sp>
        <p:nvSpPr>
          <p:cNvPr id="34" name="Shape 32"/>
          <p:cNvSpPr/>
          <p:nvPr/>
        </p:nvSpPr>
        <p:spPr>
          <a:xfrm>
            <a:off x="4910328" y="3081528"/>
            <a:ext cx="914" cy="896112"/>
          </a:xfrm>
          <a:prstGeom prst="line">
            <a:avLst/>
          </a:prstGeom>
          <a:noFill/>
          <a:ln w="22225">
            <a:solidFill>
              <a:srgbClr val="B6C3D4"/>
            </a:solidFill>
            <a:prstDash val="solid"/>
          </a:ln>
        </p:spPr>
      </p:sp>
      <p:sp>
        <p:nvSpPr>
          <p:cNvPr id="35" name="Text 33"/>
          <p:cNvSpPr txBox="1"/>
          <p:nvPr/>
        </p:nvSpPr>
        <p:spPr>
          <a:xfrm>
            <a:off x="4983480" y="3383280"/>
            <a:ext cx="685800" cy="256032"/>
          </a:xfrm>
          <a:prstGeom prst="rect">
            <a:avLst/>
          </a:prstGeom>
          <a:noFill/>
          <a:ln/>
        </p:spPr>
        <p:txBody>
          <a:bodyPr wrap="square" lIns="0" tIns="0" rIns="0" bIns="0" rtlCol="0" anchor="t"/>
          <a:lstStyle/>
          <a:p>
            <a:pPr algn="ctr" indent="0" marL="0">
              <a:buNone/>
            </a:pPr>
            <a:r>
              <a:rPr lang="en-US" sz="1200" b="1" dirty="0">
                <a:solidFill>
                  <a:schemeClr val="accent2"/>
                </a:solidFill>
              </a:rPr>
              <a:t>1 : N</a:t>
            </a:r>
            <a:endParaRPr lang="en-US" sz="1200" dirty="0"/>
          </a:p>
        </p:txBody>
      </p:sp>
      <p:sp>
        <p:nvSpPr>
          <p:cNvPr id="36" name="Shape 34"/>
          <p:cNvSpPr/>
          <p:nvPr/>
        </p:nvSpPr>
        <p:spPr>
          <a:xfrm flipH="1">
            <a:off x="3063240" y="3081528"/>
            <a:ext cx="594360" cy="1124712"/>
          </a:xfrm>
          <a:prstGeom prst="line">
            <a:avLst/>
          </a:prstGeom>
          <a:noFill/>
          <a:ln w="22225">
            <a:solidFill>
              <a:srgbClr val="B6C3D4"/>
            </a:solidFill>
            <a:prstDash val="solid"/>
          </a:ln>
        </p:spPr>
      </p:sp>
      <p:sp>
        <p:nvSpPr>
          <p:cNvPr id="37" name="Text 35"/>
          <p:cNvSpPr txBox="1"/>
          <p:nvPr/>
        </p:nvSpPr>
        <p:spPr>
          <a:xfrm>
            <a:off x="3611880" y="3520440"/>
            <a:ext cx="685800" cy="256032"/>
          </a:xfrm>
          <a:prstGeom prst="rect">
            <a:avLst/>
          </a:prstGeom>
          <a:noFill/>
          <a:ln/>
        </p:spPr>
        <p:txBody>
          <a:bodyPr wrap="square" lIns="0" tIns="0" rIns="0" bIns="0" rtlCol="0" anchor="t"/>
          <a:lstStyle/>
          <a:p>
            <a:pPr algn="ctr" indent="0" marL="0">
              <a:buNone/>
            </a:pPr>
            <a:r>
              <a:rPr lang="en-US" sz="1200" b="1" dirty="0">
                <a:solidFill>
                  <a:schemeClr val="accent2"/>
                </a:solidFill>
              </a:rPr>
              <a:t>1 : N</a:t>
            </a:r>
            <a:endParaRPr lang="en-US" sz="1200" dirty="0"/>
          </a:p>
        </p:txBody>
      </p:sp>
      <p:sp>
        <p:nvSpPr>
          <p:cNvPr id="38" name="Shape 36"/>
          <p:cNvSpPr/>
          <p:nvPr/>
        </p:nvSpPr>
        <p:spPr>
          <a:xfrm>
            <a:off x="1801368" y="3383280"/>
            <a:ext cx="914" cy="594360"/>
          </a:xfrm>
          <a:prstGeom prst="line">
            <a:avLst/>
          </a:prstGeom>
          <a:noFill/>
          <a:ln w="22225">
            <a:solidFill>
              <a:srgbClr val="B6C3D4"/>
            </a:solidFill>
            <a:prstDash val="solid"/>
          </a:ln>
        </p:spPr>
      </p:sp>
      <p:sp>
        <p:nvSpPr>
          <p:cNvPr id="39" name="Text 37"/>
          <p:cNvSpPr txBox="1"/>
          <p:nvPr/>
        </p:nvSpPr>
        <p:spPr>
          <a:xfrm>
            <a:off x="1874520" y="3520440"/>
            <a:ext cx="685800" cy="256032"/>
          </a:xfrm>
          <a:prstGeom prst="rect">
            <a:avLst/>
          </a:prstGeom>
          <a:noFill/>
          <a:ln/>
        </p:spPr>
        <p:txBody>
          <a:bodyPr wrap="square" lIns="0" tIns="0" rIns="0" bIns="0" rtlCol="0" anchor="t"/>
          <a:lstStyle/>
          <a:p>
            <a:pPr algn="ctr" indent="0" marL="0">
              <a:buNone/>
            </a:pPr>
            <a:r>
              <a:rPr lang="en-US" sz="1200" b="1" dirty="0">
                <a:solidFill>
                  <a:schemeClr val="accent2"/>
                </a:solidFill>
              </a:rPr>
              <a:t>1 : N</a:t>
            </a:r>
            <a:endParaRPr lang="en-US" sz="1200" dirty="0"/>
          </a:p>
        </p:txBody>
      </p:sp>
      <p:sp>
        <p:nvSpPr>
          <p:cNvPr id="40" name="Text 38"/>
          <p:cNvSpPr txBox="1"/>
          <p:nvPr/>
        </p:nvSpPr>
        <p:spPr>
          <a:xfrm>
            <a:off x="548640" y="5852160"/>
            <a:ext cx="5669280" cy="411480"/>
          </a:xfrm>
          <a:prstGeom prst="rect">
            <a:avLst/>
          </a:prstGeom>
          <a:noFill/>
          <a:ln/>
        </p:spPr>
        <p:txBody>
          <a:bodyPr wrap="square" lIns="0" tIns="0" rIns="0" bIns="0" rtlCol="0" anchor="t"/>
          <a:lstStyle/>
          <a:p>
            <a:pPr indent="0" marL="0">
              <a:buNone/>
            </a:pPr>
            <a:r>
              <a:rPr lang="en-US" sz="1200" dirty="0">
                <a:solidFill>
                  <a:schemeClr val="bg2"/>
                </a:solidFill>
              </a:rPr>
              <a:t>1 domain → many checks · 1 check → many records · alerts cite the observations as evidence</a:t>
            </a:r>
            <a:endParaRPr lang="en-US" sz="1200" dirty="0"/>
          </a:p>
        </p:txBody>
      </p:sp>
      <p:sp>
        <p:nvSpPr>
          <p:cNvPr id="41" name="Shape 39"/>
          <p:cNvSpPr/>
          <p:nvPr/>
        </p:nvSpPr>
        <p:spPr>
          <a:xfrm>
            <a:off x="6675120" y="1325880"/>
            <a:ext cx="4965192" cy="4937760"/>
          </a:xfrm>
          <a:prstGeom prst="roundRect">
            <a:avLst>
              <a:gd name="adj" fmla="val 2222"/>
            </a:avLst>
          </a:prstGeom>
          <a:solidFill>
            <a:schemeClr val="tx2"/>
          </a:solidFill>
          <a:ln/>
        </p:spPr>
      </p:sp>
      <p:sp>
        <p:nvSpPr>
          <p:cNvPr id="42" name="Text 40"/>
          <p:cNvSpPr txBox="1"/>
          <p:nvPr/>
        </p:nvSpPr>
        <p:spPr>
          <a:xfrm>
            <a:off x="6949440" y="1508760"/>
            <a:ext cx="4389120" cy="411480"/>
          </a:xfrm>
          <a:prstGeom prst="rect">
            <a:avLst/>
          </a:prstGeom>
          <a:noFill/>
          <a:ln/>
        </p:spPr>
        <p:txBody>
          <a:bodyPr wrap="square" lIns="0" tIns="0" rIns="0" bIns="0" rtlCol="0" anchor="t"/>
          <a:lstStyle/>
          <a:p>
            <a:pPr indent="0" marL="0">
              <a:buNone/>
            </a:pPr>
            <a:r>
              <a:rPr lang="en-US" sz="2000" b="1" dirty="0">
                <a:solidFill>
                  <a:schemeClr val="accent1"/>
                </a:solidFill>
              </a:rPr>
              <a:t>FastAPI endpoints</a:t>
            </a:r>
            <a:endParaRPr lang="en-US" sz="2000" dirty="0"/>
          </a:p>
        </p:txBody>
      </p:sp>
      <p:sp>
        <p:nvSpPr>
          <p:cNvPr id="43" name="Shape 41"/>
          <p:cNvSpPr/>
          <p:nvPr/>
        </p:nvSpPr>
        <p:spPr>
          <a:xfrm>
            <a:off x="6949440" y="2148840"/>
            <a:ext cx="868680" cy="347472"/>
          </a:xfrm>
          <a:prstGeom prst="roundRect">
            <a:avLst>
              <a:gd name="adj" fmla="val 31579"/>
            </a:avLst>
          </a:prstGeom>
          <a:solidFill>
            <a:schemeClr val="accent4"/>
          </a:solidFill>
          <a:ln/>
        </p:spPr>
      </p:sp>
      <p:sp>
        <p:nvSpPr>
          <p:cNvPr id="44" name="Text 42"/>
          <p:cNvSpPr txBox="1"/>
          <p:nvPr/>
        </p:nvSpPr>
        <p:spPr>
          <a:xfrm>
            <a:off x="6949440" y="2148840"/>
            <a:ext cx="868680" cy="347472"/>
          </a:xfrm>
          <a:prstGeom prst="rect">
            <a:avLst/>
          </a:prstGeom>
          <a:noFill/>
          <a:ln/>
        </p:spPr>
        <p:txBody>
          <a:bodyPr wrap="square" lIns="0" tIns="0" rIns="0" bIns="0" rtlCol="0" anchor="ctr"/>
          <a:lstStyle/>
          <a:p>
            <a:pPr algn="ctr" indent="0" marL="0">
              <a:buNone/>
            </a:pPr>
            <a:r>
              <a:rPr lang="en-US" sz="1200" b="1" dirty="0">
                <a:solidFill>
                  <a:schemeClr val="tx1"/>
                </a:solidFill>
              </a:rPr>
              <a:t>POST</a:t>
            </a:r>
            <a:endParaRPr lang="en-US" sz="1200" dirty="0"/>
          </a:p>
        </p:txBody>
      </p:sp>
      <p:sp>
        <p:nvSpPr>
          <p:cNvPr id="45" name="Text 43"/>
          <p:cNvSpPr txBox="1"/>
          <p:nvPr/>
        </p:nvSpPr>
        <p:spPr>
          <a:xfrm>
            <a:off x="7955280" y="2130552"/>
            <a:ext cx="3566160" cy="384048"/>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/api/lookup</a:t>
            </a:r>
            <a:endParaRPr lang="en-US" sz="1500" dirty="0"/>
          </a:p>
        </p:txBody>
      </p:sp>
      <p:sp>
        <p:nvSpPr>
          <p:cNvPr id="46" name="Text 44"/>
          <p:cNvSpPr txBox="1"/>
          <p:nvPr/>
        </p:nvSpPr>
        <p:spPr>
          <a:xfrm>
            <a:off x="7955280" y="2532888"/>
            <a:ext cx="3566160" cy="320040"/>
          </a:xfrm>
          <a:prstGeom prst="rect">
            <a:avLst/>
          </a:prstGeom>
          <a:noFill/>
          <a:ln/>
        </p:spPr>
        <p:txBody>
          <a:bodyPr wrap="square" lIns="0" tIns="0" rIns="0" bIns="0" rtlCol="0" anchor="t"/>
          <a:lstStyle/>
          <a:p>
            <a:pPr indent="0" marL="0">
              <a:buNone/>
            </a:pPr>
            <a:r>
              <a:rPr lang="en-US" sz="1400" dirty="0">
                <a:solidFill>
                  <a:schemeClr val="bg2"/>
                </a:solidFill>
              </a:rPr>
              <a:t>DNS records for a domain</a:t>
            </a:r>
            <a:endParaRPr lang="en-US" sz="1400" dirty="0"/>
          </a:p>
        </p:txBody>
      </p:sp>
      <p:sp>
        <p:nvSpPr>
          <p:cNvPr id="47" name="Shape 45"/>
          <p:cNvSpPr/>
          <p:nvPr/>
        </p:nvSpPr>
        <p:spPr>
          <a:xfrm>
            <a:off x="6949440" y="3108960"/>
            <a:ext cx="868680" cy="347472"/>
          </a:xfrm>
          <a:prstGeom prst="roundRect">
            <a:avLst>
              <a:gd name="adj" fmla="val 31579"/>
            </a:avLst>
          </a:prstGeom>
          <a:solidFill>
            <a:schemeClr val="accent4"/>
          </a:solidFill>
          <a:ln/>
        </p:spPr>
      </p:sp>
      <p:sp>
        <p:nvSpPr>
          <p:cNvPr id="48" name="Text 46"/>
          <p:cNvSpPr txBox="1"/>
          <p:nvPr/>
        </p:nvSpPr>
        <p:spPr>
          <a:xfrm>
            <a:off x="6949440" y="3108960"/>
            <a:ext cx="868680" cy="347472"/>
          </a:xfrm>
          <a:prstGeom prst="rect">
            <a:avLst/>
          </a:prstGeom>
          <a:noFill/>
          <a:ln/>
        </p:spPr>
        <p:txBody>
          <a:bodyPr wrap="square" lIns="0" tIns="0" rIns="0" bIns="0" rtlCol="0" anchor="ctr"/>
          <a:lstStyle/>
          <a:p>
            <a:pPr algn="ctr" indent="0" marL="0">
              <a:buNone/>
            </a:pPr>
            <a:r>
              <a:rPr lang="en-US" sz="1200" b="1" dirty="0">
                <a:solidFill>
                  <a:schemeClr val="tx1"/>
                </a:solidFill>
              </a:rPr>
              <a:t>POST</a:t>
            </a:r>
            <a:endParaRPr lang="en-US" sz="1200" dirty="0"/>
          </a:p>
        </p:txBody>
      </p:sp>
      <p:sp>
        <p:nvSpPr>
          <p:cNvPr id="49" name="Text 47"/>
          <p:cNvSpPr txBox="1"/>
          <p:nvPr/>
        </p:nvSpPr>
        <p:spPr>
          <a:xfrm>
            <a:off x="7955280" y="3090672"/>
            <a:ext cx="3566160" cy="384048"/>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/api/compare</a:t>
            </a:r>
            <a:endParaRPr lang="en-US" sz="1500" dirty="0"/>
          </a:p>
        </p:txBody>
      </p:sp>
      <p:sp>
        <p:nvSpPr>
          <p:cNvPr id="50" name="Text 48"/>
          <p:cNvSpPr txBox="1"/>
          <p:nvPr/>
        </p:nvSpPr>
        <p:spPr>
          <a:xfrm>
            <a:off x="7955280" y="3493008"/>
            <a:ext cx="3566160" cy="320040"/>
          </a:xfrm>
          <a:prstGeom prst="rect">
            <a:avLst/>
          </a:prstGeom>
          <a:noFill/>
          <a:ln/>
        </p:spPr>
        <p:txBody>
          <a:bodyPr wrap="square" lIns="0" tIns="0" rIns="0" bIns="0" rtlCol="0" anchor="t"/>
          <a:lstStyle/>
          <a:p>
            <a:pPr indent="0" marL="0">
              <a:buNone/>
            </a:pPr>
            <a:r>
              <a:rPr lang="en-US" sz="1400" dirty="0">
                <a:solidFill>
                  <a:schemeClr val="bg2"/>
                </a:solidFill>
              </a:rPr>
              <a:t>Query all resolvers and compare</a:t>
            </a:r>
            <a:endParaRPr lang="en-US" sz="1400" dirty="0"/>
          </a:p>
        </p:txBody>
      </p:sp>
      <p:sp>
        <p:nvSpPr>
          <p:cNvPr id="51" name="Shape 49"/>
          <p:cNvSpPr/>
          <p:nvPr/>
        </p:nvSpPr>
        <p:spPr>
          <a:xfrm>
            <a:off x="6949440" y="4069080"/>
            <a:ext cx="868680" cy="347472"/>
          </a:xfrm>
          <a:prstGeom prst="roundRect">
            <a:avLst>
              <a:gd name="adj" fmla="val 31579"/>
            </a:avLst>
          </a:prstGeom>
          <a:solidFill>
            <a:schemeClr val="accent3"/>
          </a:solidFill>
          <a:ln/>
        </p:spPr>
      </p:sp>
      <p:sp>
        <p:nvSpPr>
          <p:cNvPr id="52" name="Text 50"/>
          <p:cNvSpPr txBox="1"/>
          <p:nvPr/>
        </p:nvSpPr>
        <p:spPr>
          <a:xfrm>
            <a:off x="6949440" y="4069080"/>
            <a:ext cx="868680" cy="347472"/>
          </a:xfrm>
          <a:prstGeom prst="rect">
            <a:avLst/>
          </a:prstGeom>
          <a:noFill/>
          <a:ln/>
        </p:spPr>
        <p:txBody>
          <a:bodyPr wrap="square" lIns="0" tIns="0" rIns="0" bIns="0" rtlCol="0" anchor="ctr"/>
          <a:lstStyle/>
          <a:p>
            <a:pPr algn="ctr" indent="0" marL="0">
              <a:buNone/>
            </a:pPr>
            <a:r>
              <a:rPr lang="en-US" sz="1200" b="1" dirty="0">
                <a:solidFill>
                  <a:schemeClr val="tx1"/>
                </a:solidFill>
              </a:rPr>
              <a:t>GET</a:t>
            </a:r>
            <a:endParaRPr lang="en-US" sz="1200" dirty="0"/>
          </a:p>
        </p:txBody>
      </p:sp>
      <p:sp>
        <p:nvSpPr>
          <p:cNvPr id="53" name="Text 51"/>
          <p:cNvSpPr txBox="1"/>
          <p:nvPr/>
        </p:nvSpPr>
        <p:spPr>
          <a:xfrm>
            <a:off x="7955280" y="4050792"/>
            <a:ext cx="3566160" cy="384048"/>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/api/alerts</a:t>
            </a:r>
            <a:endParaRPr lang="en-US" sz="1500" dirty="0"/>
          </a:p>
        </p:txBody>
      </p:sp>
      <p:sp>
        <p:nvSpPr>
          <p:cNvPr id="54" name="Text 52"/>
          <p:cNvSpPr txBox="1"/>
          <p:nvPr/>
        </p:nvSpPr>
        <p:spPr>
          <a:xfrm>
            <a:off x="7955280" y="4453128"/>
            <a:ext cx="3566160" cy="320040"/>
          </a:xfrm>
          <a:prstGeom prst="rect">
            <a:avLst/>
          </a:prstGeom>
          <a:noFill/>
          <a:ln/>
        </p:spPr>
        <p:txBody>
          <a:bodyPr wrap="square" lIns="0" tIns="0" rIns="0" bIns="0" rtlCol="0" anchor="t"/>
          <a:lstStyle/>
          <a:p>
            <a:pPr indent="0" marL="0">
              <a:buNone/>
            </a:pPr>
            <a:r>
              <a:rPr lang="en-US" sz="1400" dirty="0">
                <a:solidFill>
                  <a:schemeClr val="bg2"/>
                </a:solidFill>
              </a:rPr>
              <a:t>List alerts with evidence</a:t>
            </a:r>
            <a:endParaRPr lang="en-US" sz="1400" dirty="0"/>
          </a:p>
        </p:txBody>
      </p:sp>
      <p:sp>
        <p:nvSpPr>
          <p:cNvPr id="55" name="Shape 53"/>
          <p:cNvSpPr/>
          <p:nvPr/>
        </p:nvSpPr>
        <p:spPr>
          <a:xfrm>
            <a:off x="6949440" y="5029200"/>
            <a:ext cx="868680" cy="347472"/>
          </a:xfrm>
          <a:prstGeom prst="roundRect">
            <a:avLst>
              <a:gd name="adj" fmla="val 31579"/>
            </a:avLst>
          </a:prstGeom>
          <a:solidFill>
            <a:schemeClr val="accent3"/>
          </a:solidFill>
          <a:ln/>
        </p:spPr>
      </p:sp>
      <p:sp>
        <p:nvSpPr>
          <p:cNvPr id="56" name="Text 54"/>
          <p:cNvSpPr txBox="1"/>
          <p:nvPr/>
        </p:nvSpPr>
        <p:spPr>
          <a:xfrm>
            <a:off x="6949440" y="5029200"/>
            <a:ext cx="868680" cy="347472"/>
          </a:xfrm>
          <a:prstGeom prst="rect">
            <a:avLst/>
          </a:prstGeom>
          <a:noFill/>
          <a:ln/>
        </p:spPr>
        <p:txBody>
          <a:bodyPr wrap="square" lIns="0" tIns="0" rIns="0" bIns="0" rtlCol="0" anchor="ctr"/>
          <a:lstStyle/>
          <a:p>
            <a:pPr algn="ctr" indent="0" marL="0">
              <a:buNone/>
            </a:pPr>
            <a:r>
              <a:rPr lang="en-US" sz="1200" b="1" dirty="0">
                <a:solidFill>
                  <a:schemeClr val="tx1"/>
                </a:solidFill>
              </a:rPr>
              <a:t>GET</a:t>
            </a:r>
            <a:endParaRPr lang="en-US" sz="1200" dirty="0"/>
          </a:p>
        </p:txBody>
      </p:sp>
      <p:sp>
        <p:nvSpPr>
          <p:cNvPr id="57" name="Text 55"/>
          <p:cNvSpPr txBox="1"/>
          <p:nvPr/>
        </p:nvSpPr>
        <p:spPr>
          <a:xfrm>
            <a:off x="7955280" y="5010912"/>
            <a:ext cx="3566160" cy="384048"/>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/api/domains/{domain}/history</a:t>
            </a:r>
            <a:endParaRPr lang="en-US" sz="1500" dirty="0"/>
          </a:p>
        </p:txBody>
      </p:sp>
      <p:sp>
        <p:nvSpPr>
          <p:cNvPr id="58" name="Text 56"/>
          <p:cNvSpPr txBox="1"/>
          <p:nvPr/>
        </p:nvSpPr>
        <p:spPr>
          <a:xfrm>
            <a:off x="7955280" y="5413248"/>
            <a:ext cx="3566160" cy="320040"/>
          </a:xfrm>
          <a:prstGeom prst="rect">
            <a:avLst/>
          </a:prstGeom>
          <a:noFill/>
          <a:ln/>
        </p:spPr>
        <p:txBody>
          <a:bodyPr wrap="square" lIns="0" tIns="0" rIns="0" bIns="0" rtlCol="0" anchor="t"/>
          <a:lstStyle/>
          <a:p>
            <a:pPr indent="0" marL="0">
              <a:buNone/>
            </a:pPr>
            <a:r>
              <a:rPr lang="en-US" sz="1400" dirty="0">
                <a:solidFill>
                  <a:schemeClr val="bg2"/>
                </a:solidFill>
              </a:rPr>
              <a:t>Past IPs, TTL trend, alerts</a:t>
            </a:r>
            <a:endParaRPr lang="en-US" sz="1400" dirty="0"/>
          </a:p>
        </p:txBody>
      </p:sp>
      <p:sp>
        <p:nvSpPr>
          <p:cNvPr id="59" name="Text 57"/>
          <p:cNvSpPr txBox="1"/>
          <p:nvPr/>
        </p:nvSpPr>
        <p:spPr>
          <a:xfrm>
            <a:off x="6949440" y="5715000"/>
            <a:ext cx="4480560" cy="411480"/>
          </a:xfrm>
          <a:prstGeom prst="rect">
            <a:avLst/>
          </a:prstGeom>
          <a:noFill/>
          <a:ln/>
        </p:spPr>
        <p:txBody>
          <a:bodyPr wrap="square" lIns="0" tIns="0" rIns="0" bIns="0" rtlCol="0" anchor="t"/>
          <a:lstStyle/>
          <a:p>
            <a:pPr indent="0" marL="0">
              <a:buNone/>
            </a:pPr>
            <a:r>
              <a:rPr lang="en-US" sz="1200" dirty="0">
                <a:solidFill>
                  <a:schemeClr val="bg2"/>
                </a:solidFill>
              </a:rPr>
              <a:t>Only one module talks to the database; queries are parameterised.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Testing and evaluation plan</a:t>
            </a:r>
            <a:endParaRPr lang="en-US" sz="3200" dirty="0"/>
          </a:p>
        </p:txBody>
      </p:sp>
      <p:sp>
        <p:nvSpPr>
          <p:cNvPr id="3" name="Shape 1"/>
          <p:cNvSpPr/>
          <p:nvPr/>
        </p:nvSpPr>
        <p:spPr>
          <a:xfrm>
            <a:off x="9631375" y="438912"/>
            <a:ext cx="2011680" cy="457200"/>
          </a:xfrm>
          <a:prstGeom prst="roundRect">
            <a:avLst>
              <a:gd name="adj" fmla="val 24000"/>
            </a:avLst>
          </a:prstGeom>
          <a:solidFill>
            <a:schemeClr val="accent4"/>
          </a:solidFill>
          <a:ln/>
        </p:spPr>
      </p:sp>
      <p:sp>
        <p:nvSpPr>
          <p:cNvPr id="4" name="Text 2"/>
          <p:cNvSpPr txBox="1"/>
          <p:nvPr/>
        </p:nvSpPr>
        <p:spPr>
          <a:xfrm>
            <a:off x="9631375" y="438912"/>
            <a:ext cx="2011680" cy="457200"/>
          </a:xfrm>
          <a:prstGeom prst="rect">
            <a:avLst/>
          </a:prstGeom>
          <a:noFill/>
          <a:ln/>
        </p:spPr>
        <p:txBody>
          <a:bodyPr wrap="square" lIns="0" tIns="0" rIns="0" bIns="0" rtlCol="0" anchor="ctr"/>
          <a:lstStyle/>
          <a:p>
            <a:pPr algn="ctr" indent="0" marL="0">
              <a:buNone/>
            </a:pPr>
            <a:r>
              <a:rPr lang="en-US" sz="1200" b="1" dirty="0">
                <a:solidFill>
                  <a:schemeClr val="tx1"/>
                </a:solidFill>
              </a:rPr>
              <a:t>PLANNED · no results yet</a:t>
            </a:r>
            <a:endParaRPr lang="en-US" sz="1200" dirty="0"/>
          </a:p>
        </p:txBody>
      </p:sp>
      <p:sp>
        <p:nvSpPr>
          <p:cNvPr id="5" name="Shape 3"/>
          <p:cNvSpPr/>
          <p:nvPr/>
        </p:nvSpPr>
        <p:spPr>
          <a:xfrm>
            <a:off x="548640" y="1325880"/>
            <a:ext cx="3246120" cy="1078992"/>
          </a:xfrm>
          <a:prstGeom prst="roundRect">
            <a:avLst>
              <a:gd name="adj" fmla="val 10169"/>
            </a:avLst>
          </a:prstGeom>
          <a:solidFill>
            <a:schemeClr val="tx2"/>
          </a:solidFill>
          <a:ln/>
        </p:spPr>
      </p:sp>
      <p:sp>
        <p:nvSpPr>
          <p:cNvPr id="6" name="Shape 4"/>
          <p:cNvSpPr/>
          <p:nvPr/>
        </p:nvSpPr>
        <p:spPr>
          <a:xfrm>
            <a:off x="731520" y="1545336"/>
            <a:ext cx="182880" cy="182880"/>
          </a:xfrm>
          <a:prstGeom prst="ellipse">
            <a:avLst/>
          </a:prstGeom>
          <a:solidFill>
            <a:srgbClr val="22C55E"/>
          </a:solidFill>
          <a:ln/>
        </p:spPr>
      </p:sp>
      <p:sp>
        <p:nvSpPr>
          <p:cNvPr id="7" name="Text 5"/>
          <p:cNvSpPr txBox="1"/>
          <p:nvPr/>
        </p:nvSpPr>
        <p:spPr>
          <a:xfrm>
            <a:off x="1024128" y="1444752"/>
            <a:ext cx="2697480" cy="365760"/>
          </a:xfrm>
          <a:prstGeom prst="rect">
            <a:avLst/>
          </a:prstGeom>
          <a:noFill/>
          <a:ln/>
        </p:spPr>
        <p:txBody>
          <a:bodyPr wrap="square" lIns="0" tIns="0" rIns="0" bIns="0" rtlCol="0" anchor="t"/>
          <a:lstStyle/>
          <a:p>
            <a:pPr indent="0" marL="0">
              <a:buNone/>
            </a:pPr>
            <a:r>
              <a:rPr lang="en-US" sz="1500" b="1" dirty="0">
                <a:solidFill>
                  <a:schemeClr val="bg1"/>
                </a:solidFill>
              </a:rPr>
              <a:t>Normal DNS lookup</a:t>
            </a:r>
            <a:endParaRPr lang="en-US" sz="1500" dirty="0"/>
          </a:p>
        </p:txBody>
      </p:sp>
      <p:sp>
        <p:nvSpPr>
          <p:cNvPr id="8" name="Text 6"/>
          <p:cNvSpPr txBox="1"/>
          <p:nvPr/>
        </p:nvSpPr>
        <p:spPr>
          <a:xfrm>
            <a:off x="1024128" y="1783080"/>
            <a:ext cx="2697480" cy="274320"/>
          </a:xfrm>
          <a:prstGeom prst="rect">
            <a:avLst/>
          </a:prstGeom>
          <a:noFill/>
          <a:ln/>
        </p:spPr>
        <p:txBody>
          <a:bodyPr wrap="square" lIns="0" tIns="0" rIns="0" bIns="0" rtlCol="0" anchor="t"/>
          <a:lstStyle/>
          <a:p>
            <a:pPr indent="0" marL="0">
              <a:buNone/>
            </a:pPr>
            <a:r>
              <a:rPr lang="en-US" sz="1200" dirty="0">
                <a:solidFill>
                  <a:schemeClr val="bg2"/>
                </a:solidFill>
              </a:rPr>
              <a:t>Stable domains, repeated</a:t>
            </a:r>
            <a:endParaRPr lang="en-US" sz="1200" dirty="0"/>
          </a:p>
        </p:txBody>
      </p:sp>
      <p:sp>
        <p:nvSpPr>
          <p:cNvPr id="9" name="Text 7"/>
          <p:cNvSpPr txBox="1"/>
          <p:nvPr/>
        </p:nvSpPr>
        <p:spPr>
          <a:xfrm>
            <a:off x="1024128" y="2057400"/>
            <a:ext cx="2697480" cy="274320"/>
          </a:xfrm>
          <a:prstGeom prst="rect">
            <a:avLst/>
          </a:prstGeom>
          <a:noFill/>
          <a:ln/>
        </p:spPr>
        <p:txBody>
          <a:bodyPr wrap="square" lIns="0" tIns="0" rIns="0" bIns="0" rtlCol="0" anchor="t"/>
          <a:lstStyle/>
          <a:p>
            <a:pPr indent="0" marL="0">
              <a:buNone/>
            </a:pPr>
            <a:r>
              <a:rPr lang="en-US" sz="1200" dirty="0">
                <a:solidFill>
                  <a:srgbClr val="22C55E"/>
                </a:solidFill>
              </a:rPr>
              <a:t>→ No alert after warm-up</a:t>
            </a:r>
            <a:endParaRPr lang="en-US" sz="1200" dirty="0"/>
          </a:p>
        </p:txBody>
      </p:sp>
      <p:sp>
        <p:nvSpPr>
          <p:cNvPr id="10" name="Shape 8"/>
          <p:cNvSpPr/>
          <p:nvPr/>
        </p:nvSpPr>
        <p:spPr>
          <a:xfrm>
            <a:off x="3977640" y="1325880"/>
            <a:ext cx="3246120" cy="1078992"/>
          </a:xfrm>
          <a:prstGeom prst="roundRect">
            <a:avLst>
              <a:gd name="adj" fmla="val 10169"/>
            </a:avLst>
          </a:prstGeom>
          <a:solidFill>
            <a:schemeClr val="tx2"/>
          </a:solidFill>
          <a:ln/>
        </p:spPr>
      </p:sp>
      <p:sp>
        <p:nvSpPr>
          <p:cNvPr id="11" name="Shape 9"/>
          <p:cNvSpPr/>
          <p:nvPr/>
        </p:nvSpPr>
        <p:spPr>
          <a:xfrm>
            <a:off x="4160520" y="1545336"/>
            <a:ext cx="182880" cy="182880"/>
          </a:xfrm>
          <a:prstGeom prst="ellipse">
            <a:avLst/>
          </a:prstGeom>
          <a:solidFill>
            <a:srgbClr val="22D3EE"/>
          </a:solidFill>
          <a:ln/>
        </p:spPr>
      </p:sp>
      <p:sp>
        <p:nvSpPr>
          <p:cNvPr id="12" name="Text 10"/>
          <p:cNvSpPr txBox="1"/>
          <p:nvPr/>
        </p:nvSpPr>
        <p:spPr>
          <a:xfrm>
            <a:off x="4453128" y="1444752"/>
            <a:ext cx="2697480" cy="365760"/>
          </a:xfrm>
          <a:prstGeom prst="rect">
            <a:avLst/>
          </a:prstGeom>
          <a:noFill/>
          <a:ln/>
        </p:spPr>
        <p:txBody>
          <a:bodyPr wrap="square" lIns="0" tIns="0" rIns="0" bIns="0" rtlCol="0" anchor="t"/>
          <a:lstStyle/>
          <a:p>
            <a:pPr indent="0" marL="0">
              <a:buNone/>
            </a:pPr>
            <a:r>
              <a:rPr lang="en-US" sz="1500" b="1" dirty="0">
                <a:solidFill>
                  <a:schemeClr val="bg1"/>
                </a:solidFill>
              </a:rPr>
              <a:t>Historical IP change</a:t>
            </a:r>
            <a:endParaRPr lang="en-US" sz="1500" dirty="0"/>
          </a:p>
        </p:txBody>
      </p:sp>
      <p:sp>
        <p:nvSpPr>
          <p:cNvPr id="13" name="Text 11"/>
          <p:cNvSpPr txBox="1"/>
          <p:nvPr/>
        </p:nvSpPr>
        <p:spPr>
          <a:xfrm>
            <a:off x="4453128" y="1783080"/>
            <a:ext cx="2697480" cy="274320"/>
          </a:xfrm>
          <a:prstGeom prst="rect">
            <a:avLst/>
          </a:prstGeom>
          <a:noFill/>
          <a:ln/>
        </p:spPr>
        <p:txBody>
          <a:bodyPr wrap="square" lIns="0" tIns="0" rIns="0" bIns="0" rtlCol="0" anchor="t"/>
          <a:lstStyle/>
          <a:p>
            <a:pPr indent="0" marL="0">
              <a:buNone/>
            </a:pPr>
            <a:r>
              <a:rPr lang="en-US" sz="1200" dirty="0">
                <a:solidFill>
                  <a:schemeClr val="bg2"/>
                </a:solidFill>
              </a:rPr>
              <a:t>CDN domains; simulated migration</a:t>
            </a:r>
            <a:endParaRPr lang="en-US" sz="1200" dirty="0"/>
          </a:p>
        </p:txBody>
      </p:sp>
      <p:sp>
        <p:nvSpPr>
          <p:cNvPr id="14" name="Text 12"/>
          <p:cNvSpPr txBox="1"/>
          <p:nvPr/>
        </p:nvSpPr>
        <p:spPr>
          <a:xfrm>
            <a:off x="4453128" y="2057400"/>
            <a:ext cx="2697480" cy="274320"/>
          </a:xfrm>
          <a:prstGeom prst="rect">
            <a:avLst/>
          </a:prstGeom>
          <a:noFill/>
          <a:ln/>
        </p:spPr>
        <p:txBody>
          <a:bodyPr wrap="square" lIns="0" tIns="0" rIns="0" bIns="0" rtlCol="0" anchor="t"/>
          <a:lstStyle/>
          <a:p>
            <a:pPr indent="0" marL="0">
              <a:buNone/>
            </a:pPr>
            <a:r>
              <a:rPr lang="en-US" sz="1200" dirty="0">
                <a:solidFill>
                  <a:srgbClr val="22D3EE"/>
                </a:solidFill>
              </a:rPr>
              <a:t>→ No alert or Low + reason</a:t>
            </a:r>
            <a:endParaRPr lang="en-US" sz="1200" dirty="0"/>
          </a:p>
        </p:txBody>
      </p:sp>
      <p:sp>
        <p:nvSpPr>
          <p:cNvPr id="15" name="Shape 13"/>
          <p:cNvSpPr/>
          <p:nvPr/>
        </p:nvSpPr>
        <p:spPr>
          <a:xfrm>
            <a:off x="548640" y="2532888"/>
            <a:ext cx="3246120" cy="1078992"/>
          </a:xfrm>
          <a:prstGeom prst="roundRect">
            <a:avLst>
              <a:gd name="adj" fmla="val 10169"/>
            </a:avLst>
          </a:prstGeom>
          <a:solidFill>
            <a:schemeClr val="tx2"/>
          </a:solidFill>
          <a:ln/>
        </p:spPr>
      </p:sp>
      <p:sp>
        <p:nvSpPr>
          <p:cNvPr id="16" name="Shape 14"/>
          <p:cNvSpPr/>
          <p:nvPr/>
        </p:nvSpPr>
        <p:spPr>
          <a:xfrm>
            <a:off x="731520" y="2752344"/>
            <a:ext cx="182880" cy="182880"/>
          </a:xfrm>
          <a:prstGeom prst="ellipse">
            <a:avLst/>
          </a:prstGeom>
          <a:solidFill>
            <a:srgbClr val="F59E0B"/>
          </a:solidFill>
          <a:ln/>
        </p:spPr>
      </p:sp>
      <p:sp>
        <p:nvSpPr>
          <p:cNvPr id="17" name="Text 15"/>
          <p:cNvSpPr txBox="1"/>
          <p:nvPr/>
        </p:nvSpPr>
        <p:spPr>
          <a:xfrm>
            <a:off x="1024128" y="2651760"/>
            <a:ext cx="2697480" cy="365760"/>
          </a:xfrm>
          <a:prstGeom prst="rect">
            <a:avLst/>
          </a:prstGeom>
          <a:noFill/>
          <a:ln/>
        </p:spPr>
        <p:txBody>
          <a:bodyPr wrap="square" lIns="0" tIns="0" rIns="0" bIns="0" rtlCol="0" anchor="t"/>
          <a:lstStyle/>
          <a:p>
            <a:pPr indent="0" marL="0">
              <a:buNone/>
            </a:pPr>
            <a:r>
              <a:rPr lang="en-US" sz="1500" b="1" dirty="0">
                <a:solidFill>
                  <a:schemeClr val="bg1"/>
                </a:solidFill>
              </a:rPr>
              <a:t>Resolver discrepancy</a:t>
            </a:r>
            <a:endParaRPr lang="en-US" sz="1500" dirty="0"/>
          </a:p>
        </p:txBody>
      </p:sp>
      <p:sp>
        <p:nvSpPr>
          <p:cNvPr id="18" name="Text 16"/>
          <p:cNvSpPr txBox="1"/>
          <p:nvPr/>
        </p:nvSpPr>
        <p:spPr>
          <a:xfrm>
            <a:off x="1024128" y="2990088"/>
            <a:ext cx="2697480" cy="274320"/>
          </a:xfrm>
          <a:prstGeom prst="rect">
            <a:avLst/>
          </a:prstGeom>
          <a:noFill/>
          <a:ln/>
        </p:spPr>
        <p:txBody>
          <a:bodyPr wrap="square" lIns="0" tIns="0" rIns="0" bIns="0" rtlCol="0" anchor="t"/>
          <a:lstStyle/>
          <a:p>
            <a:pPr indent="0" marL="0">
              <a:buNone/>
            </a:pPr>
            <a:r>
              <a:rPr lang="en-US" sz="1200" dirty="0">
                <a:solidFill>
                  <a:schemeClr val="bg2"/>
                </a:solidFill>
              </a:rPr>
              <a:t>Geo-DNS domains; mock resolver</a:t>
            </a:r>
            <a:endParaRPr lang="en-US" sz="1200" dirty="0"/>
          </a:p>
        </p:txBody>
      </p:sp>
      <p:sp>
        <p:nvSpPr>
          <p:cNvPr id="19" name="Text 17"/>
          <p:cNvSpPr txBox="1"/>
          <p:nvPr/>
        </p:nvSpPr>
        <p:spPr>
          <a:xfrm>
            <a:off x="1024128" y="3264408"/>
            <a:ext cx="2697480" cy="274320"/>
          </a:xfrm>
          <a:prstGeom prst="rect">
            <a:avLst/>
          </a:prstGeom>
          <a:noFill/>
          <a:ln/>
        </p:spPr>
        <p:txBody>
          <a:bodyPr wrap="square" lIns="0" tIns="0" rIns="0" bIns="0" rtlCol="0" anchor="t"/>
          <a:lstStyle/>
          <a:p>
            <a:pPr indent="0" marL="0">
              <a:buNone/>
            </a:pPr>
            <a:r>
              <a:rPr lang="en-US" sz="1200" dirty="0">
                <a:solidFill>
                  <a:srgbClr val="F59E0B"/>
                </a:solidFill>
              </a:rPr>
              <a:t>→ R2 with causes listed</a:t>
            </a:r>
            <a:endParaRPr lang="en-US" sz="1200" dirty="0"/>
          </a:p>
        </p:txBody>
      </p:sp>
      <p:sp>
        <p:nvSpPr>
          <p:cNvPr id="20" name="Shape 18"/>
          <p:cNvSpPr/>
          <p:nvPr/>
        </p:nvSpPr>
        <p:spPr>
          <a:xfrm>
            <a:off x="3977640" y="2532888"/>
            <a:ext cx="3246120" cy="1078992"/>
          </a:xfrm>
          <a:prstGeom prst="roundRect">
            <a:avLst>
              <a:gd name="adj" fmla="val 10169"/>
            </a:avLst>
          </a:prstGeom>
          <a:solidFill>
            <a:schemeClr val="tx2"/>
          </a:solidFill>
          <a:ln/>
        </p:spPr>
      </p:sp>
      <p:sp>
        <p:nvSpPr>
          <p:cNvPr id="21" name="Shape 19"/>
          <p:cNvSpPr/>
          <p:nvPr/>
        </p:nvSpPr>
        <p:spPr>
          <a:xfrm>
            <a:off x="4160520" y="2752344"/>
            <a:ext cx="182880" cy="182880"/>
          </a:xfrm>
          <a:prstGeom prst="ellipse">
            <a:avLst/>
          </a:prstGeom>
          <a:solidFill>
            <a:srgbClr val="A78BFA"/>
          </a:solidFill>
          <a:ln/>
        </p:spPr>
      </p:sp>
      <p:sp>
        <p:nvSpPr>
          <p:cNvPr id="22" name="Text 20"/>
          <p:cNvSpPr txBox="1"/>
          <p:nvPr/>
        </p:nvSpPr>
        <p:spPr>
          <a:xfrm>
            <a:off x="4453128" y="2651760"/>
            <a:ext cx="2697480" cy="365760"/>
          </a:xfrm>
          <a:prstGeom prst="rect">
            <a:avLst/>
          </a:prstGeom>
          <a:noFill/>
          <a:ln/>
        </p:spPr>
        <p:txBody>
          <a:bodyPr wrap="square" lIns="0" tIns="0" rIns="0" bIns="0" rtlCol="0" anchor="t"/>
          <a:lstStyle/>
          <a:p>
            <a:pPr indent="0" marL="0">
              <a:buNone/>
            </a:pPr>
            <a:r>
              <a:rPr lang="en-US" sz="1500" b="1" dirty="0">
                <a:solidFill>
                  <a:schemeClr val="bg1"/>
                </a:solidFill>
              </a:rPr>
              <a:t>Invalid domain input</a:t>
            </a:r>
            <a:endParaRPr lang="en-US" sz="1500" dirty="0"/>
          </a:p>
        </p:txBody>
      </p:sp>
      <p:sp>
        <p:nvSpPr>
          <p:cNvPr id="23" name="Text 21"/>
          <p:cNvSpPr txBox="1"/>
          <p:nvPr/>
        </p:nvSpPr>
        <p:spPr>
          <a:xfrm>
            <a:off x="4453128" y="2990088"/>
            <a:ext cx="2697480" cy="274320"/>
          </a:xfrm>
          <a:prstGeom prst="rect">
            <a:avLst/>
          </a:prstGeom>
          <a:noFill/>
          <a:ln/>
        </p:spPr>
        <p:txBody>
          <a:bodyPr wrap="square" lIns="0" tIns="0" rIns="0" bIns="0" rtlCol="0" anchor="t"/>
          <a:lstStyle/>
          <a:p>
            <a:pPr indent="0" marL="0">
              <a:buNone/>
            </a:pPr>
            <a:r>
              <a:rPr lang="en-US" sz="1200" dirty="0">
                <a:solidFill>
                  <a:schemeClr val="bg2"/>
                </a:solidFill>
              </a:rPr>
              <a:t>Empty, too long, IPs, URLs</a:t>
            </a:r>
            <a:endParaRPr lang="en-US" sz="1200" dirty="0"/>
          </a:p>
        </p:txBody>
      </p:sp>
      <p:sp>
        <p:nvSpPr>
          <p:cNvPr id="24" name="Text 22"/>
          <p:cNvSpPr txBox="1"/>
          <p:nvPr/>
        </p:nvSpPr>
        <p:spPr>
          <a:xfrm>
            <a:off x="4453128" y="3264408"/>
            <a:ext cx="2697480" cy="274320"/>
          </a:xfrm>
          <a:prstGeom prst="rect">
            <a:avLst/>
          </a:prstGeom>
          <a:noFill/>
          <a:ln/>
        </p:spPr>
        <p:txBody>
          <a:bodyPr wrap="square" lIns="0" tIns="0" rIns="0" bIns="0" rtlCol="0" anchor="t"/>
          <a:lstStyle/>
          <a:p>
            <a:pPr indent="0" marL="0">
              <a:buNone/>
            </a:pPr>
            <a:r>
              <a:rPr lang="en-US" sz="1200" dirty="0">
                <a:solidFill>
                  <a:srgbClr val="A78BFA"/>
                </a:solidFill>
              </a:rPr>
              <a:t>→ Rejected with clear message</a:t>
            </a:r>
            <a:endParaRPr lang="en-US" sz="1200" dirty="0"/>
          </a:p>
        </p:txBody>
      </p:sp>
      <p:sp>
        <p:nvSpPr>
          <p:cNvPr id="25" name="Shape 23"/>
          <p:cNvSpPr/>
          <p:nvPr/>
        </p:nvSpPr>
        <p:spPr>
          <a:xfrm>
            <a:off x="548640" y="3739896"/>
            <a:ext cx="3246120" cy="1078992"/>
          </a:xfrm>
          <a:prstGeom prst="roundRect">
            <a:avLst>
              <a:gd name="adj" fmla="val 10169"/>
            </a:avLst>
          </a:prstGeom>
          <a:solidFill>
            <a:schemeClr val="tx2"/>
          </a:solidFill>
          <a:ln/>
        </p:spPr>
      </p:sp>
      <p:sp>
        <p:nvSpPr>
          <p:cNvPr id="26" name="Shape 24"/>
          <p:cNvSpPr/>
          <p:nvPr/>
        </p:nvSpPr>
        <p:spPr>
          <a:xfrm>
            <a:off x="731520" y="3959352"/>
            <a:ext cx="182880" cy="182880"/>
          </a:xfrm>
          <a:prstGeom prst="ellipse">
            <a:avLst/>
          </a:prstGeom>
          <a:solidFill>
            <a:srgbClr val="EF4444"/>
          </a:solidFill>
          <a:ln/>
        </p:spPr>
      </p:sp>
      <p:sp>
        <p:nvSpPr>
          <p:cNvPr id="27" name="Text 25"/>
          <p:cNvSpPr txBox="1"/>
          <p:nvPr/>
        </p:nvSpPr>
        <p:spPr>
          <a:xfrm>
            <a:off x="1024128" y="3858768"/>
            <a:ext cx="2697480" cy="365760"/>
          </a:xfrm>
          <a:prstGeom prst="rect">
            <a:avLst/>
          </a:prstGeom>
          <a:noFill/>
          <a:ln/>
        </p:spPr>
        <p:txBody>
          <a:bodyPr wrap="square" lIns="0" tIns="0" rIns="0" bIns="0" rtlCol="0" anchor="t"/>
          <a:lstStyle/>
          <a:p>
            <a:pPr indent="0" marL="0">
              <a:buNone/>
            </a:pPr>
            <a:r>
              <a:rPr lang="en-US" sz="1500" b="1" dirty="0">
                <a:solidFill>
                  <a:schemeClr val="bg1"/>
                </a:solidFill>
              </a:rPr>
              <a:t>Timeout / lookup failure</a:t>
            </a:r>
            <a:endParaRPr lang="en-US" sz="1500" dirty="0"/>
          </a:p>
        </p:txBody>
      </p:sp>
      <p:sp>
        <p:nvSpPr>
          <p:cNvPr id="28" name="Text 26"/>
          <p:cNvSpPr txBox="1"/>
          <p:nvPr/>
        </p:nvSpPr>
        <p:spPr>
          <a:xfrm>
            <a:off x="1024128" y="4197096"/>
            <a:ext cx="2697480" cy="274320"/>
          </a:xfrm>
          <a:prstGeom prst="rect">
            <a:avLst/>
          </a:prstGeom>
          <a:noFill/>
          <a:ln/>
        </p:spPr>
        <p:txBody>
          <a:bodyPr wrap="square" lIns="0" tIns="0" rIns="0" bIns="0" rtlCol="0" anchor="t"/>
          <a:lstStyle/>
          <a:p>
            <a:pPr indent="0" marL="0">
              <a:buNone/>
            </a:pPr>
            <a:r>
              <a:rPr lang="en-US" sz="1200" dirty="0">
                <a:solidFill>
                  <a:schemeClr val="bg2"/>
                </a:solidFill>
              </a:rPr>
              <a:t>Unreachable resolver, SERVFAIL</a:t>
            </a:r>
            <a:endParaRPr lang="en-US" sz="1200" dirty="0"/>
          </a:p>
        </p:txBody>
      </p:sp>
      <p:sp>
        <p:nvSpPr>
          <p:cNvPr id="29" name="Text 27"/>
          <p:cNvSpPr txBox="1"/>
          <p:nvPr/>
        </p:nvSpPr>
        <p:spPr>
          <a:xfrm>
            <a:off x="1024128" y="4471416"/>
            <a:ext cx="2697480" cy="274320"/>
          </a:xfrm>
          <a:prstGeom prst="rect">
            <a:avLst/>
          </a:prstGeom>
          <a:noFill/>
          <a:ln/>
        </p:spPr>
        <p:txBody>
          <a:bodyPr wrap="square" lIns="0" tIns="0" rIns="0" bIns="0" rtlCol="0" anchor="t"/>
          <a:lstStyle/>
          <a:p>
            <a:pPr indent="0" marL="0">
              <a:buNone/>
            </a:pPr>
            <a:r>
              <a:rPr lang="en-US" sz="1200" dirty="0">
                <a:solidFill>
                  <a:srgbClr val="EF4444"/>
                </a:solidFill>
              </a:rPr>
              <a:t>→ Partial result; R4 if repeated</a:t>
            </a:r>
            <a:endParaRPr lang="en-US" sz="1200" dirty="0"/>
          </a:p>
        </p:txBody>
      </p:sp>
      <p:sp>
        <p:nvSpPr>
          <p:cNvPr id="30" name="Shape 28"/>
          <p:cNvSpPr/>
          <p:nvPr/>
        </p:nvSpPr>
        <p:spPr>
          <a:xfrm>
            <a:off x="3977640" y="3739896"/>
            <a:ext cx="3246120" cy="1078992"/>
          </a:xfrm>
          <a:prstGeom prst="roundRect">
            <a:avLst>
              <a:gd name="adj" fmla="val 10169"/>
            </a:avLst>
          </a:prstGeom>
          <a:solidFill>
            <a:schemeClr val="tx2"/>
          </a:solidFill>
          <a:ln/>
        </p:spPr>
      </p:sp>
      <p:sp>
        <p:nvSpPr>
          <p:cNvPr id="31" name="Shape 29"/>
          <p:cNvSpPr/>
          <p:nvPr/>
        </p:nvSpPr>
        <p:spPr>
          <a:xfrm>
            <a:off x="4160520" y="3959352"/>
            <a:ext cx="182880" cy="182880"/>
          </a:xfrm>
          <a:prstGeom prst="ellipse">
            <a:avLst/>
          </a:prstGeom>
          <a:solidFill>
            <a:srgbClr val="60A5FA"/>
          </a:solidFill>
          <a:ln/>
        </p:spPr>
      </p:sp>
      <p:sp>
        <p:nvSpPr>
          <p:cNvPr id="32" name="Text 30"/>
          <p:cNvSpPr txBox="1"/>
          <p:nvPr/>
        </p:nvSpPr>
        <p:spPr>
          <a:xfrm>
            <a:off x="4453128" y="3858768"/>
            <a:ext cx="2697480" cy="365760"/>
          </a:xfrm>
          <a:prstGeom prst="rect">
            <a:avLst/>
          </a:prstGeom>
          <a:noFill/>
          <a:ln/>
        </p:spPr>
        <p:txBody>
          <a:bodyPr wrap="square" lIns="0" tIns="0" rIns="0" bIns="0" rtlCol="0" anchor="t"/>
          <a:lstStyle/>
          <a:p>
            <a:pPr indent="0" marL="0">
              <a:buNone/>
            </a:pPr>
            <a:r>
              <a:rPr lang="en-US" sz="1500" b="1" dirty="0">
                <a:solidFill>
                  <a:schemeClr val="bg1"/>
                </a:solidFill>
              </a:rPr>
              <a:t>DNSSEC checks</a:t>
            </a:r>
            <a:endParaRPr lang="en-US" sz="1500" dirty="0"/>
          </a:p>
        </p:txBody>
      </p:sp>
      <p:sp>
        <p:nvSpPr>
          <p:cNvPr id="33" name="Text 31"/>
          <p:cNvSpPr txBox="1"/>
          <p:nvPr/>
        </p:nvSpPr>
        <p:spPr>
          <a:xfrm>
            <a:off x="4453128" y="4197096"/>
            <a:ext cx="2697480" cy="274320"/>
          </a:xfrm>
          <a:prstGeom prst="rect">
            <a:avLst/>
          </a:prstGeom>
          <a:noFill/>
          <a:ln/>
        </p:spPr>
        <p:txBody>
          <a:bodyPr wrap="square" lIns="0" tIns="0" rIns="0" bIns="0" rtlCol="0" anchor="t"/>
          <a:lstStyle/>
          <a:p>
            <a:pPr indent="0" marL="0">
              <a:buNone/>
            </a:pPr>
            <a:r>
              <a:rPr lang="en-US" sz="1200" dirty="0">
                <a:solidFill>
                  <a:schemeClr val="bg2"/>
                </a:solidFill>
              </a:rPr>
              <a:t>Signed and broken test zones</a:t>
            </a:r>
            <a:endParaRPr lang="en-US" sz="1200" dirty="0"/>
          </a:p>
        </p:txBody>
      </p:sp>
      <p:sp>
        <p:nvSpPr>
          <p:cNvPr id="34" name="Text 32"/>
          <p:cNvSpPr txBox="1"/>
          <p:nvPr/>
        </p:nvSpPr>
        <p:spPr>
          <a:xfrm>
            <a:off x="4453128" y="4471416"/>
            <a:ext cx="2697480" cy="274320"/>
          </a:xfrm>
          <a:prstGeom prst="rect">
            <a:avLst/>
          </a:prstGeom>
          <a:noFill/>
          <a:ln/>
        </p:spPr>
        <p:txBody>
          <a:bodyPr wrap="square" lIns="0" tIns="0" rIns="0" bIns="0" rtlCol="0" anchor="t"/>
          <a:lstStyle/>
          <a:p>
            <a:pPr indent="0" marL="0">
              <a:buNone/>
            </a:pPr>
            <a:r>
              <a:rPr lang="en-US" sz="1200" dirty="0">
                <a:solidFill>
                  <a:srgbClr val="60A5FA"/>
                </a:solidFill>
              </a:rPr>
              <a:t>→ R5 only for real failures</a:t>
            </a:r>
            <a:endParaRPr lang="en-US" sz="1200" dirty="0"/>
          </a:p>
        </p:txBody>
      </p:sp>
      <p:sp>
        <p:nvSpPr>
          <p:cNvPr id="35" name="Text 33"/>
          <p:cNvSpPr txBox="1"/>
          <p:nvPr/>
        </p:nvSpPr>
        <p:spPr>
          <a:xfrm>
            <a:off x="548640" y="4983480"/>
            <a:ext cx="6675120" cy="365760"/>
          </a:xfrm>
          <a:prstGeom prst="rect">
            <a:avLst/>
          </a:prstGeom>
          <a:noFill/>
          <a:ln/>
        </p:spPr>
        <p:txBody>
          <a:bodyPr wrap="square" lIns="0" tIns="0" rIns="0" bIns="0" rtlCol="0" anchor="t"/>
          <a:lstStyle/>
          <a:p>
            <a:pPr indent="0" marL="0">
              <a:buNone/>
            </a:pPr>
            <a:r>
              <a:rPr lang="en-US" sz="1300" dirty="0">
                <a:solidFill>
                  <a:schemeClr val="bg2"/>
                </a:solidFill>
              </a:rPr>
              <a:t>Attack-like answers come from a labelled mock resolver, never from real attacks.</a:t>
            </a:r>
            <a:endParaRPr lang="en-US" sz="1300" dirty="0"/>
          </a:p>
        </p:txBody>
      </p:sp>
      <p:sp>
        <p:nvSpPr>
          <p:cNvPr id="36" name="Shape 34"/>
          <p:cNvSpPr/>
          <p:nvPr/>
        </p:nvSpPr>
        <p:spPr>
          <a:xfrm>
            <a:off x="7635240" y="1325880"/>
            <a:ext cx="4005072" cy="896112"/>
          </a:xfrm>
          <a:prstGeom prst="roundRect">
            <a:avLst>
              <a:gd name="adj" fmla="val 12245"/>
            </a:avLst>
          </a:prstGeom>
          <a:solidFill>
            <a:srgbClr val="1B2E4A"/>
          </a:solidFill>
          <a:ln/>
        </p:spPr>
      </p:sp>
      <p:sp>
        <p:nvSpPr>
          <p:cNvPr id="37" name="Text 35"/>
          <p:cNvSpPr txBox="1"/>
          <p:nvPr/>
        </p:nvSpPr>
        <p:spPr>
          <a:xfrm>
            <a:off x="7863840" y="141732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Precision</a:t>
            </a:r>
            <a:endParaRPr lang="en-US" sz="1600" dirty="0"/>
          </a:p>
        </p:txBody>
      </p:sp>
      <p:sp>
        <p:nvSpPr>
          <p:cNvPr id="38" name="Text 36"/>
          <p:cNvSpPr txBox="1"/>
          <p:nvPr/>
        </p:nvSpPr>
        <p:spPr>
          <a:xfrm>
            <a:off x="9692640" y="1435608"/>
            <a:ext cx="1828800" cy="365760"/>
          </a:xfrm>
          <a:prstGeom prst="rect">
            <a:avLst/>
          </a:prstGeom>
          <a:noFill/>
          <a:ln/>
        </p:spPr>
        <p:txBody>
          <a:bodyPr wrap="square" lIns="0" tIns="0" rIns="0" bIns="0" rtlCol="0" anchor="t"/>
          <a:lstStyle/>
          <a:p>
            <a:pPr algn="r" indent="0" marL="0">
              <a:buNone/>
            </a:pPr>
            <a:r>
              <a:rPr lang="en-US" sz="1300" dirty="0">
                <a:solidFill>
                  <a:schemeClr val="bg1"/>
                </a:solidFill>
                <a:latin typeface="Courier New" pitchFamily="34" charset="0"/>
                <a:ea typeface="Courier New" pitchFamily="34" charset="-122"/>
                <a:cs typeface="Courier New" pitchFamily="34" charset="-120"/>
              </a:rPr>
              <a:t>TP / (TP + FP)</a:t>
            </a:r>
            <a:endParaRPr lang="en-US" sz="1300" dirty="0"/>
          </a:p>
        </p:txBody>
      </p:sp>
      <p:sp>
        <p:nvSpPr>
          <p:cNvPr id="39" name="Text 37"/>
          <p:cNvSpPr txBox="1"/>
          <p:nvPr/>
        </p:nvSpPr>
        <p:spPr>
          <a:xfrm>
            <a:off x="7863840" y="1801368"/>
            <a:ext cx="3657600" cy="329184"/>
          </a:xfrm>
          <a:prstGeom prst="rect">
            <a:avLst/>
          </a:prstGeom>
          <a:noFill/>
          <a:ln/>
        </p:spPr>
        <p:txBody>
          <a:bodyPr wrap="square" lIns="0" tIns="0" rIns="0" bIns="0" rtlCol="0" anchor="t"/>
          <a:lstStyle/>
          <a:p>
            <a:pPr indent="0" marL="0">
              <a:buNone/>
            </a:pPr>
            <a:r>
              <a:rPr lang="en-US" sz="1300" dirty="0">
                <a:solidFill>
                  <a:schemeClr val="bg2"/>
                </a:solidFill>
              </a:rPr>
              <a:t>Are the alerts warranted?</a:t>
            </a:r>
            <a:endParaRPr lang="en-US" sz="1300" dirty="0"/>
          </a:p>
        </p:txBody>
      </p:sp>
      <p:sp>
        <p:nvSpPr>
          <p:cNvPr id="40" name="Shape 38"/>
          <p:cNvSpPr/>
          <p:nvPr/>
        </p:nvSpPr>
        <p:spPr>
          <a:xfrm>
            <a:off x="7635240" y="2331720"/>
            <a:ext cx="4005072" cy="896112"/>
          </a:xfrm>
          <a:prstGeom prst="roundRect">
            <a:avLst>
              <a:gd name="adj" fmla="val 12245"/>
            </a:avLst>
          </a:prstGeom>
          <a:solidFill>
            <a:srgbClr val="1B2E4A"/>
          </a:solidFill>
          <a:ln/>
        </p:spPr>
      </p:sp>
      <p:sp>
        <p:nvSpPr>
          <p:cNvPr id="41" name="Text 39"/>
          <p:cNvSpPr txBox="1"/>
          <p:nvPr/>
        </p:nvSpPr>
        <p:spPr>
          <a:xfrm>
            <a:off x="7863840" y="242316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Recall</a:t>
            </a:r>
            <a:endParaRPr lang="en-US" sz="1600" dirty="0"/>
          </a:p>
        </p:txBody>
      </p:sp>
      <p:sp>
        <p:nvSpPr>
          <p:cNvPr id="42" name="Text 40"/>
          <p:cNvSpPr txBox="1"/>
          <p:nvPr/>
        </p:nvSpPr>
        <p:spPr>
          <a:xfrm>
            <a:off x="9692640" y="2441448"/>
            <a:ext cx="1828800" cy="365760"/>
          </a:xfrm>
          <a:prstGeom prst="rect">
            <a:avLst/>
          </a:prstGeom>
          <a:noFill/>
          <a:ln/>
        </p:spPr>
        <p:txBody>
          <a:bodyPr wrap="square" lIns="0" tIns="0" rIns="0" bIns="0" rtlCol="0" anchor="t"/>
          <a:lstStyle/>
          <a:p>
            <a:pPr algn="r" indent="0" marL="0">
              <a:buNone/>
            </a:pPr>
            <a:r>
              <a:rPr lang="en-US" sz="1300" dirty="0">
                <a:solidFill>
                  <a:schemeClr val="bg1"/>
                </a:solidFill>
                <a:latin typeface="Courier New" pitchFamily="34" charset="0"/>
                <a:ea typeface="Courier New" pitchFamily="34" charset="-122"/>
                <a:cs typeface="Courier New" pitchFamily="34" charset="-120"/>
              </a:rPr>
              <a:t>TP / (TP + FN)</a:t>
            </a:r>
            <a:endParaRPr lang="en-US" sz="1300" dirty="0"/>
          </a:p>
        </p:txBody>
      </p:sp>
      <p:sp>
        <p:nvSpPr>
          <p:cNvPr id="43" name="Text 41"/>
          <p:cNvSpPr txBox="1"/>
          <p:nvPr/>
        </p:nvSpPr>
        <p:spPr>
          <a:xfrm>
            <a:off x="7863840" y="2807208"/>
            <a:ext cx="3657600" cy="329184"/>
          </a:xfrm>
          <a:prstGeom prst="rect">
            <a:avLst/>
          </a:prstGeom>
          <a:noFill/>
          <a:ln/>
        </p:spPr>
        <p:txBody>
          <a:bodyPr wrap="square" lIns="0" tIns="0" rIns="0" bIns="0" rtlCol="0" anchor="t"/>
          <a:lstStyle/>
          <a:p>
            <a:pPr indent="0" marL="0">
              <a:buNone/>
            </a:pPr>
            <a:r>
              <a:rPr lang="en-US" sz="1300" dirty="0">
                <a:solidFill>
                  <a:schemeClr val="bg2"/>
                </a:solidFill>
              </a:rPr>
              <a:t>Are real problems caught?</a:t>
            </a:r>
            <a:endParaRPr lang="en-US" sz="1300" dirty="0"/>
          </a:p>
        </p:txBody>
      </p:sp>
      <p:sp>
        <p:nvSpPr>
          <p:cNvPr id="44" name="Shape 42"/>
          <p:cNvSpPr/>
          <p:nvPr/>
        </p:nvSpPr>
        <p:spPr>
          <a:xfrm>
            <a:off x="7635240" y="3337560"/>
            <a:ext cx="4005072" cy="896112"/>
          </a:xfrm>
          <a:prstGeom prst="roundRect">
            <a:avLst>
              <a:gd name="adj" fmla="val 12245"/>
            </a:avLst>
          </a:prstGeom>
          <a:solidFill>
            <a:srgbClr val="1B2E4A"/>
          </a:solidFill>
          <a:ln/>
        </p:spPr>
      </p:sp>
      <p:sp>
        <p:nvSpPr>
          <p:cNvPr id="45" name="Text 43"/>
          <p:cNvSpPr txBox="1"/>
          <p:nvPr/>
        </p:nvSpPr>
        <p:spPr>
          <a:xfrm>
            <a:off x="7863840" y="342900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False-positive rate</a:t>
            </a:r>
            <a:endParaRPr lang="en-US" sz="1600" dirty="0"/>
          </a:p>
        </p:txBody>
      </p:sp>
      <p:sp>
        <p:nvSpPr>
          <p:cNvPr id="46" name="Text 44"/>
          <p:cNvSpPr txBox="1"/>
          <p:nvPr/>
        </p:nvSpPr>
        <p:spPr>
          <a:xfrm>
            <a:off x="9692640" y="3447288"/>
            <a:ext cx="1828800" cy="365760"/>
          </a:xfrm>
          <a:prstGeom prst="rect">
            <a:avLst/>
          </a:prstGeom>
          <a:noFill/>
          <a:ln/>
        </p:spPr>
        <p:txBody>
          <a:bodyPr wrap="square" lIns="0" tIns="0" rIns="0" bIns="0" rtlCol="0" anchor="t"/>
          <a:lstStyle/>
          <a:p>
            <a:pPr algn="r" indent="0" marL="0">
              <a:buNone/>
            </a:pPr>
            <a:r>
              <a:rPr lang="en-US" sz="1300" dirty="0">
                <a:solidFill>
                  <a:schemeClr val="bg1"/>
                </a:solidFill>
                <a:latin typeface="Courier New" pitchFamily="34" charset="0"/>
                <a:ea typeface="Courier New" pitchFamily="34" charset="-122"/>
                <a:cs typeface="Courier New" pitchFamily="34" charset="-120"/>
              </a:rPr>
              <a:t>FP / (FP + TN)</a:t>
            </a:r>
            <a:endParaRPr lang="en-US" sz="1300" dirty="0"/>
          </a:p>
        </p:txBody>
      </p:sp>
      <p:sp>
        <p:nvSpPr>
          <p:cNvPr id="47" name="Text 45"/>
          <p:cNvSpPr txBox="1"/>
          <p:nvPr/>
        </p:nvSpPr>
        <p:spPr>
          <a:xfrm>
            <a:off x="7863840" y="3813048"/>
            <a:ext cx="3657600" cy="329184"/>
          </a:xfrm>
          <a:prstGeom prst="rect">
            <a:avLst/>
          </a:prstGeom>
          <a:noFill/>
          <a:ln/>
        </p:spPr>
        <p:txBody>
          <a:bodyPr wrap="square" lIns="0" tIns="0" rIns="0" bIns="0" rtlCol="0" anchor="t"/>
          <a:lstStyle/>
          <a:p>
            <a:pPr indent="0" marL="0">
              <a:buNone/>
            </a:pPr>
            <a:r>
              <a:rPr lang="en-US" sz="1300" dirty="0">
                <a:solidFill>
                  <a:schemeClr val="bg2"/>
                </a:solidFill>
              </a:rPr>
              <a:t>How often are normal domains flagged?</a:t>
            </a:r>
            <a:endParaRPr lang="en-US" sz="1300" dirty="0"/>
          </a:p>
        </p:txBody>
      </p:sp>
      <p:sp>
        <p:nvSpPr>
          <p:cNvPr id="48" name="Shape 46"/>
          <p:cNvSpPr/>
          <p:nvPr/>
        </p:nvSpPr>
        <p:spPr>
          <a:xfrm>
            <a:off x="7635240" y="4343400"/>
            <a:ext cx="4005072" cy="896112"/>
          </a:xfrm>
          <a:prstGeom prst="roundRect">
            <a:avLst>
              <a:gd name="adj" fmla="val 12245"/>
            </a:avLst>
          </a:prstGeom>
          <a:solidFill>
            <a:srgbClr val="1B2E4A"/>
          </a:solidFill>
          <a:ln/>
        </p:spPr>
      </p:sp>
      <p:sp>
        <p:nvSpPr>
          <p:cNvPr id="49" name="Text 47"/>
          <p:cNvSpPr txBox="1"/>
          <p:nvPr/>
        </p:nvSpPr>
        <p:spPr>
          <a:xfrm>
            <a:off x="7863840" y="4434840"/>
            <a:ext cx="2194560" cy="365760"/>
          </a:xfrm>
          <a:prstGeom prst="rect">
            <a:avLst/>
          </a:prstGeom>
          <a:noFill/>
          <a:ln/>
        </p:spPr>
        <p:txBody>
          <a:bodyPr wrap="square" lIns="0" tIns="0" rIns="0" bIns="0" rtlCol="0" anchor="t"/>
          <a:lstStyle/>
          <a:p>
            <a:pPr indent="0" marL="0">
              <a:buNone/>
            </a:pPr>
            <a:r>
              <a:rPr lang="en-US" sz="1600" b="1" dirty="0">
                <a:solidFill>
                  <a:schemeClr val="accent1"/>
                </a:solidFill>
              </a:rPr>
              <a:t>Detection latency</a:t>
            </a:r>
            <a:endParaRPr lang="en-US" sz="1600" dirty="0"/>
          </a:p>
        </p:txBody>
      </p:sp>
      <p:sp>
        <p:nvSpPr>
          <p:cNvPr id="50" name="Text 48"/>
          <p:cNvSpPr txBox="1"/>
          <p:nvPr/>
        </p:nvSpPr>
        <p:spPr>
          <a:xfrm>
            <a:off x="9692640" y="4453128"/>
            <a:ext cx="1828800" cy="365760"/>
          </a:xfrm>
          <a:prstGeom prst="rect">
            <a:avLst/>
          </a:prstGeom>
          <a:noFill/>
          <a:ln/>
        </p:spPr>
        <p:txBody>
          <a:bodyPr wrap="square" lIns="0" tIns="0" rIns="0" bIns="0" rtlCol="0" anchor="t"/>
          <a:lstStyle/>
          <a:p>
            <a:pPr algn="r" indent="0" marL="0">
              <a:buNone/>
            </a:pPr>
            <a:r>
              <a:rPr lang="en-US" sz="1300" dirty="0">
                <a:solidFill>
                  <a:schemeClr val="bg1"/>
                </a:solidFill>
                <a:latin typeface="Courier New" pitchFamily="34" charset="0"/>
                <a:ea typeface="Courier New" pitchFamily="34" charset="-122"/>
                <a:cs typeface="Courier New" pitchFamily="34" charset="-120"/>
              </a:rPr>
              <a:t>query → alert time</a:t>
            </a:r>
            <a:endParaRPr lang="en-US" sz="1300" dirty="0"/>
          </a:p>
        </p:txBody>
      </p:sp>
      <p:sp>
        <p:nvSpPr>
          <p:cNvPr id="51" name="Text 49"/>
          <p:cNvSpPr txBox="1"/>
          <p:nvPr/>
        </p:nvSpPr>
        <p:spPr>
          <a:xfrm>
            <a:off x="7863840" y="4818888"/>
            <a:ext cx="3657600" cy="329184"/>
          </a:xfrm>
          <a:prstGeom prst="rect">
            <a:avLst/>
          </a:prstGeom>
          <a:noFill/>
          <a:ln/>
        </p:spPr>
        <p:txBody>
          <a:bodyPr wrap="square" lIns="0" tIns="0" rIns="0" bIns="0" rtlCol="0" anchor="t"/>
          <a:lstStyle/>
          <a:p>
            <a:pPr indent="0" marL="0">
              <a:buNone/>
            </a:pPr>
            <a:r>
              <a:rPr lang="en-US" sz="1300" dirty="0">
                <a:solidFill>
                  <a:schemeClr val="bg2"/>
                </a:solidFill>
              </a:rPr>
              <a:t>Median and 95th percentile</a:t>
            </a:r>
            <a:endParaRPr lang="en-US" sz="1300" dirty="0"/>
          </a:p>
        </p:txBody>
      </p:sp>
      <p:sp>
        <p:nvSpPr>
          <p:cNvPr id="52" name="Shape 50"/>
          <p:cNvSpPr/>
          <p:nvPr/>
        </p:nvSpPr>
        <p:spPr>
          <a:xfrm>
            <a:off x="548640" y="5440680"/>
            <a:ext cx="11094415" cy="777240"/>
          </a:xfrm>
          <a:prstGeom prst="roundRect">
            <a:avLst>
              <a:gd name="adj" fmla="val 14118"/>
            </a:avLst>
          </a:prstGeom>
          <a:solidFill>
            <a:schemeClr val="tx2"/>
          </a:solidFill>
          <a:ln w="15875">
            <a:solidFill>
              <a:srgbClr val="F59E0B"/>
            </a:solidFill>
            <a:prstDash val="solid"/>
          </a:ln>
        </p:spPr>
      </p:sp>
      <p:sp>
        <p:nvSpPr>
          <p:cNvPr id="53" name="Text 51"/>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b="1" dirty="0">
                <a:solidFill>
                  <a:schemeClr val="accent4"/>
                </a:solidFill>
              </a:rPr>
              <a:t>Targets, not results: </a:t>
            </a:r>
            <a:pPr indent="0" marL="0">
              <a:buNone/>
            </a:pPr>
            <a:r>
              <a:rPr lang="en-US" sz="1500" dirty="0">
                <a:solidFill>
                  <a:schemeClr val="bg1"/>
                </a:solidFill>
              </a:rPr>
              <a:t>recall ≥ 0.9 on simulated scenarios, false-positive rate &lt; 10% on real domains, median check &lt; 3 s — to be revised after calibration.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Differentiation, limitations and future scope</a:t>
            </a:r>
            <a:endParaRPr lang="en-US" sz="3200" dirty="0"/>
          </a:p>
        </p:txBody>
      </p:sp>
      <p:sp>
        <p:nvSpPr>
          <p:cNvPr id="3" name="Shape 1"/>
          <p:cNvSpPr/>
          <p:nvPr/>
        </p:nvSpPr>
        <p:spPr>
          <a:xfrm>
            <a:off x="548640" y="1325880"/>
            <a:ext cx="3520440" cy="4343400"/>
          </a:xfrm>
          <a:prstGeom prst="roundRect">
            <a:avLst>
              <a:gd name="adj" fmla="val 3117"/>
            </a:avLst>
          </a:prstGeom>
          <a:solidFill>
            <a:schemeClr val="tx2"/>
          </a:solidFill>
          <a:ln/>
        </p:spPr>
      </p:sp>
      <p:sp>
        <p:nvSpPr>
          <p:cNvPr id="4" name="Shape 2"/>
          <p:cNvSpPr/>
          <p:nvPr/>
        </p:nvSpPr>
        <p:spPr>
          <a:xfrm>
            <a:off x="777240" y="1508760"/>
            <a:ext cx="640080" cy="640080"/>
          </a:xfrm>
          <a:prstGeom prst="ellipse">
            <a:avLst/>
          </a:prstGeom>
          <a:solidFill>
            <a:srgbClr val="14B8A6"/>
          </a:solidFill>
          <a:ln/>
        </p:spPr>
      </p:sp>
      <p:pic>
        <p:nvPicPr>
          <p:cNvPr id="5" name="Image 0" descr="preencoded.png">    </p:cNvPr>
          <p:cNvPicPr>
            <a:picLocks noChangeAspect="1"/>
          </p:cNvPicPr>
          <p:nvPr/>
        </p:nvPicPr>
        <p:blipFill>
          <a:blip r:embed="rId1"/>
          <a:stretch>
            <a:fillRect/>
          </a:stretch>
        </p:blipFill>
        <p:spPr>
          <a:xfrm>
            <a:off x="930859" y="1662379"/>
            <a:ext cx="332842" cy="332842"/>
          </a:xfrm>
          <a:prstGeom prst="rect">
            <a:avLst/>
          </a:prstGeom>
        </p:spPr>
      </p:pic>
      <p:sp>
        <p:nvSpPr>
          <p:cNvPr id="6" name="Text 3"/>
          <p:cNvSpPr txBox="1"/>
          <p:nvPr/>
        </p:nvSpPr>
        <p:spPr>
          <a:xfrm>
            <a:off x="1554480" y="1600200"/>
            <a:ext cx="2423160" cy="457200"/>
          </a:xfrm>
          <a:prstGeom prst="rect">
            <a:avLst/>
          </a:prstGeom>
          <a:noFill/>
          <a:ln/>
        </p:spPr>
        <p:txBody>
          <a:bodyPr wrap="square" lIns="0" tIns="0" rIns="0" bIns="0" rtlCol="0" anchor="t"/>
          <a:lstStyle/>
          <a:p>
            <a:pPr indent="0" marL="0">
              <a:buNone/>
            </a:pPr>
            <a:r>
              <a:rPr lang="en-US" sz="1900" b="1" dirty="0">
                <a:solidFill>
                  <a:srgbClr val="14B8A6"/>
                </a:solidFill>
              </a:rPr>
              <a:t>What is different</a:t>
            </a:r>
            <a:endParaRPr lang="en-US" sz="1900" dirty="0"/>
          </a:p>
        </p:txBody>
      </p:sp>
      <p:sp>
        <p:nvSpPr>
          <p:cNvPr id="7" name="Text 4"/>
          <p:cNvSpPr txBox="1"/>
          <p:nvPr/>
        </p:nvSpPr>
        <p:spPr>
          <a:xfrm>
            <a:off x="777240" y="237744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Historical profile for each domain</a:t>
            </a:r>
            <a:endParaRPr lang="en-US" sz="1500" dirty="0"/>
          </a:p>
          <a:p>
            <a:pPr marL="342900" indent="-342900">
              <a:spcAft>
                <a:spcPts val="1000"/>
              </a:spcAft>
              <a:buSzPct val="100000"/>
              <a:buChar char="•"/>
            </a:pPr>
            <a:r>
              <a:rPr lang="en-US" sz="1500" dirty="0">
                <a:solidFill>
                  <a:schemeClr val="bg1"/>
                </a:solidFill>
              </a:rPr>
              <a:t>Resolver comparison combined with change detection</a:t>
            </a:r>
            <a:endParaRPr lang="en-US" sz="1500" dirty="0"/>
          </a:p>
          <a:p>
            <a:pPr marL="342900" indent="-342900">
              <a:spcAft>
                <a:spcPts val="1000"/>
              </a:spcAft>
              <a:buSzPct val="100000"/>
              <a:buChar char="•"/>
            </a:pPr>
            <a:r>
              <a:rPr lang="en-US" sz="1500" dirty="0">
                <a:solidFill>
                  <a:schemeClr val="bg1"/>
                </a:solidFill>
              </a:rPr>
              <a:t>Plain-language explanation for every alert</a:t>
            </a:r>
            <a:endParaRPr lang="en-US" sz="1500" dirty="0"/>
          </a:p>
          <a:p>
            <a:pPr marL="342900" indent="-342900">
              <a:spcAft>
                <a:spcPts val="1000"/>
              </a:spcAft>
              <a:buSzPct val="100000"/>
              <a:buChar char="•"/>
            </a:pPr>
            <a:r>
              <a:rPr lang="en-US" sz="1500" dirty="0">
                <a:solidFill>
                  <a:schemeClr val="bg1"/>
                </a:solidFill>
              </a:rPr>
              <a:t>One dashboard for the whole investigation</a:t>
            </a:r>
            <a:endParaRPr lang="en-US" sz="1500" dirty="0"/>
          </a:p>
        </p:txBody>
      </p:sp>
      <p:sp>
        <p:nvSpPr>
          <p:cNvPr id="8" name="Shape 5"/>
          <p:cNvSpPr/>
          <p:nvPr/>
        </p:nvSpPr>
        <p:spPr>
          <a:xfrm>
            <a:off x="4334256" y="1325880"/>
            <a:ext cx="3520440" cy="4343400"/>
          </a:xfrm>
          <a:prstGeom prst="roundRect">
            <a:avLst>
              <a:gd name="adj" fmla="val 3117"/>
            </a:avLst>
          </a:prstGeom>
          <a:solidFill>
            <a:schemeClr val="tx2"/>
          </a:solidFill>
          <a:ln/>
        </p:spPr>
      </p:sp>
      <p:sp>
        <p:nvSpPr>
          <p:cNvPr id="9" name="Shape 6"/>
          <p:cNvSpPr/>
          <p:nvPr/>
        </p:nvSpPr>
        <p:spPr>
          <a:xfrm>
            <a:off x="4562856" y="1508760"/>
            <a:ext cx="640080" cy="640080"/>
          </a:xfrm>
          <a:prstGeom prst="ellipse">
            <a:avLst/>
          </a:prstGeom>
          <a:solidFill>
            <a:srgbClr val="F59E0B"/>
          </a:solidFill>
          <a:ln/>
        </p:spPr>
      </p:sp>
      <p:pic>
        <p:nvPicPr>
          <p:cNvPr id="10" name="Image 1" descr="preencoded.png">    </p:cNvPr>
          <p:cNvPicPr>
            <a:picLocks noChangeAspect="1"/>
          </p:cNvPicPr>
          <p:nvPr/>
        </p:nvPicPr>
        <p:blipFill>
          <a:blip r:embed="rId2"/>
          <a:stretch>
            <a:fillRect/>
          </a:stretch>
        </p:blipFill>
        <p:spPr>
          <a:xfrm>
            <a:off x="4716475" y="1662379"/>
            <a:ext cx="332842" cy="332842"/>
          </a:xfrm>
          <a:prstGeom prst="rect">
            <a:avLst/>
          </a:prstGeom>
        </p:spPr>
      </p:pic>
      <p:sp>
        <p:nvSpPr>
          <p:cNvPr id="11" name="Text 7"/>
          <p:cNvSpPr txBox="1"/>
          <p:nvPr/>
        </p:nvSpPr>
        <p:spPr>
          <a:xfrm>
            <a:off x="5340096" y="1600200"/>
            <a:ext cx="2423160" cy="457200"/>
          </a:xfrm>
          <a:prstGeom prst="rect">
            <a:avLst/>
          </a:prstGeom>
          <a:noFill/>
          <a:ln/>
        </p:spPr>
        <p:txBody>
          <a:bodyPr wrap="square" lIns="0" tIns="0" rIns="0" bIns="0" rtlCol="0" anchor="t"/>
          <a:lstStyle/>
          <a:p>
            <a:pPr indent="0" marL="0">
              <a:buNone/>
            </a:pPr>
            <a:r>
              <a:rPr lang="en-US" sz="1900" b="1" dirty="0">
                <a:solidFill>
                  <a:srgbClr val="F59E0B"/>
                </a:solidFill>
              </a:rPr>
              <a:t>Limitations</a:t>
            </a:r>
            <a:endParaRPr lang="en-US" sz="1900" dirty="0"/>
          </a:p>
        </p:txBody>
      </p:sp>
      <p:sp>
        <p:nvSpPr>
          <p:cNvPr id="12" name="Text 8"/>
          <p:cNvSpPr txBox="1"/>
          <p:nvPr/>
        </p:nvSpPr>
        <p:spPr>
          <a:xfrm>
            <a:off x="4562856" y="237744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Encrypted DNS (DoH/DoT) hides traffic from passive tools; DNScope only sees its own queries</a:t>
            </a:r>
            <a:endParaRPr lang="en-US" sz="1500" dirty="0"/>
          </a:p>
          <a:p>
            <a:pPr marL="342900" indent="-342900">
              <a:spcAft>
                <a:spcPts val="1000"/>
              </a:spcAft>
              <a:buSzPct val="100000"/>
              <a:buChar char="•"/>
            </a:pPr>
            <a:r>
              <a:rPr lang="en-US" sz="1500" dirty="0">
                <a:solidFill>
                  <a:schemeClr val="bg1"/>
                </a:solidFill>
              </a:rPr>
              <a:t>CDN and geo-DNS changes cause false alarms</a:t>
            </a:r>
            <a:endParaRPr lang="en-US" sz="1500" dirty="0"/>
          </a:p>
          <a:p>
            <a:pPr marL="342900" indent="-342900">
              <a:spcAft>
                <a:spcPts val="1000"/>
              </a:spcAft>
              <a:buSzPct val="100000"/>
              <a:buChar char="•"/>
            </a:pPr>
            <a:r>
              <a:rPr lang="en-US" sz="1500" dirty="0">
                <a:solidFill>
                  <a:schemeClr val="bg1"/>
                </a:solidFill>
              </a:rPr>
              <a:t>Caching: a poisoned entry may expire before a check</a:t>
            </a:r>
            <a:endParaRPr lang="en-US" sz="1500" dirty="0"/>
          </a:p>
          <a:p>
            <a:pPr marL="342900" indent="-342900">
              <a:spcAft>
                <a:spcPts val="1000"/>
              </a:spcAft>
              <a:buSzPct val="100000"/>
              <a:buChar char="•"/>
            </a:pPr>
            <a:r>
              <a:rPr lang="en-US" sz="1500" dirty="0">
                <a:solidFill>
                  <a:schemeClr val="bg1"/>
                </a:solidFill>
              </a:rPr>
              <a:t>If the real server is hijacked, every resolver agrees</a:t>
            </a:r>
            <a:endParaRPr lang="en-US" sz="1500" dirty="0"/>
          </a:p>
        </p:txBody>
      </p:sp>
      <p:sp>
        <p:nvSpPr>
          <p:cNvPr id="13" name="Shape 9"/>
          <p:cNvSpPr/>
          <p:nvPr/>
        </p:nvSpPr>
        <p:spPr>
          <a:xfrm>
            <a:off x="8119872" y="1325880"/>
            <a:ext cx="3520440" cy="4343400"/>
          </a:xfrm>
          <a:prstGeom prst="roundRect">
            <a:avLst>
              <a:gd name="adj" fmla="val 3117"/>
            </a:avLst>
          </a:prstGeom>
          <a:solidFill>
            <a:schemeClr val="tx2"/>
          </a:solidFill>
          <a:ln/>
        </p:spPr>
      </p:sp>
      <p:sp>
        <p:nvSpPr>
          <p:cNvPr id="14" name="Shape 10"/>
          <p:cNvSpPr/>
          <p:nvPr/>
        </p:nvSpPr>
        <p:spPr>
          <a:xfrm>
            <a:off x="8348472" y="1508760"/>
            <a:ext cx="640080" cy="640080"/>
          </a:xfrm>
          <a:prstGeom prst="ellipse">
            <a:avLst/>
          </a:prstGeom>
          <a:solidFill>
            <a:srgbClr val="22D3EE"/>
          </a:solidFill>
          <a:ln/>
        </p:spPr>
      </p:sp>
      <p:pic>
        <p:nvPicPr>
          <p:cNvPr id="15" name="Image 2" descr="preencoded.png">    </p:cNvPr>
          <p:cNvPicPr>
            <a:picLocks noChangeAspect="1"/>
          </p:cNvPicPr>
          <p:nvPr/>
        </p:nvPicPr>
        <p:blipFill>
          <a:blip r:embed="rId3"/>
          <a:stretch>
            <a:fillRect/>
          </a:stretch>
        </p:blipFill>
        <p:spPr>
          <a:xfrm>
            <a:off x="8502091" y="1662379"/>
            <a:ext cx="332842" cy="332842"/>
          </a:xfrm>
          <a:prstGeom prst="rect">
            <a:avLst/>
          </a:prstGeom>
        </p:spPr>
      </p:pic>
      <p:sp>
        <p:nvSpPr>
          <p:cNvPr id="16" name="Text 11"/>
          <p:cNvSpPr txBox="1"/>
          <p:nvPr/>
        </p:nvSpPr>
        <p:spPr>
          <a:xfrm>
            <a:off x="9125712" y="1600200"/>
            <a:ext cx="2423160" cy="457200"/>
          </a:xfrm>
          <a:prstGeom prst="rect">
            <a:avLst/>
          </a:prstGeom>
          <a:noFill/>
          <a:ln/>
        </p:spPr>
        <p:txBody>
          <a:bodyPr wrap="square" lIns="0" tIns="0" rIns="0" bIns="0" rtlCol="0" anchor="t"/>
          <a:lstStyle/>
          <a:p>
            <a:pPr indent="0" marL="0">
              <a:buNone/>
            </a:pPr>
            <a:r>
              <a:rPr lang="en-US" sz="1900" b="1" dirty="0">
                <a:solidFill>
                  <a:srgbClr val="22D3EE"/>
                </a:solidFill>
              </a:rPr>
              <a:t>Future scope</a:t>
            </a:r>
            <a:endParaRPr lang="en-US" sz="1900" dirty="0"/>
          </a:p>
        </p:txBody>
      </p:sp>
      <p:sp>
        <p:nvSpPr>
          <p:cNvPr id="17" name="Text 12"/>
          <p:cNvSpPr txBox="1"/>
          <p:nvPr/>
        </p:nvSpPr>
        <p:spPr>
          <a:xfrm>
            <a:off x="8348472" y="237744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Full DNSSEC chain validation in DNScope itself</a:t>
            </a:r>
            <a:endParaRPr lang="en-US" sz="1500" dirty="0"/>
          </a:p>
          <a:p>
            <a:pPr marL="342900" indent="-342900">
              <a:spcAft>
                <a:spcPts val="1000"/>
              </a:spcAft>
              <a:buSzPct val="100000"/>
              <a:buChar char="•"/>
            </a:pPr>
            <a:r>
              <a:rPr lang="en-US" sz="1500" dirty="0">
                <a:solidFill>
                  <a:schemeClr val="bg1"/>
                </a:solidFill>
              </a:rPr>
              <a:t>Smarter baselines per domain and per CDN</a:t>
            </a:r>
            <a:endParaRPr lang="en-US" sz="1500" dirty="0"/>
          </a:p>
          <a:p>
            <a:pPr marL="342900" indent="-342900">
              <a:spcAft>
                <a:spcPts val="1000"/>
              </a:spcAft>
              <a:buSzPct val="100000"/>
              <a:buChar char="•"/>
            </a:pPr>
            <a:r>
              <a:rPr lang="en-US" sz="1500" dirty="0">
                <a:solidFill>
                  <a:schemeClr val="bg1"/>
                </a:solidFill>
              </a:rPr>
              <a:t>More test scenarios and longer measurement</a:t>
            </a:r>
            <a:endParaRPr lang="en-US" sz="1500" dirty="0"/>
          </a:p>
          <a:p>
            <a:pPr marL="342900" indent="-342900">
              <a:spcAft>
                <a:spcPts val="1000"/>
              </a:spcAft>
              <a:buSzPct val="100000"/>
              <a:buChar char="•"/>
            </a:pPr>
            <a:r>
              <a:rPr lang="en-US" sz="1500" dirty="0">
                <a:solidFill>
                  <a:schemeClr val="bg1"/>
                </a:solidFill>
              </a:rPr>
              <a:t>Scheduled checks for watched domains</a:t>
            </a:r>
            <a:endParaRPr lang="en-US" sz="1500" dirty="0"/>
          </a:p>
        </p:txBody>
      </p:sp>
      <p:sp>
        <p:nvSpPr>
          <p:cNvPr id="18" name="Text 13"/>
          <p:cNvSpPr txBox="1"/>
          <p:nvPr/>
        </p:nvSpPr>
        <p:spPr>
          <a:xfrm>
            <a:off x="548640" y="5806440"/>
            <a:ext cx="11094415" cy="411480"/>
          </a:xfrm>
          <a:prstGeom prst="rect">
            <a:avLst/>
          </a:prstGeom>
          <a:noFill/>
          <a:ln/>
        </p:spPr>
        <p:txBody>
          <a:bodyPr wrap="square" lIns="0" tIns="0" rIns="0" bIns="0" rtlCol="0" anchor="t"/>
          <a:lstStyle/>
          <a:p>
            <a:pPr indent="0" marL="0">
              <a:buNone/>
            </a:pPr>
            <a:r>
              <a:rPr lang="en-US" sz="1400" i="1" dirty="0">
                <a:solidFill>
                  <a:schemeClr val="bg2"/>
                </a:solidFill>
              </a:rPr>
              <a:t>Each technique is known; the contribution is an understandable, explainable combination — not a claim of global novelty.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5486400" cy="640080"/>
          </a:xfrm>
          <a:prstGeom prst="rect">
            <a:avLst/>
          </a:prstGeom>
          <a:noFill/>
          <a:ln/>
        </p:spPr>
        <p:txBody>
          <a:bodyPr wrap="square" lIns="0" tIns="0" rIns="0" bIns="0" rtlCol="0" anchor="t"/>
          <a:lstStyle/>
          <a:p>
            <a:pPr indent="0" marL="0">
              <a:buNone/>
            </a:pPr>
            <a:r>
              <a:rPr lang="en-US" sz="3200" b="1" dirty="0">
                <a:solidFill>
                  <a:schemeClr val="bg1"/>
                </a:solidFill>
              </a:rPr>
              <a:t>Conclusion</a:t>
            </a:r>
            <a:endParaRPr lang="en-US" sz="3200" dirty="0"/>
          </a:p>
        </p:txBody>
      </p:sp>
      <p:sp>
        <p:nvSpPr>
          <p:cNvPr id="3" name="Shape 1"/>
          <p:cNvSpPr/>
          <p:nvPr/>
        </p:nvSpPr>
        <p:spPr>
          <a:xfrm>
            <a:off x="548640" y="1371600"/>
            <a:ext cx="640080" cy="640080"/>
          </a:xfrm>
          <a:prstGeom prst="ellipse">
            <a:avLst/>
          </a:prstGeom>
          <a:solidFill>
            <a:srgbClr val="22D3EE"/>
          </a:solidFill>
          <a:ln/>
        </p:spPr>
      </p:sp>
      <p:pic>
        <p:nvPicPr>
          <p:cNvPr id="4" name="Image 0" descr="preencoded.png">    </p:cNvPr>
          <p:cNvPicPr>
            <a:picLocks noChangeAspect="1"/>
          </p:cNvPicPr>
          <p:nvPr/>
        </p:nvPicPr>
        <p:blipFill>
          <a:blip r:embed="rId1"/>
          <a:stretch>
            <a:fillRect/>
          </a:stretch>
        </p:blipFill>
        <p:spPr>
          <a:xfrm>
            <a:off x="702259" y="1525219"/>
            <a:ext cx="332842" cy="332842"/>
          </a:xfrm>
          <a:prstGeom prst="rect">
            <a:avLst/>
          </a:prstGeom>
        </p:spPr>
      </p:pic>
      <p:sp>
        <p:nvSpPr>
          <p:cNvPr id="5" name="Text 2"/>
          <p:cNvSpPr txBox="1"/>
          <p:nvPr/>
        </p:nvSpPr>
        <p:spPr>
          <a:xfrm>
            <a:off x="1417320" y="1371600"/>
            <a:ext cx="5577840" cy="640080"/>
          </a:xfrm>
          <a:prstGeom prst="rect">
            <a:avLst/>
          </a:prstGeom>
          <a:noFill/>
          <a:ln/>
        </p:spPr>
        <p:txBody>
          <a:bodyPr wrap="square" lIns="0" tIns="0" rIns="0" bIns="0" rtlCol="0" anchor="ctr"/>
          <a:lstStyle/>
          <a:p>
            <a:pPr indent="0" marL="0">
              <a:buNone/>
            </a:pPr>
            <a:r>
              <a:rPr lang="en-US" sz="1800" dirty="0">
                <a:solidFill>
                  <a:schemeClr val="bg1"/>
                </a:solidFill>
              </a:rPr>
              <a:t>DNS is critical, and classic DNS answers can be forged</a:t>
            </a:r>
            <a:endParaRPr lang="en-US" sz="1800" dirty="0"/>
          </a:p>
        </p:txBody>
      </p:sp>
      <p:sp>
        <p:nvSpPr>
          <p:cNvPr id="6" name="Shape 3"/>
          <p:cNvSpPr/>
          <p:nvPr/>
        </p:nvSpPr>
        <p:spPr>
          <a:xfrm>
            <a:off x="548640" y="2286000"/>
            <a:ext cx="640080" cy="640080"/>
          </a:xfrm>
          <a:prstGeom prst="ellipse">
            <a:avLst/>
          </a:prstGeom>
          <a:solidFill>
            <a:srgbClr val="14B8A6"/>
          </a:solidFill>
          <a:ln/>
        </p:spPr>
      </p:sp>
      <p:pic>
        <p:nvPicPr>
          <p:cNvPr id="7" name="Image 1" descr="preencoded.png">    </p:cNvPr>
          <p:cNvPicPr>
            <a:picLocks noChangeAspect="1"/>
          </p:cNvPicPr>
          <p:nvPr/>
        </p:nvPicPr>
        <p:blipFill>
          <a:blip r:embed="rId2"/>
          <a:stretch>
            <a:fillRect/>
          </a:stretch>
        </p:blipFill>
        <p:spPr>
          <a:xfrm>
            <a:off x="702259" y="2439619"/>
            <a:ext cx="332842" cy="332842"/>
          </a:xfrm>
          <a:prstGeom prst="rect">
            <a:avLst/>
          </a:prstGeom>
        </p:spPr>
      </p:pic>
      <p:sp>
        <p:nvSpPr>
          <p:cNvPr id="8" name="Text 4"/>
          <p:cNvSpPr txBox="1"/>
          <p:nvPr/>
        </p:nvSpPr>
        <p:spPr>
          <a:xfrm>
            <a:off x="1417320" y="2286000"/>
            <a:ext cx="5577840" cy="640080"/>
          </a:xfrm>
          <a:prstGeom prst="rect">
            <a:avLst/>
          </a:prstGeom>
          <a:noFill/>
          <a:ln/>
        </p:spPr>
        <p:txBody>
          <a:bodyPr wrap="square" lIns="0" tIns="0" rIns="0" bIns="0" rtlCol="0" anchor="ctr"/>
          <a:lstStyle/>
          <a:p>
            <a:pPr indent="0" marL="0">
              <a:buNone/>
            </a:pPr>
            <a:r>
              <a:rPr lang="en-US" sz="1800" dirty="0">
                <a:solidFill>
                  <a:schemeClr val="bg1"/>
                </a:solidFill>
              </a:rPr>
              <a:t>DNScope compares four resolvers and each domain's history</a:t>
            </a:r>
            <a:endParaRPr lang="en-US" sz="1800" dirty="0"/>
          </a:p>
        </p:txBody>
      </p:sp>
      <p:sp>
        <p:nvSpPr>
          <p:cNvPr id="9" name="Shape 5"/>
          <p:cNvSpPr/>
          <p:nvPr/>
        </p:nvSpPr>
        <p:spPr>
          <a:xfrm>
            <a:off x="548640" y="3200400"/>
            <a:ext cx="640080" cy="640080"/>
          </a:xfrm>
          <a:prstGeom prst="ellipse">
            <a:avLst/>
          </a:prstGeom>
          <a:solidFill>
            <a:srgbClr val="F59E0B"/>
          </a:solidFill>
          <a:ln/>
        </p:spPr>
      </p:sp>
      <p:pic>
        <p:nvPicPr>
          <p:cNvPr id="10" name="Image 2" descr="preencoded.png">    </p:cNvPr>
          <p:cNvPicPr>
            <a:picLocks noChangeAspect="1"/>
          </p:cNvPicPr>
          <p:nvPr/>
        </p:nvPicPr>
        <p:blipFill>
          <a:blip r:embed="rId3"/>
          <a:stretch>
            <a:fillRect/>
          </a:stretch>
        </p:blipFill>
        <p:spPr>
          <a:xfrm>
            <a:off x="702259" y="3354019"/>
            <a:ext cx="332842" cy="332842"/>
          </a:xfrm>
          <a:prstGeom prst="rect">
            <a:avLst/>
          </a:prstGeom>
        </p:spPr>
      </p:pic>
      <p:sp>
        <p:nvSpPr>
          <p:cNvPr id="11" name="Text 6"/>
          <p:cNvSpPr txBox="1"/>
          <p:nvPr/>
        </p:nvSpPr>
        <p:spPr>
          <a:xfrm>
            <a:off x="1417320" y="3200400"/>
            <a:ext cx="5577840" cy="640080"/>
          </a:xfrm>
          <a:prstGeom prst="rect">
            <a:avLst/>
          </a:prstGeom>
          <a:noFill/>
          <a:ln/>
        </p:spPr>
        <p:txBody>
          <a:bodyPr wrap="square" lIns="0" tIns="0" rIns="0" bIns="0" rtlCol="0" anchor="ctr"/>
          <a:lstStyle/>
          <a:p>
            <a:pPr indent="0" marL="0">
              <a:buNone/>
            </a:pPr>
            <a:r>
              <a:rPr lang="en-US" sz="1800" dirty="0">
                <a:solidFill>
                  <a:schemeClr val="bg1"/>
                </a:solidFill>
              </a:rPr>
              <a:t>Transparent rules raise explained alerts, not verdicts</a:t>
            </a:r>
            <a:endParaRPr lang="en-US" sz="1800" dirty="0"/>
          </a:p>
        </p:txBody>
      </p:sp>
      <p:sp>
        <p:nvSpPr>
          <p:cNvPr id="12" name="Shape 7"/>
          <p:cNvSpPr/>
          <p:nvPr/>
        </p:nvSpPr>
        <p:spPr>
          <a:xfrm>
            <a:off x="548640" y="4114800"/>
            <a:ext cx="640080" cy="640080"/>
          </a:xfrm>
          <a:prstGeom prst="ellipse">
            <a:avLst/>
          </a:prstGeom>
          <a:solidFill>
            <a:srgbClr val="22C55E"/>
          </a:solidFill>
          <a:ln/>
        </p:spPr>
      </p:sp>
      <p:pic>
        <p:nvPicPr>
          <p:cNvPr id="13" name="Image 3" descr="preencoded.png">    </p:cNvPr>
          <p:cNvPicPr>
            <a:picLocks noChangeAspect="1"/>
          </p:cNvPicPr>
          <p:nvPr/>
        </p:nvPicPr>
        <p:blipFill>
          <a:blip r:embed="rId4"/>
          <a:stretch>
            <a:fillRect/>
          </a:stretch>
        </p:blipFill>
        <p:spPr>
          <a:xfrm>
            <a:off x="702259" y="4268419"/>
            <a:ext cx="332842" cy="332842"/>
          </a:xfrm>
          <a:prstGeom prst="rect">
            <a:avLst/>
          </a:prstGeom>
        </p:spPr>
      </p:pic>
      <p:sp>
        <p:nvSpPr>
          <p:cNvPr id="14" name="Text 8"/>
          <p:cNvSpPr txBox="1"/>
          <p:nvPr/>
        </p:nvSpPr>
        <p:spPr>
          <a:xfrm>
            <a:off x="1417320" y="4114800"/>
            <a:ext cx="5577840" cy="640080"/>
          </a:xfrm>
          <a:prstGeom prst="rect">
            <a:avLst/>
          </a:prstGeom>
          <a:noFill/>
          <a:ln/>
        </p:spPr>
        <p:txBody>
          <a:bodyPr wrap="square" lIns="0" tIns="0" rIns="0" bIns="0" rtlCol="0" anchor="ctr"/>
          <a:lstStyle/>
          <a:p>
            <a:pPr indent="0" marL="0">
              <a:buNone/>
            </a:pPr>
            <a:r>
              <a:rPr lang="en-US" sz="1800" dirty="0">
                <a:solidFill>
                  <a:schemeClr val="bg1"/>
                </a:solidFill>
              </a:rPr>
              <a:t>Evaluation is planned with real and simulated cases</a:t>
            </a:r>
            <a:endParaRPr lang="en-US" sz="1800" dirty="0"/>
          </a:p>
        </p:txBody>
      </p:sp>
      <p:sp>
        <p:nvSpPr>
          <p:cNvPr id="15" name="Text 9"/>
          <p:cNvSpPr txBox="1"/>
          <p:nvPr/>
        </p:nvSpPr>
        <p:spPr>
          <a:xfrm>
            <a:off x="548640" y="5257800"/>
            <a:ext cx="6675120" cy="548640"/>
          </a:xfrm>
          <a:prstGeom prst="rect">
            <a:avLst/>
          </a:prstGeom>
          <a:noFill/>
          <a:ln/>
        </p:spPr>
        <p:txBody>
          <a:bodyPr wrap="square" lIns="0" tIns="0" rIns="0" bIns="0" rtlCol="0" anchor="t"/>
          <a:lstStyle/>
          <a:p>
            <a:pPr indent="0" marL="0">
              <a:buNone/>
            </a:pPr>
            <a:r>
              <a:rPr lang="en-US" sz="2200" b="1" i="1" dirty="0">
                <a:solidFill>
                  <a:schemeClr val="accent1"/>
                </a:solidFill>
              </a:rPr>
              <a:t>DNScope — Observe. Compare. Investigate.</a:t>
            </a:r>
            <a:endParaRPr lang="en-US" sz="2200" dirty="0"/>
          </a:p>
        </p:txBody>
      </p:sp>
      <p:sp>
        <p:nvSpPr>
          <p:cNvPr id="16" name="Shape 10"/>
          <p:cNvSpPr/>
          <p:nvPr/>
        </p:nvSpPr>
        <p:spPr>
          <a:xfrm>
            <a:off x="7589520" y="1280160"/>
            <a:ext cx="4050792" cy="4526280"/>
          </a:xfrm>
          <a:prstGeom prst="roundRect">
            <a:avLst>
              <a:gd name="adj" fmla="val 2709"/>
            </a:avLst>
          </a:prstGeom>
          <a:solidFill>
            <a:schemeClr val="tx2"/>
          </a:solidFill>
          <a:ln w="15875">
            <a:solidFill>
              <a:srgbClr val="14B8A6"/>
            </a:solidFill>
            <a:prstDash val="solid"/>
          </a:ln>
        </p:spPr>
      </p:sp>
      <p:sp>
        <p:nvSpPr>
          <p:cNvPr id="17" name="Shape 11"/>
          <p:cNvSpPr/>
          <p:nvPr/>
        </p:nvSpPr>
        <p:spPr>
          <a:xfrm>
            <a:off x="9070848" y="1737360"/>
            <a:ext cx="1097280" cy="1097280"/>
          </a:xfrm>
          <a:prstGeom prst="ellipse">
            <a:avLst/>
          </a:prstGeom>
          <a:solidFill>
            <a:schemeClr val="accent1"/>
          </a:solidFill>
          <a:ln/>
        </p:spPr>
      </p:sp>
      <p:pic>
        <p:nvPicPr>
          <p:cNvPr id="18" name="Image 4" descr="preencoded.png">    </p:cNvPr>
          <p:cNvPicPr>
            <a:picLocks noChangeAspect="1"/>
          </p:cNvPicPr>
          <p:nvPr/>
        </p:nvPicPr>
        <p:blipFill>
          <a:blip r:embed="rId5"/>
          <a:stretch>
            <a:fillRect/>
          </a:stretch>
        </p:blipFill>
        <p:spPr>
          <a:xfrm>
            <a:off x="9334195" y="2000707"/>
            <a:ext cx="570586" cy="570586"/>
          </a:xfrm>
          <a:prstGeom prst="rect">
            <a:avLst/>
          </a:prstGeom>
        </p:spPr>
      </p:pic>
      <p:sp>
        <p:nvSpPr>
          <p:cNvPr id="19" name="Text 12"/>
          <p:cNvSpPr txBox="1"/>
          <p:nvPr/>
        </p:nvSpPr>
        <p:spPr>
          <a:xfrm>
            <a:off x="7589520" y="3063240"/>
            <a:ext cx="4050792" cy="731520"/>
          </a:xfrm>
          <a:prstGeom prst="rect">
            <a:avLst/>
          </a:prstGeom>
          <a:noFill/>
          <a:ln/>
        </p:spPr>
        <p:txBody>
          <a:bodyPr wrap="square" lIns="0" tIns="0" rIns="0" bIns="0" rtlCol="0" anchor="t"/>
          <a:lstStyle/>
          <a:p>
            <a:pPr algn="ctr" indent="0" marL="0">
              <a:buNone/>
            </a:pPr>
            <a:r>
              <a:rPr lang="en-US" sz="3600" b="1" dirty="0">
                <a:solidFill>
                  <a:schemeClr val="bg1"/>
                </a:solidFill>
              </a:rPr>
              <a:t>Thank You</a:t>
            </a:r>
            <a:endParaRPr lang="en-US" sz="3600" dirty="0"/>
          </a:p>
        </p:txBody>
      </p:sp>
      <p:sp>
        <p:nvSpPr>
          <p:cNvPr id="20" name="Text 13"/>
          <p:cNvSpPr txBox="1"/>
          <p:nvPr/>
        </p:nvSpPr>
        <p:spPr>
          <a:xfrm>
            <a:off x="7589520" y="3794760"/>
            <a:ext cx="4050792" cy="548640"/>
          </a:xfrm>
          <a:prstGeom prst="rect">
            <a:avLst/>
          </a:prstGeom>
          <a:noFill/>
          <a:ln/>
        </p:spPr>
        <p:txBody>
          <a:bodyPr wrap="square" lIns="0" tIns="0" rIns="0" bIns="0" rtlCol="0" anchor="t"/>
          <a:lstStyle/>
          <a:p>
            <a:pPr algn="ctr" indent="0" marL="0">
              <a:buNone/>
            </a:pPr>
            <a:r>
              <a:rPr lang="en-US" sz="2400" dirty="0">
                <a:solidFill>
                  <a:schemeClr val="accent2"/>
                </a:solidFill>
              </a:rPr>
              <a:t>Questions?</a:t>
            </a:r>
            <a:endParaRPr lang="en-US" sz="2400" dirty="0"/>
          </a:p>
        </p:txBody>
      </p:sp>
      <p:sp>
        <p:nvSpPr>
          <p:cNvPr id="21" name="Text 14"/>
          <p:cNvSpPr txBox="1"/>
          <p:nvPr/>
        </p:nvSpPr>
        <p:spPr>
          <a:xfrm>
            <a:off x="7589520" y="4617720"/>
            <a:ext cx="4050792" cy="731520"/>
          </a:xfrm>
          <a:prstGeom prst="rect">
            <a:avLst/>
          </a:prstGeom>
          <a:noFill/>
          <a:ln/>
        </p:spPr>
        <p:txBody>
          <a:bodyPr wrap="square" lIns="0" tIns="0" rIns="0" bIns="0" rtlCol="0" anchor="t"/>
          <a:lstStyle/>
          <a:p>
            <a:pPr algn="ctr" indent="0" marL="0">
              <a:buNone/>
            </a:pPr>
            <a:r>
              <a:rPr lang="en-US" sz="1400" dirty="0">
                <a:solidFill>
                  <a:schemeClr val="bg2"/>
                </a:solidFill>
              </a:rPr>
              <a:t>Anwita Padhi  ·  24BYB0193</a:t>
            </a:r>
            <a:endParaRPr lang="en-US" sz="1400" dirty="0"/>
          </a:p>
          <a:p>
            <a:pPr algn="ctr" indent="0" marL="0">
              <a:buNone/>
            </a:pPr>
            <a:r>
              <a:rPr lang="en-US" sz="1400" dirty="0">
                <a:solidFill>
                  <a:schemeClr val="bg2"/>
                </a:solidFill>
              </a:rPr>
              <a:t>VIT Vellore</a:t>
            </a:r>
            <a:endParaRPr lang="en-US" sz="1400" dirty="0"/>
          </a:p>
        </p:txBody>
      </p:sp>
      <p:sp>
        <p:nvSpPr>
          <p:cNvPr id="22" name="Text 15"/>
          <p:cNvSpPr txBox="1"/>
          <p:nvPr/>
        </p:nvSpPr>
        <p:spPr>
          <a:xfrm>
            <a:off x="548640" y="6172200"/>
            <a:ext cx="11094415" cy="320040"/>
          </a:xfrm>
          <a:prstGeom prst="rect">
            <a:avLst/>
          </a:prstGeom>
          <a:noFill/>
          <a:ln/>
        </p:spPr>
        <p:txBody>
          <a:bodyPr wrap="square" lIns="0" tIns="0" rIns="0" bIns="0" rtlCol="0" anchor="t"/>
          <a:lstStyle/>
          <a:p>
            <a:pPr indent="0" marL="0">
              <a:buNone/>
            </a:pPr>
            <a:r>
              <a:rPr lang="en-US" sz="1200" dirty="0">
                <a:solidFill>
                  <a:schemeClr val="bg2"/>
                </a:solidFill>
              </a:rPr>
              <a:t>Key sources: RFC 1034/1035 (DNS) · RFC 3833 (DNS threats) · RFC 5452 (forged answers) · RFC 4033–4035 (DNSSEC) · RFC 7858 / 8484 (DoT / DoH)</a:t>
            </a:r>
            <a:endParaRPr lang="en-US" sz="1200" dirty="0"/>
          </a:p>
        </p:txBody>
      </p:sp>
    </p:spTree>
  </p:cSld>
  <p:clrMapOvr>
    <a:masterClrMapping/>
  </p:clrMapOvr>
</p:sld>
</file>

<file path=ppt/theme/theme1.xml><?xml version="1.0" encoding="utf-8"?>
<a:theme xmlns:a="http://schemas.openxmlformats.org/drawingml/2006/main" name="DNScope Night">
  <a:themeElements>
    <a:clrScheme name="DNScope Night">
      <a:dk1>
        <a:srgbClr val="0B1628"/>
      </a:dk1>
      <a:lt1>
        <a:srgbClr val="FFFFFF"/>
      </a:lt1>
      <a:dk2>
        <a:srgbClr val="132238"/>
      </a:dk2>
      <a:lt2>
        <a:srgbClr val="B6C3D4"/>
      </a:lt2>
      <a:accent1>
        <a:srgbClr val="14B8A6"/>
      </a:accent1>
      <a:accent2>
        <a:srgbClr val="22D3EE"/>
      </a:accent2>
      <a:accent3>
        <a:srgbClr val="22C55E"/>
      </a:accent3>
      <a:accent4>
        <a:srgbClr val="F59E0B"/>
      </a:accent4>
      <a:accent5>
        <a:srgbClr val="EF4444"/>
      </a:accent5>
      <a:accent6>
        <a:srgbClr val="A78BFA"/>
      </a:accent6>
      <a:hlink>
        <a:srgbClr val="22D3EE"/>
      </a:hlink>
      <a:folHlink>
        <a:srgbClr val="A78BFA"/>
      </a:folHlink>
    </a:clrScheme>
    <a:fontScheme name="DNScope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DNScope — DNS Monitoring and Spoofing Detection System</dc:title>
  <dc:subject>Computer Networks — Assessment-8</dc:subject>
  <dc:creator>Anwita Padhi (24BYB0193)</dc:creator>
  <cp:lastModifiedBy>Anwita Padhi (24BYB0193)</cp:lastModifiedBy>
  <cp:revision>1</cp:revision>
  <dcterms:created xsi:type="dcterms:W3CDTF">2026-10-15T19:08:12Z</dcterms:created>
  <dcterms:modified xsi:type="dcterms:W3CDTF">2026-10-15T19:08:12Z</dcterms:modified>
</cp:coreProperties>
</file>